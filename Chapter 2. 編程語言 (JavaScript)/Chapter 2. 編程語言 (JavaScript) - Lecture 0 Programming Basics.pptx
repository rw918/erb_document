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5AdllUBFKnBgaj/Yud9I1Wsp/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eb31add7fd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2eb31add7fd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f869d5c03c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f869d5c03c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2f869d5c03c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f869d5c03c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2f869d5c03c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2f869d5c03c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2f869d5c03c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2f869d5c03c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2f869d5c03c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869d5c03c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2f869d5c03c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2f869d5c03c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2f869d5c03c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2f869d5c03c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f869d5c03c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2f869d5c03c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2f869d5c03c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2f869d5c03c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2f869d5c03c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2f869d5c03c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2f869d5c03c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2f869d5c03c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869d5c03c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f869d5c03c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2f869d5c03c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2f869d5c03c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869d5c03c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869d5c03c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869d5c03c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f869d5c03c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2f869d5c03c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f869d5c03c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869d5c03c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2f869d5c03c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2f869d5c03c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2f869d5c03c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869d5c03c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2f869d5c03c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2f869d5c03c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2f869d5c03c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2f869d5c03c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869d5c03c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2f869d5c03c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2f869d5c03c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869d5c03c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2f869d5c03c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2f869d5c03c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2f869d5c03c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2f869d5c03c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2f869d5c03c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869d5c03c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869d5c03c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2f869d5c03c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2f869d5c03c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2f869d5c03c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2f869d5c03c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869d5c03c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2f869d5c03c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2f869d5c03c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2f869d5c03c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2f869d5c03c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869d5c03c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2f869d5c03c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2f869d5c03c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2f869d5c03c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2f869d5c03c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869d5c03c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2f869d5c03c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2f869d5c03c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10310420" y="6331352"/>
            <a:ext cx="1704102" cy="41668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6605100" y="2344575"/>
            <a:ext cx="4739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0EFEE"/>
                </a:solidFill>
                <a:latin typeface="Arial"/>
                <a:ea typeface="Arial"/>
                <a:cs typeface="Arial"/>
                <a:sym typeface="Arial"/>
              </a:rPr>
              <a:t>Lecture 0</a:t>
            </a:r>
            <a:endParaRPr b="1" i="0" sz="4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124700" y="3774200"/>
            <a:ext cx="42198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Programming Basics</a:t>
            </a:r>
            <a:endParaRPr b="0" i="0" sz="2800" u="none" cap="none" strike="noStrike">
              <a:solidFill>
                <a:srgbClr val="F0EF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rgbClr val="F0EFE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2eb31add7fd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205" y="756904"/>
            <a:ext cx="5508796" cy="55087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2eb31add7fd_0_3"/>
          <p:cNvSpPr txBox="1"/>
          <p:nvPr>
            <p:ph type="title"/>
          </p:nvPr>
        </p:nvSpPr>
        <p:spPr>
          <a:xfrm>
            <a:off x="7280476" y="1626765"/>
            <a:ext cx="4073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Agenda</a:t>
            </a:r>
            <a:endParaRPr/>
          </a:p>
        </p:txBody>
      </p:sp>
      <p:sp>
        <p:nvSpPr>
          <p:cNvPr id="110" name="Google Shape;110;g2eb31add7fd_0_3"/>
          <p:cNvSpPr txBox="1"/>
          <p:nvPr>
            <p:ph idx="1" type="body"/>
          </p:nvPr>
        </p:nvSpPr>
        <p:spPr>
          <a:xfrm>
            <a:off x="7280475" y="3102026"/>
            <a:ext cx="4073400" cy="18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Programming Paradigm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Types of Programming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2"/>
          <p:cNvGrpSpPr/>
          <p:nvPr/>
        </p:nvGrpSpPr>
        <p:grpSpPr>
          <a:xfrm>
            <a:off x="8923224" y="3307131"/>
            <a:ext cx="2993315" cy="2620023"/>
            <a:chOff x="5259929" y="732609"/>
            <a:chExt cx="6557447" cy="5739679"/>
          </a:xfrm>
        </p:grpSpPr>
        <p:grpSp>
          <p:nvGrpSpPr>
            <p:cNvPr id="118" name="Google Shape;118;p2"/>
            <p:cNvGrpSpPr/>
            <p:nvPr/>
          </p:nvGrpSpPr>
          <p:grpSpPr>
            <a:xfrm rot="-819711">
              <a:off x="7170204" y="1966879"/>
              <a:ext cx="818239" cy="1067012"/>
              <a:chOff x="7135154" y="1236172"/>
              <a:chExt cx="818239" cy="1067012"/>
            </a:xfrm>
          </p:grpSpPr>
          <p:sp>
            <p:nvSpPr>
              <p:cNvPr id="119" name="Google Shape;119;p2"/>
              <p:cNvSpPr/>
              <p:nvPr/>
            </p:nvSpPr>
            <p:spPr>
              <a:xfrm>
                <a:off x="7515757" y="1236172"/>
                <a:ext cx="437636" cy="579959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" name="Google Shape;120;p2"/>
              <p:cNvGrpSpPr/>
              <p:nvPr/>
            </p:nvGrpSpPr>
            <p:grpSpPr>
              <a:xfrm>
                <a:off x="7135154" y="1625666"/>
                <a:ext cx="791263" cy="677518"/>
                <a:chOff x="1934025" y="1001650"/>
                <a:chExt cx="415300" cy="355600"/>
              </a:xfrm>
            </p:grpSpPr>
            <p:sp>
              <p:nvSpPr>
                <p:cNvPr id="121" name="Google Shape;121;p2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" name="Google Shape;122;p2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p2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2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5" name="Google Shape;125;p2"/>
            <p:cNvSpPr/>
            <p:nvPr/>
          </p:nvSpPr>
          <p:spPr>
            <a:xfrm rot="859076">
              <a:off x="6902959" y="4365208"/>
              <a:ext cx="594943" cy="763617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 rot="-1283923">
              <a:off x="11027933" y="4691747"/>
              <a:ext cx="615998" cy="1067146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" name="Google Shape;127;p2"/>
            <p:cNvGrpSpPr/>
            <p:nvPr/>
          </p:nvGrpSpPr>
          <p:grpSpPr>
            <a:xfrm rot="929063">
              <a:off x="10666804" y="845475"/>
              <a:ext cx="970497" cy="919297"/>
              <a:chOff x="2583100" y="2973775"/>
              <a:chExt cx="461550" cy="437200"/>
            </a:xfrm>
          </p:grpSpPr>
          <p:sp>
            <p:nvSpPr>
              <p:cNvPr id="128" name="Google Shape;128;p2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2"/>
            <p:cNvGrpSpPr/>
            <p:nvPr/>
          </p:nvGrpSpPr>
          <p:grpSpPr>
            <a:xfrm>
              <a:off x="5259929" y="5850591"/>
              <a:ext cx="836160" cy="621697"/>
              <a:chOff x="5247525" y="3007275"/>
              <a:chExt cx="517575" cy="384825"/>
            </a:xfrm>
          </p:grpSpPr>
          <p:sp>
            <p:nvSpPr>
              <p:cNvPr id="131" name="Google Shape;131;p2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2"/>
            <p:cNvGrpSpPr/>
            <p:nvPr/>
          </p:nvGrpSpPr>
          <p:grpSpPr>
            <a:xfrm rot="-995547">
              <a:off x="8647518" y="3715003"/>
              <a:ext cx="874254" cy="717779"/>
              <a:chOff x="2599525" y="3688600"/>
              <a:chExt cx="428675" cy="351950"/>
            </a:xfrm>
          </p:grpSpPr>
          <p:sp>
            <p:nvSpPr>
              <p:cNvPr id="134" name="Google Shape;134;p2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2"/>
            <p:cNvGrpSpPr/>
            <p:nvPr/>
          </p:nvGrpSpPr>
          <p:grpSpPr>
            <a:xfrm>
              <a:off x="10447576" y="3460793"/>
              <a:ext cx="688367" cy="688367"/>
              <a:chOff x="5941025" y="3634400"/>
              <a:chExt cx="467650" cy="467650"/>
            </a:xfrm>
          </p:grpSpPr>
          <p:sp>
            <p:nvSpPr>
              <p:cNvPr id="138" name="Google Shape;138;p2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" name="Google Shape;144;p2"/>
            <p:cNvGrpSpPr/>
            <p:nvPr/>
          </p:nvGrpSpPr>
          <p:grpSpPr>
            <a:xfrm rot="-1150443">
              <a:off x="9034399" y="1570431"/>
              <a:ext cx="754931" cy="714873"/>
              <a:chOff x="5973900" y="318475"/>
              <a:chExt cx="401900" cy="380575"/>
            </a:xfrm>
          </p:grpSpPr>
          <p:sp>
            <p:nvSpPr>
              <p:cNvPr id="145" name="Google Shape;145;p2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2"/>
            <p:cNvGrpSpPr/>
            <p:nvPr/>
          </p:nvGrpSpPr>
          <p:grpSpPr>
            <a:xfrm rot="-2485111">
              <a:off x="7686365" y="5449375"/>
              <a:ext cx="833869" cy="799904"/>
              <a:chOff x="5233525" y="4954450"/>
              <a:chExt cx="538275" cy="516350"/>
            </a:xfrm>
          </p:grpSpPr>
          <p:sp>
            <p:nvSpPr>
              <p:cNvPr id="160" name="Google Shape;160;p2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1" name="Google Shape;171;p2"/>
          <p:cNvSpPr txBox="1"/>
          <p:nvPr>
            <p:ph type="title"/>
          </p:nvPr>
        </p:nvSpPr>
        <p:spPr>
          <a:xfrm>
            <a:off x="838199" y="365125"/>
            <a:ext cx="108922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Programming Paradigm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Programming Paradigm</a:t>
            </a:r>
            <a:endParaRPr/>
          </a:p>
        </p:txBody>
      </p:sp>
      <p:sp>
        <p:nvSpPr>
          <p:cNvPr id="177" name="Google Shape;177;p3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1200150" y="2328865"/>
            <a:ext cx="2671800" cy="1500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8682037" y="2328865"/>
            <a:ext cx="2671800" cy="1500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4941093" y="2328865"/>
            <a:ext cx="2671800" cy="1500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3"/>
          <p:cNvCxnSpPr>
            <a:stCxn id="178" idx="3"/>
            <a:endCxn id="180" idx="1"/>
          </p:cNvCxnSpPr>
          <p:nvPr/>
        </p:nvCxnSpPr>
        <p:spPr>
          <a:xfrm>
            <a:off x="3871950" y="3079015"/>
            <a:ext cx="1069200" cy="0"/>
          </a:xfrm>
          <a:prstGeom prst="straightConnector1">
            <a:avLst/>
          </a:prstGeom>
          <a:noFill/>
          <a:ln cap="flat" cmpd="sng" w="889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2" name="Google Shape;182;p3"/>
          <p:cNvCxnSpPr/>
          <p:nvPr/>
        </p:nvCxnSpPr>
        <p:spPr>
          <a:xfrm>
            <a:off x="7638037" y="3078959"/>
            <a:ext cx="1044000" cy="0"/>
          </a:xfrm>
          <a:prstGeom prst="straightConnector1">
            <a:avLst/>
          </a:prstGeom>
          <a:noFill/>
          <a:ln cap="flat" cmpd="sng" w="889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Programming Paradigm</a:t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 rot="10800000">
            <a:off x="-12" y="579844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1200150" y="1657347"/>
            <a:ext cx="2671800" cy="1500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8682037" y="1657347"/>
            <a:ext cx="2671800" cy="1500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4941093" y="1657347"/>
            <a:ext cx="2671800" cy="1500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4"/>
          <p:cNvCxnSpPr>
            <a:stCxn id="189" idx="3"/>
            <a:endCxn id="191" idx="1"/>
          </p:cNvCxnSpPr>
          <p:nvPr/>
        </p:nvCxnSpPr>
        <p:spPr>
          <a:xfrm>
            <a:off x="3871950" y="2407497"/>
            <a:ext cx="1069200" cy="0"/>
          </a:xfrm>
          <a:prstGeom prst="straightConnector1">
            <a:avLst/>
          </a:prstGeom>
          <a:noFill/>
          <a:ln cap="flat" cmpd="sng" w="889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3" name="Google Shape;193;p4"/>
          <p:cNvCxnSpPr/>
          <p:nvPr/>
        </p:nvCxnSpPr>
        <p:spPr>
          <a:xfrm>
            <a:off x="7638037" y="2407441"/>
            <a:ext cx="1044000" cy="0"/>
          </a:xfrm>
          <a:prstGeom prst="straightConnector1">
            <a:avLst/>
          </a:prstGeom>
          <a:noFill/>
          <a:ln cap="flat" cmpd="sng" w="889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4" name="Google Shape;194;p4"/>
          <p:cNvSpPr txBox="1"/>
          <p:nvPr/>
        </p:nvSpPr>
        <p:spPr>
          <a:xfrm>
            <a:off x="914400" y="3243250"/>
            <a:ext cx="72825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 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Touch screen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Mouse, keyboard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Microphone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Camera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Programmatic 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 from webpage to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 from one system to another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 from one module to another module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Programming Paradigm</a:t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 rot="10800000">
            <a:off x="-12" y="579844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1200150" y="1657347"/>
            <a:ext cx="2671800" cy="1500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8682037" y="1657347"/>
            <a:ext cx="2671800" cy="1500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4941093" y="1657347"/>
            <a:ext cx="2671800" cy="1500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5"/>
          <p:cNvCxnSpPr>
            <a:stCxn id="201" idx="3"/>
            <a:endCxn id="203" idx="1"/>
          </p:cNvCxnSpPr>
          <p:nvPr/>
        </p:nvCxnSpPr>
        <p:spPr>
          <a:xfrm>
            <a:off x="3871950" y="2407497"/>
            <a:ext cx="1069200" cy="0"/>
          </a:xfrm>
          <a:prstGeom prst="straightConnector1">
            <a:avLst/>
          </a:prstGeom>
          <a:noFill/>
          <a:ln cap="flat" cmpd="sng" w="889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5" name="Google Shape;205;p5"/>
          <p:cNvCxnSpPr/>
          <p:nvPr/>
        </p:nvCxnSpPr>
        <p:spPr>
          <a:xfrm>
            <a:off x="7638037" y="2407441"/>
            <a:ext cx="1044000" cy="0"/>
          </a:xfrm>
          <a:prstGeom prst="straightConnector1">
            <a:avLst/>
          </a:prstGeom>
          <a:noFill/>
          <a:ln cap="flat" cmpd="sng" w="889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6" name="Google Shape;206;p5"/>
          <p:cNvSpPr txBox="1"/>
          <p:nvPr/>
        </p:nvSpPr>
        <p:spPr>
          <a:xfrm>
            <a:off x="4743455" y="3213149"/>
            <a:ext cx="49149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 side programs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Webpages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Electronic Circuit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Programming Paradigm</a:t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 rot="10800000">
            <a:off x="-12" y="579844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1200150" y="1657347"/>
            <a:ext cx="2671800" cy="1500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8682037" y="1657347"/>
            <a:ext cx="2671800" cy="1500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941093" y="1657347"/>
            <a:ext cx="2671800" cy="1500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6"/>
          <p:cNvCxnSpPr>
            <a:stCxn id="213" idx="3"/>
            <a:endCxn id="215" idx="1"/>
          </p:cNvCxnSpPr>
          <p:nvPr/>
        </p:nvCxnSpPr>
        <p:spPr>
          <a:xfrm>
            <a:off x="3871950" y="2407497"/>
            <a:ext cx="1069200" cy="0"/>
          </a:xfrm>
          <a:prstGeom prst="straightConnector1">
            <a:avLst/>
          </a:prstGeom>
          <a:noFill/>
          <a:ln cap="flat" cmpd="sng" w="889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7" name="Google Shape;217;p6"/>
          <p:cNvCxnSpPr/>
          <p:nvPr/>
        </p:nvCxnSpPr>
        <p:spPr>
          <a:xfrm>
            <a:off x="7638037" y="2407441"/>
            <a:ext cx="1044000" cy="0"/>
          </a:xfrm>
          <a:prstGeom prst="straightConnector1">
            <a:avLst/>
          </a:prstGeom>
          <a:noFill/>
          <a:ln cap="flat" cmpd="sng" w="889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8" name="Google Shape;218;p6"/>
          <p:cNvSpPr txBox="1"/>
          <p:nvPr/>
        </p:nvSpPr>
        <p:spPr>
          <a:xfrm>
            <a:off x="4743455" y="3213149"/>
            <a:ext cx="49149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 side programs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Webpages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Electronic Circuit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8158149" y="4257675"/>
            <a:ext cx="2374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Our Focus!!!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529470" y="1392865"/>
            <a:ext cx="3423600" cy="3955200"/>
          </a:xfrm>
          <a:prstGeom prst="rect">
            <a:avLst/>
          </a:prstGeom>
          <a:noFill/>
          <a:ln cap="flat" cmpd="sng" w="793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Programming Paradigm</a:t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 rot="10800000">
            <a:off x="-12" y="579844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1200150" y="1657347"/>
            <a:ext cx="2671800" cy="1500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8682037" y="1657347"/>
            <a:ext cx="2671800" cy="1500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941093" y="1657347"/>
            <a:ext cx="2671800" cy="1500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Google Shape;230;p7"/>
          <p:cNvCxnSpPr>
            <a:stCxn id="227" idx="3"/>
            <a:endCxn id="229" idx="1"/>
          </p:cNvCxnSpPr>
          <p:nvPr/>
        </p:nvCxnSpPr>
        <p:spPr>
          <a:xfrm>
            <a:off x="3871950" y="2407497"/>
            <a:ext cx="1069200" cy="0"/>
          </a:xfrm>
          <a:prstGeom prst="straightConnector1">
            <a:avLst/>
          </a:prstGeom>
          <a:noFill/>
          <a:ln cap="flat" cmpd="sng" w="889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1" name="Google Shape;231;p7"/>
          <p:cNvCxnSpPr/>
          <p:nvPr/>
        </p:nvCxnSpPr>
        <p:spPr>
          <a:xfrm>
            <a:off x="7638037" y="2407441"/>
            <a:ext cx="1044000" cy="0"/>
          </a:xfrm>
          <a:prstGeom prst="straightConnector1">
            <a:avLst/>
          </a:prstGeom>
          <a:noFill/>
          <a:ln cap="flat" cmpd="sng" w="889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2" name="Google Shape;232;p7"/>
          <p:cNvSpPr txBox="1"/>
          <p:nvPr/>
        </p:nvSpPr>
        <p:spPr>
          <a:xfrm>
            <a:off x="8682037" y="3307140"/>
            <a:ext cx="26718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Webpages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Gaming Scene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Animations,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 (.jpg, .png etc)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p8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40" name="Google Shape;240;p8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41" name="Google Shape;241;p8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2" name="Google Shape;242;p8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43" name="Google Shape;243;p8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" name="Google Shape;244;p8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" name="Google Shape;245;p8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" name="Google Shape;246;p8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47" name="Google Shape;247;p8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8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9" name="Google Shape;249;p8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50" name="Google Shape;250;p8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8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2" name="Google Shape;252;p8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53" name="Google Shape;253;p8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8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8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56" name="Google Shape;256;p8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8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8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8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60" name="Google Shape;260;p8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8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8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8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8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8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6" name="Google Shape;266;p8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67" name="Google Shape;267;p8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8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8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8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8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8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8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8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8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8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8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8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8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8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8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282" name="Google Shape;282;p8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8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8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8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8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8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8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8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8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8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3" name="Google Shape;293;p8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Types of Programming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Types of Program</a:t>
            </a:r>
            <a:br>
              <a:rPr lang="en-US"/>
            </a:br>
            <a:r>
              <a:rPr lang="en-US" sz="1800"/>
              <a:t>(in the sense of execution ordering)</a:t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1214438" y="2590661"/>
            <a:ext cx="2500200" cy="1271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Sequential 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Programming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4963075" y="2573847"/>
            <a:ext cx="2500200" cy="1271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Object Oriented Programming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8711712" y="2573847"/>
            <a:ext cx="2500200" cy="1271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Event Driven Programming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Sequential Programming</a:t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 rot="10800000">
            <a:off x="-12" y="5633794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585785" y="1604812"/>
            <a:ext cx="2500200" cy="1271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Sequential 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Programming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0"/>
          <p:cNvSpPr txBox="1"/>
          <p:nvPr/>
        </p:nvSpPr>
        <p:spPr>
          <a:xfrm>
            <a:off x="3271831" y="1594993"/>
            <a:ext cx="62451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Step-by-Step, Linear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go with 1 direction until the end of the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"/>
          <p:cNvSpPr txBox="1"/>
          <p:nvPr/>
        </p:nvSpPr>
        <p:spPr>
          <a:xfrm>
            <a:off x="585785" y="3033415"/>
            <a:ext cx="6245100" cy="23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(How to cook an egg)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Whisk 2 eggs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Heat a pan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Pour the egg mixture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Wait for 20 seconds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Stir it 10 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Wait for another 10 seconds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Stir it 10 times and fold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56219" y="1682741"/>
            <a:ext cx="3136900" cy="349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Object Oriented Programming</a:t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 rot="10800000">
            <a:off x="-12" y="5633794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585785" y="1604812"/>
            <a:ext cx="2500200" cy="1271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Object Oriented Programming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1"/>
          <p:cNvSpPr txBox="1"/>
          <p:nvPr/>
        </p:nvSpPr>
        <p:spPr>
          <a:xfrm>
            <a:off x="3271831" y="1594993"/>
            <a:ext cx="62451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no sequence of execution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 everything as an “object”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1"/>
          <p:cNvSpPr txBox="1"/>
          <p:nvPr/>
        </p:nvSpPr>
        <p:spPr>
          <a:xfrm>
            <a:off x="585775" y="3033425"/>
            <a:ext cx="67185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a Chef “object”,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 the Chef to ”cook an egg”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a Student “object”, and ask the student to “do the homework”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a driver “object”, and ask the driver to “drive me back home”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7332" y="1501391"/>
            <a:ext cx="4230424" cy="4321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Event-driven Programming</a:t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 rot="10800000">
            <a:off x="-12" y="5633794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585785" y="1604812"/>
            <a:ext cx="2500200" cy="1271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A5D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Event Driven Programming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2"/>
          <p:cNvSpPr txBox="1"/>
          <p:nvPr/>
        </p:nvSpPr>
        <p:spPr>
          <a:xfrm>
            <a:off x="3271831" y="1594993"/>
            <a:ext cx="62451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no sequence in execution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general, first in first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2"/>
          <p:cNvSpPr txBox="1"/>
          <p:nvPr/>
        </p:nvSpPr>
        <p:spPr>
          <a:xfrm>
            <a:off x="585785" y="3033415"/>
            <a:ext cx="62451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 (Smart Home)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there is sunshine -&gt; Close the curtain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it is sunset time -&gt; Turn on the lights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indoor temperature is more than 28 degrees -&gt; turn on the 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7919" y="1946565"/>
            <a:ext cx="4939837" cy="3431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