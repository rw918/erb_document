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0K5SU0/Iewqgo7AqS+NhkOdn2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204833-506D-4054-BAA6-0095D4475852}">
  <a:tblStyle styleId="{3B204833-506D-4054-BAA6-0095D447585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a23edeb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a23edeb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a23edeb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a23edeb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a23edeb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a23edeb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a23edeb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a23edeb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a23edeb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a23edeb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a23edeb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a23edeb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a23edeb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a23edeb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a23edeb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a23edeb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a23edeb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a23edeb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a23edeb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a23edeb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a23edeb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a23edeb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a23edeb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a23edeb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a23edeb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a23edeb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a23edeb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a23edeb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a23edeb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a23edeb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a23edeb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a23edeb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a23edeb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a23edeb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a23edeb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a23edeb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a23edeb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a23edeb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a23edeb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a23edeb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a23edeb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a23edeb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a23edeb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a23edeb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a23edeb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a23edeb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a23edeb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a23edeb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a23edeb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a23edeb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a23edeb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a23edeb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a23edeb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a23edeb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a23edeb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a23edeb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a23edeb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a23edeb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a23edeb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a23edeb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a23edeb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a23edeb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a23edeb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a23edeb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a23edeb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a23edeb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a23ede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a23edeb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a23edeb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 to Command Line 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What is command line?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Command line variations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Operating command line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What is Command Line?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UI vs GUI</a:t>
            </a:r>
            <a:endParaRPr/>
          </a:p>
        </p:txBody>
      </p:sp>
      <p:sp>
        <p:nvSpPr>
          <p:cNvPr id="178" name="Google Shape;178;p4"/>
          <p:cNvSpPr txBox="1"/>
          <p:nvPr>
            <p:ph idx="1" type="body"/>
          </p:nvPr>
        </p:nvSpPr>
        <p:spPr>
          <a:xfrm>
            <a:off x="2977653" y="1444625"/>
            <a:ext cx="74127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UI - User Interface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Everything (hardware, software, screens, menus, functions, outputs, and features) that affect two-way communications between the user and the computer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aka. the interface for you to operate the computer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UI vs GUI</a:t>
            </a:r>
            <a:endParaRPr/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775" y="2209675"/>
            <a:ext cx="4317301" cy="25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4700925" y="4800075"/>
            <a:ext cx="1884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based UI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3325" y="2251325"/>
            <a:ext cx="4993050" cy="25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 txBox="1"/>
          <p:nvPr/>
        </p:nvSpPr>
        <p:spPr>
          <a:xfrm>
            <a:off x="6840575" y="4800075"/>
            <a:ext cx="2546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based Game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>
            <p:ph type="title"/>
          </p:nvPr>
        </p:nvSpPr>
        <p:spPr>
          <a:xfrm>
            <a:off x="44633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you can do with Command Line?</a:t>
            </a:r>
            <a:endParaRPr/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4625777" y="3385300"/>
            <a:ext cx="22179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Everything</a:t>
            </a:r>
            <a:endParaRPr sz="2400"/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33297" t="0"/>
          <a:stretch/>
        </p:blipFill>
        <p:spPr>
          <a:xfrm>
            <a:off x="217199" y="3661425"/>
            <a:ext cx="4076850" cy="319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2475" y="1690825"/>
            <a:ext cx="5095664" cy="528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670" y="188720"/>
            <a:ext cx="4453715" cy="31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GUI</a:t>
            </a:r>
            <a:endParaRPr/>
          </a:p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3053853" y="1520825"/>
            <a:ext cx="74127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GUI (graphical user interface) is a system of interactive </a:t>
            </a:r>
            <a:r>
              <a:rPr b="1" lang="en-US" sz="2400"/>
              <a:t>visual components</a:t>
            </a:r>
            <a:r>
              <a:rPr lang="en-US" sz="2400"/>
              <a:t> for computer software. A GUI displays objects that convey information, and represent actions that can be taken by the user. The objects change color, size, or visibility when the user interacts with them.</a:t>
            </a:r>
            <a:endParaRPr sz="2400"/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500" y="3733675"/>
            <a:ext cx="3995835" cy="232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341" y="3733675"/>
            <a:ext cx="3480283" cy="232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>
            <p:ph type="title"/>
          </p:nvPr>
        </p:nvSpPr>
        <p:spPr>
          <a:xfrm>
            <a:off x="3167934" y="3651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Modern Command Line</a:t>
            </a:r>
            <a:endParaRPr/>
          </a:p>
        </p:txBody>
      </p:sp>
      <p:sp>
        <p:nvSpPr>
          <p:cNvPr id="214" name="Google Shape;214;p8"/>
          <p:cNvSpPr txBox="1"/>
          <p:nvPr>
            <p:ph idx="1" type="body"/>
          </p:nvPr>
        </p:nvSpPr>
        <p:spPr>
          <a:xfrm>
            <a:off x="3053853" y="1520825"/>
            <a:ext cx="74127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can still use “text” UI in modern computers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Mac: Terminal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Windows: cmd, Command Prompt, PowerShell</a:t>
            </a:r>
            <a:endParaRPr sz="2400"/>
          </a:p>
        </p:txBody>
      </p:sp>
      <p:pic>
        <p:nvPicPr>
          <p:cNvPr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802"/>
          <a:stretch/>
        </p:blipFill>
        <p:spPr>
          <a:xfrm>
            <a:off x="403425" y="3271700"/>
            <a:ext cx="5448300" cy="348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2750" y="3941875"/>
            <a:ext cx="61912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9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24" name="Google Shape;224;p9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25" name="Google Shape;225;p9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6" name="Google Shape;226;p9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27" name="Google Shape;227;p9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9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9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9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1" name="Google Shape;231;p9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p9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34" name="Google Shape;234;p9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9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37" name="Google Shape;237;p9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9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40" name="Google Shape;240;p9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9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44" name="Google Shape;244;p9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9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9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9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9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9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51" name="Google Shape;251;p9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9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9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9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66" name="Google Shape;266;p9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9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9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7" name="Google Shape;277;p9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Variation of Command Lines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>
            <p:ph type="title"/>
          </p:nvPr>
        </p:nvSpPr>
        <p:spPr>
          <a:xfrm>
            <a:off x="3167934" y="-158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Command Line is not universal</a:t>
            </a:r>
            <a:endParaRPr/>
          </a:p>
        </p:txBody>
      </p:sp>
      <p:sp>
        <p:nvSpPr>
          <p:cNvPr id="284" name="Google Shape;284;p10"/>
          <p:cNvSpPr txBox="1"/>
          <p:nvPr>
            <p:ph idx="1" type="body"/>
          </p:nvPr>
        </p:nvSpPr>
        <p:spPr>
          <a:xfrm>
            <a:off x="3053853" y="1139825"/>
            <a:ext cx="74127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There are many variations and versions of it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more than 20 different “Command Shells”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All are slightly different in command and features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Some important features are: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Path Completion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Command Name Completion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Command History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Colored Director Listings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graphicFrame>
        <p:nvGraphicFramePr>
          <p:cNvPr id="285" name="Google Shape;285;p10"/>
          <p:cNvGraphicFramePr/>
          <p:nvPr/>
        </p:nvGraphicFramePr>
        <p:xfrm>
          <a:off x="3946675" y="41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{3B204833-506D-4054-BAA6-0095D4475852}</a:tableStyleId>
              </a:tblPr>
              <a:tblGrid>
                <a:gridCol w="2816150"/>
                <a:gridCol w="3122900"/>
              </a:tblGrid>
              <a:tr h="4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Default Shell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44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Windows (until Window Vista)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cmd.exe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2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Windows (post-Vista)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PowerShell</a:t>
                      </a:r>
                      <a:r>
                        <a:rPr lang="en-US" sz="1400" u="none" cap="none" strike="noStrike"/>
                        <a:t> (cmd.exe still available)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7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Mac OS (10.3-10.14)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bash (v4)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43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Mac OS (10.15+)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zsh (bash still available)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43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Linux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Bash (v4)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93" name="Google Shape;293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00" name="Google Shape;300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" name="Google Shape;302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03" name="Google Shape;303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" name="Google Shape;305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06" name="Google Shape;306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8" name="Google Shape;308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09" name="Google Shape;309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2" name="Google Shape;312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13" name="Google Shape;313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20" name="Google Shape;320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35" name="Google Shape;335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6" name="Google Shape;346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Operating Command 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7857" y="1828800"/>
            <a:ext cx="84010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2"/>
          <p:cNvSpPr/>
          <p:nvPr/>
        </p:nvSpPr>
        <p:spPr>
          <a:xfrm>
            <a:off x="3537850" y="2193925"/>
            <a:ext cx="8256600" cy="1189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1468950" y="2645125"/>
            <a:ext cx="19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Greeting Messages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3898475" y="3561775"/>
            <a:ext cx="1961700" cy="27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 txBox="1"/>
          <p:nvPr/>
        </p:nvSpPr>
        <p:spPr>
          <a:xfrm>
            <a:off x="1527825" y="3501625"/>
            <a:ext cx="19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Current Location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029875" y="3561775"/>
            <a:ext cx="958200" cy="27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7043025" y="3485575"/>
            <a:ext cx="35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Place for you to type your commands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3583000" y="3841675"/>
            <a:ext cx="2856000" cy="279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6509625" y="3790375"/>
            <a:ext cx="35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 for your command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 txBox="1"/>
          <p:nvPr>
            <p:ph type="title"/>
          </p:nvPr>
        </p:nvSpPr>
        <p:spPr>
          <a:xfrm>
            <a:off x="1231173" y="370925"/>
            <a:ext cx="10107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File System Navigation</a:t>
            </a:r>
            <a:endParaRPr/>
          </a:p>
        </p:txBody>
      </p:sp>
      <p:graphicFrame>
        <p:nvGraphicFramePr>
          <p:cNvPr id="367" name="Google Shape;367;p13"/>
          <p:cNvGraphicFramePr/>
          <p:nvPr/>
        </p:nvGraphicFramePr>
        <p:xfrm>
          <a:off x="1699625" y="202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{3B204833-506D-4054-BAA6-0095D4475852}</a:tableStyleId>
              </a:tblPr>
              <a:tblGrid>
                <a:gridCol w="2087100"/>
                <a:gridCol w="47709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Command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Example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Feature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pwd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pwd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current directory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mkdir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mkdir talentlabsfolder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create a directory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ls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ls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list out all the files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cd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cd xx (.. means one layer up)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change directory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touch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touch file.txt (non-Windows) / </a:t>
                      </a:r>
                      <a:endParaRPr sz="2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ni file.txt (Windows Powershell)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create a file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 txBox="1"/>
          <p:nvPr>
            <p:ph type="title"/>
          </p:nvPr>
        </p:nvSpPr>
        <p:spPr>
          <a:xfrm>
            <a:off x="1246048" y="534550"/>
            <a:ext cx="10107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Make File Changes</a:t>
            </a:r>
            <a:endParaRPr/>
          </a:p>
        </p:txBody>
      </p:sp>
      <p:graphicFrame>
        <p:nvGraphicFramePr>
          <p:cNvPr id="374" name="Google Shape;374;p14"/>
          <p:cNvGraphicFramePr/>
          <p:nvPr/>
        </p:nvGraphicFramePr>
        <p:xfrm>
          <a:off x="1714500" y="196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{3B204833-506D-4054-BAA6-0095D4475852}</a:tableStyleId>
              </a:tblPr>
              <a:tblGrid>
                <a:gridCol w="2087100"/>
                <a:gridCol w="47709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Command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Example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Feature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cp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cp file.txt file-copy.txt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Copy a file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mv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mv file.txt ../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Move a file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rm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rm file.txt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rm something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 txBox="1"/>
          <p:nvPr>
            <p:ph type="title"/>
          </p:nvPr>
        </p:nvSpPr>
        <p:spPr>
          <a:xfrm>
            <a:off x="1246048" y="906450"/>
            <a:ext cx="10107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Continuing Commands</a:t>
            </a:r>
            <a:endParaRPr/>
          </a:p>
        </p:txBody>
      </p:sp>
      <p:graphicFrame>
        <p:nvGraphicFramePr>
          <p:cNvPr id="381" name="Google Shape;381;p15"/>
          <p:cNvGraphicFramePr/>
          <p:nvPr/>
        </p:nvGraphicFramePr>
        <p:xfrm>
          <a:off x="1714500" y="23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{3B204833-506D-4054-BAA6-0095D4475852}</a:tableStyleId>
              </a:tblPr>
              <a:tblGrid>
                <a:gridCol w="2087100"/>
                <a:gridCol w="47709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Command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Example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/>
                        <a:t>Feature</a:t>
                      </a:r>
                      <a:endParaRPr b="1"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cat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cat file.txt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Read a file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echo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echo “Hello World!”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Print something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"/>
          <p:cNvSpPr/>
          <p:nvPr/>
        </p:nvSpPr>
        <p:spPr>
          <a:xfrm rot="5400000">
            <a:off x="4988099" y="-4988096"/>
            <a:ext cx="2215800" cy="12192000"/>
          </a:xfrm>
          <a:prstGeom prst="homePlate">
            <a:avLst>
              <a:gd fmla="val 5000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>
            <p:ph type="title"/>
          </p:nvPr>
        </p:nvSpPr>
        <p:spPr>
          <a:xfrm>
            <a:off x="838200" y="3158338"/>
            <a:ext cx="10515600" cy="27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There are a lot more about Command Line!</a:t>
            </a:r>
            <a:endParaRPr sz="39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900"/>
              <a:t>These are just the most commonly used ones.</a:t>
            </a:r>
            <a:endParaRPr sz="3900"/>
          </a:p>
        </p:txBody>
      </p:sp>
      <p:pic>
        <p:nvPicPr>
          <p:cNvPr id="388" name="Google Shape;38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2343" y="0"/>
            <a:ext cx="2787300" cy="27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