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7" roundtripDataSignature="AMtx7mgIeZddigWBAqdQ0aRQhVPynXBO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customschemas.google.com/relationships/presentationmetadata" Target="metadata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8" name="Google Shape;73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7" name="Google Shape;74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4" name="Google Shape;90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3" name="Google Shape;91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1" name="Google Shape;92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8" name="Google Shape;93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6" name="Google Shape;94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5" name="Google Shape;102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0" name="Google Shape;104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9" name="Google Shape;104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9" name="Google Shape;111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8" name="Google Shape;112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7" name="Google Shape;113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8" name="Google Shape;119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8" name="Google Shape;120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5f32b270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5f32b270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5f32b270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5f32b270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5f32b270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5f32b270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5f32b270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5f32b270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5f32b270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5f32b270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5f32b270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5f32b270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5f32b270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5f32b270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5f32b270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5f32b270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5f32b270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5f32b270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5f32b270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5f32b270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5f32b270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5f32b270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5f32b270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5f32b270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5f32b270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5f32b270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5f32b270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5f32b270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5f32b270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5f32b270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5f32b270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5f32b270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5f32b270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5f32b270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5f32b270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5f32b270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5f32b270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5f32b270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5f32b270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5f32b270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5f32b270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5f32b270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5f32b270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5f32b270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5f32b270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5f32b270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5f32b270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5f32b270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5f32b270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5f32b270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5f32b270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5f32b270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5f32b270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5f32b270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5f32b270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5f32b270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5f32b270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5f32b270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5f32b270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5f32b270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5f32b270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5f32b270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5f32b270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5f32b270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5f32b270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5f32b270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5f32b27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5f32b270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5f32b270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repl.it/languages/javascript" TargetMode="External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eveloper.mozilla.org/en-US/docs/Web/JavaScript/Reference/Global_Objects/Array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2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7124700" y="3774200"/>
            <a:ext cx="4219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Types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>
            <p:ph type="title"/>
          </p:nvPr>
        </p:nvSpPr>
        <p:spPr>
          <a:xfrm>
            <a:off x="7280476" y="1626765"/>
            <a:ext cx="40733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1"/>
          <p:cNvSpPr txBox="1"/>
          <p:nvPr>
            <p:ph idx="1" type="body"/>
          </p:nvPr>
        </p:nvSpPr>
        <p:spPr>
          <a:xfrm>
            <a:off x="7280476" y="3102015"/>
            <a:ext cx="4073324" cy="2426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What is data types?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Setting up your JS development environment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Experimenting with data types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What are Data Types?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8840192" y="40058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8954128" y="42368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838200" y="1825625"/>
            <a:ext cx="94287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Computers are all about passing data around and storing data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Computer is essentially a data processing device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pic>
        <p:nvPicPr>
          <p:cNvPr id="180" name="Google Shape;180;p4"/>
          <p:cNvPicPr preferRelativeResize="0"/>
          <p:nvPr/>
        </p:nvPicPr>
        <p:blipFill rotWithShape="1">
          <a:blip r:embed="rId3">
            <a:alphaModFix/>
          </a:blip>
          <a:srcRect b="17659" l="5841" r="4430" t="12339"/>
          <a:stretch/>
        </p:blipFill>
        <p:spPr>
          <a:xfrm>
            <a:off x="9505750" y="3490763"/>
            <a:ext cx="2077200" cy="16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3125" y="3134699"/>
            <a:ext cx="4851000" cy="21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20" y="3134708"/>
            <a:ext cx="3602800" cy="233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8840192" y="40058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954128" y="42368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do we represent them in code?</a:t>
            </a:r>
            <a:endParaRPr/>
          </a:p>
        </p:txBody>
      </p:sp>
      <p:sp>
        <p:nvSpPr>
          <p:cNvPr id="190" name="Google Shape;190;p5"/>
          <p:cNvSpPr txBox="1"/>
          <p:nvPr>
            <p:ph idx="1" type="body"/>
          </p:nvPr>
        </p:nvSpPr>
        <p:spPr>
          <a:xfrm>
            <a:off x="838200" y="1825625"/>
            <a:ext cx="94287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Using variables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variables are like water buckets</a:t>
            </a:r>
            <a:endParaRPr sz="2400"/>
          </a:p>
        </p:txBody>
      </p:sp>
      <p:pic>
        <p:nvPicPr>
          <p:cNvPr id="191" name="Google Shape;1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1125" y="3365875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 txBox="1"/>
          <p:nvPr/>
        </p:nvSpPr>
        <p:spPr>
          <a:xfrm>
            <a:off x="2358213" y="48507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2510613" y="32505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725" y="3481250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 txBox="1"/>
          <p:nvPr/>
        </p:nvSpPr>
        <p:spPr>
          <a:xfrm>
            <a:off x="5446813" y="49660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837250" y="33658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Apple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6325" y="3405050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/>
        </p:nvSpPr>
        <p:spPr>
          <a:xfrm>
            <a:off x="8723413" y="48898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7885250" y="32896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do we represent them in code?</a:t>
            </a:r>
            <a:endParaRPr/>
          </a:p>
        </p:txBody>
      </p:sp>
      <p:sp>
        <p:nvSpPr>
          <p:cNvPr id="207" name="Google Shape;207;p6"/>
          <p:cNvSpPr txBox="1"/>
          <p:nvPr>
            <p:ph idx="1" type="body"/>
          </p:nvPr>
        </p:nvSpPr>
        <p:spPr>
          <a:xfrm>
            <a:off x="838200" y="1825625"/>
            <a:ext cx="9428700" cy="20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Using variables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variables are like water buckets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x = 50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y = “apple”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z = 3.4</a:t>
            </a:r>
            <a:endParaRPr sz="2400"/>
          </a:p>
        </p:txBody>
      </p:sp>
      <p:pic>
        <p:nvPicPr>
          <p:cNvPr id="208" name="Google Shape;2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725" y="3975475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2205813" y="54603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2358213" y="38601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7325" y="4090850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 txBox="1"/>
          <p:nvPr/>
        </p:nvSpPr>
        <p:spPr>
          <a:xfrm>
            <a:off x="5294413" y="55756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684850" y="39754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Apple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3925" y="4014650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 txBox="1"/>
          <p:nvPr/>
        </p:nvSpPr>
        <p:spPr>
          <a:xfrm>
            <a:off x="8571013" y="54994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7732850" y="38992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Storage is expensive (in the old days)</a:t>
            </a:r>
            <a:endParaRPr/>
          </a:p>
        </p:txBody>
      </p:sp>
      <p:sp>
        <p:nvSpPr>
          <p:cNvPr id="224" name="Google Shape;224;p7"/>
          <p:cNvSpPr txBox="1"/>
          <p:nvPr>
            <p:ph idx="1" type="body"/>
          </p:nvPr>
        </p:nvSpPr>
        <p:spPr>
          <a:xfrm>
            <a:off x="838200" y="1825625"/>
            <a:ext cx="94287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So we need to customize the buckets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Small bucket for smaller data</a:t>
            </a:r>
            <a:endParaRPr sz="2400"/>
          </a:p>
        </p:txBody>
      </p:sp>
      <p:pic>
        <p:nvPicPr>
          <p:cNvPr id="225" name="Google Shape;2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525" y="2984875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 txBox="1"/>
          <p:nvPr/>
        </p:nvSpPr>
        <p:spPr>
          <a:xfrm>
            <a:off x="1748613" y="44697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1901013" y="28695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0125" y="3100250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 txBox="1"/>
          <p:nvPr/>
        </p:nvSpPr>
        <p:spPr>
          <a:xfrm>
            <a:off x="4837213" y="45850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4227650" y="29848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Apple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6725" y="3024050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 txBox="1"/>
          <p:nvPr/>
        </p:nvSpPr>
        <p:spPr>
          <a:xfrm>
            <a:off x="8113813" y="45088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7275650" y="29086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1109000" y="5666400"/>
            <a:ext cx="2327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characters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(Wasted 4 characters)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4233200" y="5666400"/>
            <a:ext cx="2327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characters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(Wasted 1 characters)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7509800" y="5666400"/>
            <a:ext cx="23760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characters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(Wasted 3 characters)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7"/>
          <p:cNvCxnSpPr/>
          <p:nvPr/>
        </p:nvCxnSpPr>
        <p:spPr>
          <a:xfrm flipH="1" rot="10800000">
            <a:off x="9973300" y="2871350"/>
            <a:ext cx="467700" cy="104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7"/>
          <p:cNvSpPr txBox="1"/>
          <p:nvPr/>
        </p:nvSpPr>
        <p:spPr>
          <a:xfrm>
            <a:off x="10474350" y="2490800"/>
            <a:ext cx="20664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Bucket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6 characters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200"/>
              <a:t>So we need data types to optimize storage</a:t>
            </a:r>
            <a:br>
              <a:rPr lang="en-US" sz="4200"/>
            </a:br>
            <a:r>
              <a:rPr lang="en-US" sz="2000"/>
              <a:t>(one of the reasons only)</a:t>
            </a:r>
            <a:endParaRPr sz="2000"/>
          </a:p>
        </p:txBody>
      </p:sp>
      <p:sp>
        <p:nvSpPr>
          <p:cNvPr id="246" name="Google Shape;246;p8"/>
          <p:cNvSpPr txBox="1"/>
          <p:nvPr>
            <p:ph idx="1" type="body"/>
          </p:nvPr>
        </p:nvSpPr>
        <p:spPr>
          <a:xfrm>
            <a:off x="838200" y="1825625"/>
            <a:ext cx="94287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So we need to customize the buckets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Small bucket for smaller data</a:t>
            </a:r>
            <a:endParaRPr sz="2400"/>
          </a:p>
        </p:txBody>
      </p:sp>
      <p:pic>
        <p:nvPicPr>
          <p:cNvPr id="247" name="Google Shape;2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4925" y="3289675"/>
            <a:ext cx="1280961" cy="13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 txBox="1"/>
          <p:nvPr/>
        </p:nvSpPr>
        <p:spPr>
          <a:xfrm>
            <a:off x="1748613" y="37077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1901013" y="2869500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0125" y="3100250"/>
            <a:ext cx="2443575" cy="25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 txBox="1"/>
          <p:nvPr/>
        </p:nvSpPr>
        <p:spPr>
          <a:xfrm>
            <a:off x="4837213" y="45850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4227650" y="29848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Apple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525" y="3176450"/>
            <a:ext cx="1673000" cy="173143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 txBox="1"/>
          <p:nvPr/>
        </p:nvSpPr>
        <p:spPr>
          <a:xfrm>
            <a:off x="8113813" y="4051675"/>
            <a:ext cx="924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7275650" y="2908675"/>
            <a:ext cx="27861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9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63" name="Google Shape;263;p9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64" name="Google Shape;264;p9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9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66" name="Google Shape;266;p9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9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" name="Google Shape;268;p9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" name="Google Shape;269;p9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70" name="Google Shape;270;p9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2" name="Google Shape;272;p9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73" name="Google Shape;273;p9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5" name="Google Shape;275;p9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76" name="Google Shape;276;p9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9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79" name="Google Shape;279;p9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9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90" name="Google Shape;290;p9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9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9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4" name="Google Shape;304;p9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05" name="Google Shape;305;p9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9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6" name="Google Shape;316;p9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List of Data Types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How many types of buckets we have (in JS)?</a:t>
            </a:r>
            <a:endParaRPr sz="1700"/>
          </a:p>
        </p:txBody>
      </p:sp>
      <p:sp>
        <p:nvSpPr>
          <p:cNvPr id="324" name="Google Shape;324;p10"/>
          <p:cNvSpPr txBox="1"/>
          <p:nvPr>
            <p:ph idx="1" type="body"/>
          </p:nvPr>
        </p:nvSpPr>
        <p:spPr>
          <a:xfrm>
            <a:off x="838200" y="1597025"/>
            <a:ext cx="9428700" cy="43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Primitive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String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Number/BigInt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Boolean</a:t>
            </a:r>
            <a:endParaRPr strike="sngStrike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Undefined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Structural Types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Object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trike="sngStrike"/>
              <a:t>Function</a:t>
            </a:r>
            <a:r>
              <a:rPr lang="en-US"/>
              <a:t> (Forget about it for now)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Structural Root Primitive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Null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1" name="Google Shape;331;p1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32" name="Google Shape;332;p1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33" name="Google Shape;333;p1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4" name="Google Shape;334;p1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35" name="Google Shape;335;p1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" name="Google Shape;338;p1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39" name="Google Shape;339;p1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1" name="Google Shape;341;p1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42" name="Google Shape;342;p1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1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45" name="Google Shape;345;p1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" name="Google Shape;347;p1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48" name="Google Shape;348;p1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" name="Google Shape;351;p1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52" name="Google Shape;352;p1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8" name="Google Shape;358;p1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59" name="Google Shape;359;p1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1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74" name="Google Shape;374;p1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1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5" name="Google Shape;385;p1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Running JS Code Online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 u="sng">
                <a:solidFill>
                  <a:schemeClr val="hlink"/>
                </a:solidFill>
                <a:hlinkClick r:id="rId3"/>
              </a:rPr>
              <a:t>https://repl.it/languages/javascript</a:t>
            </a:r>
            <a:endParaRPr sz="1700"/>
          </a:p>
        </p:txBody>
      </p:sp>
      <p:pic>
        <p:nvPicPr>
          <p:cNvPr id="393" name="Google Shape;3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8800" y="1434150"/>
            <a:ext cx="9339533" cy="484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0" name="Google Shape;400;p1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01" name="Google Shape;401;p1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02" name="Google Shape;402;p1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3" name="Google Shape;403;p1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04" name="Google Shape;404;p1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1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1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" name="Google Shape;407;p1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08" name="Google Shape;408;p1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0" name="Google Shape;410;p1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11" name="Google Shape;411;p1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3" name="Google Shape;413;p1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14" name="Google Shape;414;p1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1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17" name="Google Shape;417;p1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0" name="Google Shape;420;p1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21" name="Google Shape;421;p1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" name="Google Shape;427;p1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28" name="Google Shape;428;p1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43" name="Google Shape;443;p1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4" name="Google Shape;454;p1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String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String = Text</a:t>
            </a:r>
            <a:endParaRPr sz="1700"/>
          </a:p>
        </p:txBody>
      </p:sp>
      <p:pic>
        <p:nvPicPr>
          <p:cNvPr id="462" name="Google Shape;4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881" y="1788798"/>
            <a:ext cx="7168642" cy="41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Escape Characters</a:t>
            </a:r>
            <a:endParaRPr sz="1700"/>
          </a:p>
        </p:txBody>
      </p:sp>
      <p:sp>
        <p:nvSpPr>
          <p:cNvPr id="470" name="Google Shape;470;p15"/>
          <p:cNvSpPr txBox="1"/>
          <p:nvPr>
            <p:ph idx="1" type="body"/>
          </p:nvPr>
        </p:nvSpPr>
        <p:spPr>
          <a:xfrm>
            <a:off x="838200" y="1444625"/>
            <a:ext cx="94287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\n is replaced by the newline character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\t is replaced by the tab character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\\ is replaced by a single backslash (\)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200"/>
              <a:t>console.log</a:t>
            </a:r>
            <a:endParaRPr sz="2000"/>
          </a:p>
        </p:txBody>
      </p:sp>
      <p:sp>
        <p:nvSpPr>
          <p:cNvPr id="476" name="Google Shape;476;p16"/>
          <p:cNvSpPr txBox="1"/>
          <p:nvPr>
            <p:ph idx="1" type="body"/>
          </p:nvPr>
        </p:nvSpPr>
        <p:spPr>
          <a:xfrm>
            <a:off x="838200" y="1825625"/>
            <a:ext cx="94287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code for us to print out something on the screen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Examples: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pic>
        <p:nvPicPr>
          <p:cNvPr id="477" name="Google Shape;4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2939" y="6279020"/>
            <a:ext cx="1129525" cy="319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6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2936525"/>
            <a:ext cx="8470475" cy="24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7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String Features</a:t>
            </a:r>
            <a:endParaRPr sz="1700"/>
          </a:p>
        </p:txBody>
      </p:sp>
      <p:pic>
        <p:nvPicPr>
          <p:cNvPr id="488" name="Google Shape;4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43225"/>
            <a:ext cx="11201400" cy="3689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8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How many more?</a:t>
            </a:r>
            <a:endParaRPr sz="1700"/>
          </a:p>
        </p:txBody>
      </p:sp>
      <p:pic>
        <p:nvPicPr>
          <p:cNvPr id="496" name="Google Shape;4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462225"/>
            <a:ext cx="7455074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How many more?</a:t>
            </a:r>
            <a:endParaRPr sz="1700"/>
          </a:p>
        </p:txBody>
      </p:sp>
      <p:pic>
        <p:nvPicPr>
          <p:cNvPr id="504" name="Google Shape;5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6250" y="1416650"/>
            <a:ext cx="6198651" cy="4862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0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One last function, and what is immutable?</a:t>
            </a:r>
            <a:endParaRPr sz="1700"/>
          </a:p>
        </p:txBody>
      </p:sp>
      <p:sp>
        <p:nvSpPr>
          <p:cNvPr id="512" name="Google Shape;512;p20"/>
          <p:cNvSpPr txBox="1"/>
          <p:nvPr/>
        </p:nvSpPr>
        <p:spPr>
          <a:xfrm>
            <a:off x="2447100" y="1848925"/>
            <a:ext cx="70695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23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str1 = </a:t>
            </a:r>
            <a:r>
              <a:rPr b="0" i="0" lang="en-US" sz="235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"Hello "</a:t>
            </a:r>
            <a:r>
              <a:rPr b="0" i="0" lang="en-US" sz="23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23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str2 = </a:t>
            </a:r>
            <a:r>
              <a:rPr b="0" i="0" lang="en-US" sz="235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"world!"</a:t>
            </a:r>
            <a:r>
              <a:rPr b="0" i="0" lang="en-US" sz="23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23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result = str1.concat(str2);</a:t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t/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t/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Guess what is the value of str1 now?</a:t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“Hello ” or “Hello world!”?</a:t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t/>
            </a:r>
            <a:endParaRPr b="0" i="0" sz="235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One last function, and what is immutable?</a:t>
            </a:r>
            <a:endParaRPr sz="1700"/>
          </a:p>
        </p:txBody>
      </p:sp>
      <p:pic>
        <p:nvPicPr>
          <p:cNvPr id="520" name="Google Shape;5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025" y="1292714"/>
            <a:ext cx="8577576" cy="51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7" name="Google Shape;527;p22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528" name="Google Shape;528;p22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529" name="Google Shape;529;p22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0" name="Google Shape;530;p22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531" name="Google Shape;531;p22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22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22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22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35" name="Google Shape;535;p22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2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7" name="Google Shape;537;p22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538" name="Google Shape;538;p22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2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0" name="Google Shape;540;p22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541" name="Google Shape;541;p22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2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22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544" name="Google Shape;544;p22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2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7" name="Google Shape;547;p22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548" name="Google Shape;548;p22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22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2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2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4" name="Google Shape;554;p22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555" name="Google Shape;555;p22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2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2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2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2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2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9" name="Google Shape;569;p22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70" name="Google Shape;570;p22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2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2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2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2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2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2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2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2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2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2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1" name="Google Shape;581;p22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Numbers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3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Number</a:t>
            </a:r>
            <a:endParaRPr sz="1700"/>
          </a:p>
        </p:txBody>
      </p:sp>
      <p:sp>
        <p:nvSpPr>
          <p:cNvPr id="589" name="Google Shape;589;p23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You are in luck, there are only 2 types of numbers in JavaScript - Number and BigInt.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// Very simple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a = 3.5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b =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c = 1.3e10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// Range: from -(2</a:t>
            </a:r>
            <a:r>
              <a:rPr baseline="30000" lang="en-US">
                <a:latin typeface="Consolas"/>
                <a:ea typeface="Consolas"/>
                <a:cs typeface="Consolas"/>
                <a:sym typeface="Consolas"/>
              </a:rPr>
              <a:t>53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− 1) to 2</a:t>
            </a:r>
            <a:r>
              <a:rPr baseline="30000" lang="en-US">
                <a:latin typeface="Consolas"/>
                <a:ea typeface="Consolas"/>
                <a:cs typeface="Consolas"/>
                <a:sym typeface="Consolas"/>
              </a:rPr>
              <a:t>53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− 1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// Special Value: +Infinity, -Infinity, NaN (Not a Number)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4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Special Numbers</a:t>
            </a:r>
            <a:endParaRPr sz="1700"/>
          </a:p>
        </p:txBody>
      </p:sp>
      <p:pic>
        <p:nvPicPr>
          <p:cNvPr id="597" name="Google Shape;5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995625"/>
            <a:ext cx="69151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5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BigInt (Optional)</a:t>
            </a:r>
            <a:endParaRPr sz="1700"/>
          </a:p>
        </p:txBody>
      </p:sp>
      <p:sp>
        <p:nvSpPr>
          <p:cNvPr id="605" name="Google Shape;605;p25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Save the space from decimals for storing large integers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Sample: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  <a:t>// the "n" at the end means it's a BigInt</a:t>
            </a:r>
            <a:endParaRPr>
              <a:solidFill>
                <a:srgbClr val="333333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-US">
                <a:solidFill>
                  <a:srgbClr val="333333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bigInt </a:t>
            </a:r>
            <a:r>
              <a:rPr lang="en-US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>
                <a:solidFill>
                  <a:srgbClr val="333333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1234567890123456701234567890</a:t>
            </a:r>
            <a:r>
              <a:rPr lang="en-US">
                <a:solidFill>
                  <a:srgbClr val="99005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NOTE: IE does not support BigInt -&gt; avoid using it unless absolutely necessary</a:t>
            </a:r>
            <a:endParaRPr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6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2" name="Google Shape;612;p26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613" name="Google Shape;613;p26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614" name="Google Shape;614;p26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5" name="Google Shape;615;p26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616" name="Google Shape;616;p2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2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20" name="Google Shape;620;p26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6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2" name="Google Shape;622;p26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623" name="Google Shape;623;p2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5" name="Google Shape;625;p26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626" name="Google Shape;626;p2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8" name="Google Shape;628;p26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629" name="Google Shape;629;p2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" name="Google Shape;632;p26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633" name="Google Shape;633;p2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26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640" name="Google Shape;640;p2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2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2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2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2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4" name="Google Shape;654;p26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655" name="Google Shape;655;p2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2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2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2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2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2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2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2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6" name="Google Shape;666;p26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Boolean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7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Boolean </a:t>
            </a:r>
            <a:endParaRPr sz="1700"/>
          </a:p>
        </p:txBody>
      </p:sp>
      <p:sp>
        <p:nvSpPr>
          <p:cNvPr id="674" name="Google Shape;674;p27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True or False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Sample: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let a = true;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let b = false;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it could also be a result of comparison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let c = 4 &gt; 1;     // c is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let c = 10 &lt; 9;			// c is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1" name="Google Shape;681;p2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682" name="Google Shape;682;p2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4" name="Google Shape;684;p2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685" name="Google Shape;685;p2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2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2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2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89" name="Google Shape;689;p2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2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1" name="Google Shape;691;p2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4" name="Google Shape;694;p2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695" name="Google Shape;695;p2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7" name="Google Shape;697;p2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698" name="Google Shape;698;p2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1" name="Google Shape;701;p2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702" name="Google Shape;702;p2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8" name="Google Shape;708;p2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709" name="Google Shape;709;p2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2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2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2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2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3" name="Google Shape;723;p2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724" name="Google Shape;724;p2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5" name="Google Shape;735;p2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Undefined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9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9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typeof </a:t>
            </a:r>
            <a:endParaRPr sz="1700"/>
          </a:p>
        </p:txBody>
      </p:sp>
      <p:sp>
        <p:nvSpPr>
          <p:cNvPr id="743" name="Google Shape;743;p29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do we check for the type of a variable or value?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is a built-in feature of “typeof”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Sample: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44" name="Google Shape;7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2663" y="3286125"/>
            <a:ext cx="768667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0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0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Undefined </a:t>
            </a:r>
            <a:endParaRPr sz="1700"/>
          </a:p>
        </p:txBody>
      </p:sp>
      <p:sp>
        <p:nvSpPr>
          <p:cNvPr id="752" name="Google Shape;752;p30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Just FYI (maybe useful sometimes practically)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Sample: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53" name="Google Shape;7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5675" y="3000375"/>
            <a:ext cx="8312251" cy="18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0" name="Google Shape;760;p3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761" name="Google Shape;761;p3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762" name="Google Shape;762;p3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3" name="Google Shape;763;p3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764" name="Google Shape;764;p3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3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" name="Google Shape;766;p3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7" name="Google Shape;767;p3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68" name="Google Shape;768;p3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0" name="Google Shape;770;p3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771" name="Google Shape;771;p3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3" name="Google Shape;773;p3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774" name="Google Shape;774;p3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6" name="Google Shape;776;p3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777" name="Google Shape;777;p3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3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781" name="Google Shape;781;p3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7" name="Google Shape;787;p3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788" name="Google Shape;788;p3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3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803" name="Google Shape;803;p3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14" name="Google Shape;814;p3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Null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2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2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Null </a:t>
            </a:r>
            <a:endParaRPr sz="1700"/>
          </a:p>
        </p:txBody>
      </p:sp>
      <p:sp>
        <p:nvSpPr>
          <p:cNvPr id="822" name="Google Shape;822;p32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Very useful, but be careful about it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Null means nothing (it’s different from undefined)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Undefined - No value, so we don’t know the data type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Null - The value is “no value”, so the data type is “null”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Null could also anything (e.g. because many developer misuse it)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Representing Error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Representing wrong input from user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Representing “no information”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Sample: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let a = null;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9" name="Google Shape;829;p3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830" name="Google Shape;830;p3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831" name="Google Shape;831;p3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2" name="Google Shape;832;p3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833" name="Google Shape;833;p3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3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3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3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37" name="Google Shape;837;p3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9" name="Google Shape;839;p3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840" name="Google Shape;840;p3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2" name="Google Shape;842;p3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843" name="Google Shape;843;p3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5" name="Google Shape;845;p3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846" name="Google Shape;846;p3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3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850" name="Google Shape;850;p3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3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3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3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6" name="Google Shape;856;p3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857" name="Google Shape;857;p3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3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3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3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3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3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3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3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3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3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3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3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1" name="Google Shape;871;p3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872" name="Google Shape;872;p3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3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3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3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3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83" name="Google Shape;883;p3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Array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4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Array </a:t>
            </a:r>
            <a:endParaRPr sz="1700"/>
          </a:p>
        </p:txBody>
      </p:sp>
      <p:sp>
        <p:nvSpPr>
          <p:cNvPr id="891" name="Google Shape;891;p34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Sometimes we want to store some “similar things” in a list, e.g. shopping list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92" name="Google Shape;8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5963" y="3157538"/>
            <a:ext cx="852487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5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5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Retrieving data from array</a:t>
            </a:r>
            <a:endParaRPr sz="1700"/>
          </a:p>
        </p:txBody>
      </p:sp>
      <p:sp>
        <p:nvSpPr>
          <p:cNvPr id="900" name="Google Shape;900;p35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we want to retrieve items from the array, we will need to use their index (position)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Remember position start from 0</a:t>
            </a:r>
            <a:endParaRPr b="1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01" name="Google Shape;9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0" y="2671763"/>
            <a:ext cx="84963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6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6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Array Operations</a:t>
            </a:r>
            <a:endParaRPr sz="1700"/>
          </a:p>
        </p:txBody>
      </p:sp>
      <p:pic>
        <p:nvPicPr>
          <p:cNvPr id="909" name="Google Shape;9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300" y="1690825"/>
            <a:ext cx="8535391" cy="2717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4560689"/>
            <a:ext cx="8535391" cy="196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7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7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Array Operations</a:t>
            </a:r>
            <a:endParaRPr sz="1700"/>
          </a:p>
        </p:txBody>
      </p:sp>
      <p:pic>
        <p:nvPicPr>
          <p:cNvPr id="918" name="Google Shape;9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900" y="1843225"/>
            <a:ext cx="8535392" cy="3560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8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8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Array Operations</a:t>
            </a:r>
            <a:endParaRPr sz="1700"/>
          </a:p>
        </p:txBody>
      </p:sp>
      <p:pic>
        <p:nvPicPr>
          <p:cNvPr id="926" name="Google Shape;926;p38"/>
          <p:cNvPicPr preferRelativeResize="0"/>
          <p:nvPr/>
        </p:nvPicPr>
        <p:blipFill rotWithShape="1">
          <a:blip r:embed="rId3">
            <a:alphaModFix/>
          </a:blip>
          <a:srcRect b="15977" l="4081" r="10320" t="21732"/>
          <a:stretch/>
        </p:blipFill>
        <p:spPr>
          <a:xfrm>
            <a:off x="2785900" y="2414131"/>
            <a:ext cx="6665201" cy="23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9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9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Array Operations</a:t>
            </a:r>
            <a:endParaRPr sz="1700"/>
          </a:p>
        </p:txBody>
      </p:sp>
      <p:pic>
        <p:nvPicPr>
          <p:cNvPr id="934" name="Google Shape;934;p39"/>
          <p:cNvPicPr preferRelativeResize="0"/>
          <p:nvPr/>
        </p:nvPicPr>
        <p:blipFill rotWithShape="1">
          <a:blip r:embed="rId3">
            <a:alphaModFix/>
          </a:blip>
          <a:srcRect b="83289" l="0" r="0" t="0"/>
          <a:stretch/>
        </p:blipFill>
        <p:spPr>
          <a:xfrm>
            <a:off x="1828800" y="2071825"/>
            <a:ext cx="8535399" cy="6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39"/>
          <p:cNvPicPr preferRelativeResize="0"/>
          <p:nvPr/>
        </p:nvPicPr>
        <p:blipFill rotWithShape="1">
          <a:blip r:embed="rId3">
            <a:alphaModFix/>
          </a:blip>
          <a:srcRect b="0" l="0" r="0" t="42323"/>
          <a:stretch/>
        </p:blipFill>
        <p:spPr>
          <a:xfrm>
            <a:off x="1828800" y="2713275"/>
            <a:ext cx="8535399" cy="2298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0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0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To learn them all</a:t>
            </a:r>
            <a:endParaRPr sz="1700"/>
          </a:p>
        </p:txBody>
      </p:sp>
      <p:sp>
        <p:nvSpPr>
          <p:cNvPr id="943" name="Google Shape;943;p40"/>
          <p:cNvSpPr txBox="1"/>
          <p:nvPr/>
        </p:nvSpPr>
        <p:spPr>
          <a:xfrm>
            <a:off x="2914775" y="2381850"/>
            <a:ext cx="6852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https://developer.mozilla.org/en-US/docs/Web/JavaScript/Reference/Global_Objects/Array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0" name="Google Shape;950;p4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951" name="Google Shape;951;p4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952" name="Google Shape;952;p4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3" name="Google Shape;953;p4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954" name="Google Shape;954;p4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4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4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4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58" name="Google Shape;958;p4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0" name="Google Shape;960;p4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961" name="Google Shape;961;p4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3" name="Google Shape;963;p4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964" name="Google Shape;964;p4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6" name="Google Shape;966;p4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967" name="Google Shape;967;p4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0" name="Google Shape;970;p4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971" name="Google Shape;971;p4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7" name="Google Shape;977;p4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978" name="Google Shape;978;p4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p4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993" name="Google Shape;993;p4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04" name="Google Shape;1004;p4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Objects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2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2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Object </a:t>
            </a:r>
            <a:endParaRPr sz="1700"/>
          </a:p>
        </p:txBody>
      </p:sp>
      <p:sp>
        <p:nvSpPr>
          <p:cNvPr id="1012" name="Google Shape;1012;p42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/>
              <a:t>What if I want to represent something that’s not a number or string? e.g. a car?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13" name="Google Shape;10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2938" y="3019425"/>
            <a:ext cx="389572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3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3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Object </a:t>
            </a:r>
            <a:endParaRPr sz="1700"/>
          </a:p>
        </p:txBody>
      </p:sp>
      <p:sp>
        <p:nvSpPr>
          <p:cNvPr id="1021" name="Google Shape;1021;p43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/>
              <a:t>And if I have a second and third car?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22" name="Google Shape;102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3350" y="2305050"/>
            <a:ext cx="461010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4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4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Object (Key/Value Pairs)</a:t>
            </a:r>
            <a:endParaRPr sz="1700"/>
          </a:p>
        </p:txBody>
      </p:sp>
      <p:sp>
        <p:nvSpPr>
          <p:cNvPr id="1030" name="Google Shape;1030;p44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/>
              <a:t>This is too troublesome, so we invented the concept of “object”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 object as designing your own data type/data model.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31" name="Google Shape;103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0025" y="2365647"/>
            <a:ext cx="3503925" cy="43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44"/>
          <p:cNvSpPr/>
          <p:nvPr/>
        </p:nvSpPr>
        <p:spPr>
          <a:xfrm>
            <a:off x="4645925" y="2585325"/>
            <a:ext cx="887100" cy="319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44"/>
          <p:cNvSpPr/>
          <p:nvPr/>
        </p:nvSpPr>
        <p:spPr>
          <a:xfrm>
            <a:off x="5636525" y="2585325"/>
            <a:ext cx="887100" cy="319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44"/>
          <p:cNvSpPr txBox="1"/>
          <p:nvPr/>
        </p:nvSpPr>
        <p:spPr>
          <a:xfrm>
            <a:off x="1403550" y="2671175"/>
            <a:ext cx="158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Key/Field/Property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p44"/>
          <p:cNvCxnSpPr>
            <a:stCxn id="1032" idx="2"/>
          </p:cNvCxnSpPr>
          <p:nvPr/>
        </p:nvCxnSpPr>
        <p:spPr>
          <a:xfrm flipH="1">
            <a:off x="2947925" y="2745075"/>
            <a:ext cx="1698000" cy="21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6" name="Google Shape;1036;p44"/>
          <p:cNvCxnSpPr/>
          <p:nvPr/>
        </p:nvCxnSpPr>
        <p:spPr>
          <a:xfrm>
            <a:off x="6523625" y="2842025"/>
            <a:ext cx="1766700" cy="96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7" name="Google Shape;1037;p44"/>
          <p:cNvSpPr txBox="1"/>
          <p:nvPr/>
        </p:nvSpPr>
        <p:spPr>
          <a:xfrm>
            <a:off x="8290325" y="2671175"/>
            <a:ext cx="1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45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5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Using Objects</a:t>
            </a:r>
            <a:endParaRPr sz="1700"/>
          </a:p>
        </p:txBody>
      </p:sp>
      <p:sp>
        <p:nvSpPr>
          <p:cNvPr id="1045" name="Google Shape;1045;p45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will retrieve the data from objects using the key names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can either use the dot notation or square bracket</a:t>
            </a:r>
            <a:endParaRPr/>
          </a:p>
        </p:txBody>
      </p:sp>
      <p:pic>
        <p:nvPicPr>
          <p:cNvPr id="1046" name="Google Shape;104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2905125"/>
            <a:ext cx="518160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6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3" name="Google Shape;1053;p46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054" name="Google Shape;1054;p46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055" name="Google Shape;1055;p46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6" name="Google Shape;1056;p46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057" name="Google Shape;1057;p4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4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4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4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61" name="Google Shape;1061;p46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6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3" name="Google Shape;1063;p46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064" name="Google Shape;1064;p4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4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46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067" name="Google Shape;1067;p4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4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9" name="Google Shape;1069;p46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070" name="Google Shape;1070;p4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4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4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3" name="Google Shape;1073;p46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074" name="Google Shape;1074;p4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4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4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0" name="Google Shape;1080;p46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081" name="Google Shape;1081;p4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4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4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4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4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4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4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4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4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4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4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4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4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4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5" name="Google Shape;1095;p46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096" name="Google Shape;1096;p4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4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4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4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4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4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4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4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4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4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4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7" name="Google Shape;1107;p46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Array of Objects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7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7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Array of different types</a:t>
            </a:r>
            <a:endParaRPr sz="1700"/>
          </a:p>
        </p:txBody>
      </p:sp>
      <p:sp>
        <p:nvSpPr>
          <p:cNvPr id="1115" name="Google Shape;1115;p47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/>
              <a:t>You could put anything into your array, including string, numbers, booleans.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16" name="Google Shape;11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3188" y="2686050"/>
            <a:ext cx="72104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8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8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Array of Objects</a:t>
            </a:r>
            <a:endParaRPr sz="1700"/>
          </a:p>
        </p:txBody>
      </p:sp>
      <p:sp>
        <p:nvSpPr>
          <p:cNvPr id="1124" name="Google Shape;1124;p48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/>
              <a:t>You can also put objects in array, we call it "Array of Objects"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can be used to represent a list of objects in the real world.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25" name="Google Shape;112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3650" y="2762250"/>
            <a:ext cx="71247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49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9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How to get data from an "Array of Objects"</a:t>
            </a:r>
            <a:endParaRPr sz="1700"/>
          </a:p>
        </p:txBody>
      </p:sp>
      <p:sp>
        <p:nvSpPr>
          <p:cNvPr id="1133" name="Google Shape;1133;p49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need to first extract the item, then get the value by the key name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34" name="Google Shape;113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2298" y="2095500"/>
            <a:ext cx="6118174" cy="432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0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50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1" name="Google Shape;1141;p50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142" name="Google Shape;1142;p50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143" name="Google Shape;1143;p50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44" name="Google Shape;1144;p50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145" name="Google Shape;1145;p50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6" name="Google Shape;1146;p50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7" name="Google Shape;1147;p50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8" name="Google Shape;1148;p50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49" name="Google Shape;1149;p50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50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1" name="Google Shape;1151;p50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152" name="Google Shape;1152;p50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50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4" name="Google Shape;1154;p50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155" name="Google Shape;1155;p50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50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7" name="Google Shape;1157;p50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158" name="Google Shape;1158;p50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50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50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1" name="Google Shape;1161;p50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162" name="Google Shape;1162;p50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50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50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50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50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50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8" name="Google Shape;1168;p50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169" name="Google Shape;1169;p50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50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50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50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50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50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50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50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50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50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50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50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50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50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3" name="Google Shape;1183;p50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184" name="Google Shape;1184;p50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50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50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50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50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50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50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50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50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50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50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95" name="Google Shape;1195;p50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Constants and Dynamic Typing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Constants</a:t>
            </a:r>
            <a:endParaRPr sz="1700"/>
          </a:p>
        </p:txBody>
      </p:sp>
      <p:pic>
        <p:nvPicPr>
          <p:cNvPr id="1201" name="Google Shape;120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2939" y="6279020"/>
            <a:ext cx="1129525" cy="3194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51"/>
          <p:cNvSpPr txBox="1"/>
          <p:nvPr>
            <p:ph idx="1" type="body"/>
          </p:nvPr>
        </p:nvSpPr>
        <p:spPr>
          <a:xfrm>
            <a:off x="838200" y="1444625"/>
            <a:ext cx="109623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can create a variable that its value cannot be changes anymore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03" name="Google Shape;120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500" y="3829050"/>
            <a:ext cx="58674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675" y="2819400"/>
            <a:ext cx="459105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5600" y="4810125"/>
            <a:ext cx="73152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2"/>
          <p:cNvSpPr/>
          <p:nvPr/>
        </p:nvSpPr>
        <p:spPr>
          <a:xfrm>
            <a:off x="8840192" y="4082054"/>
            <a:ext cx="4500843" cy="4154787"/>
          </a:xfrm>
          <a:custGeom>
            <a:rect b="b" l="l" r="r" t="t"/>
            <a:pathLst>
              <a:path extrusionOk="0" h="4707974" w="5715356">
                <a:moveTo>
                  <a:pt x="4915438" y="4509482"/>
                </a:moveTo>
                <a:cubicBezTo>
                  <a:pt x="5707152" y="3613560"/>
                  <a:pt x="6084289" y="526518"/>
                  <a:pt x="5225435" y="75976"/>
                </a:cubicBezTo>
                <a:cubicBezTo>
                  <a:pt x="4366581" y="-374566"/>
                  <a:pt x="3943539" y="1304715"/>
                  <a:pt x="3109739" y="1806232"/>
                </a:cubicBezTo>
                <a:cubicBezTo>
                  <a:pt x="2275939" y="2307749"/>
                  <a:pt x="734261" y="2535994"/>
                  <a:pt x="222632" y="3085077"/>
                </a:cubicBezTo>
                <a:cubicBezTo>
                  <a:pt x="-288997" y="3634160"/>
                  <a:pt x="138735" y="4391799"/>
                  <a:pt x="920869" y="4629200"/>
                </a:cubicBezTo>
                <a:cubicBezTo>
                  <a:pt x="1703003" y="4866601"/>
                  <a:pt x="4029933" y="4489849"/>
                  <a:pt x="4915438" y="4509482"/>
                </a:cubicBezTo>
                <a:close/>
              </a:path>
            </a:pathLst>
          </a:custGeom>
          <a:solidFill>
            <a:srgbClr val="699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2"/>
          <p:cNvSpPr/>
          <p:nvPr/>
        </p:nvSpPr>
        <p:spPr>
          <a:xfrm>
            <a:off x="9030328" y="4313069"/>
            <a:ext cx="4428114" cy="3762393"/>
          </a:xfrm>
          <a:custGeom>
            <a:rect b="b" l="l" r="r" t="t"/>
            <a:pathLst>
              <a:path extrusionOk="0" h="5207465" w="6128877">
                <a:moveTo>
                  <a:pt x="5309250" y="5023277"/>
                </a:moveTo>
                <a:cubicBezTo>
                  <a:pt x="6100964" y="4127355"/>
                  <a:pt x="6647324" y="28042"/>
                  <a:pt x="5354976" y="367"/>
                </a:cubicBezTo>
                <a:cubicBezTo>
                  <a:pt x="4062628" y="-27308"/>
                  <a:pt x="4246816" y="1515076"/>
                  <a:pt x="3415462" y="2071167"/>
                </a:cubicBezTo>
                <a:cubicBezTo>
                  <a:pt x="2584108" y="2627258"/>
                  <a:pt x="1051474" y="2607327"/>
                  <a:pt x="366855" y="3336915"/>
                </a:cubicBezTo>
                <a:cubicBezTo>
                  <a:pt x="-317764" y="4066503"/>
                  <a:pt x="21136" y="4822642"/>
                  <a:pt x="844868" y="5103702"/>
                </a:cubicBezTo>
                <a:cubicBezTo>
                  <a:pt x="1668600" y="5384762"/>
                  <a:pt x="4423745" y="5003644"/>
                  <a:pt x="5309250" y="5023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Dynamic Typing</a:t>
            </a:r>
            <a:endParaRPr sz="1700"/>
          </a:p>
        </p:txBody>
      </p:sp>
      <p:sp>
        <p:nvSpPr>
          <p:cNvPr id="1213" name="Google Shape;1213;p52"/>
          <p:cNvSpPr txBox="1"/>
          <p:nvPr/>
        </p:nvSpPr>
        <p:spPr>
          <a:xfrm>
            <a:off x="1631400" y="1707525"/>
            <a:ext cx="28278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52"/>
          <p:cNvSpPr txBox="1"/>
          <p:nvPr/>
        </p:nvSpPr>
        <p:spPr>
          <a:xfrm>
            <a:off x="6329425" y="1707525"/>
            <a:ext cx="54315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Strong Typing Language (e.g Java)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5" name="Google Shape;121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480025"/>
            <a:ext cx="43624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9188" y="2435963"/>
            <a:ext cx="4331967" cy="1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