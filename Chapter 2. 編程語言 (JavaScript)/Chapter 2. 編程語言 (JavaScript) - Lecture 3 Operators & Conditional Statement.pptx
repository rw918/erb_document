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g5/6uYElcV6E9Y9wr1kgBfSwdU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672533-A0EB-4E80-91B5-745576499087}">
  <a:tblStyle styleId="{7D672533-A0EB-4E80-91B5-74557649908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https://repl.it/languages/javascript</a:t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var b = a++;		// var b = a; a = a + 1;</a:t>
            </a:r>
            <a:endParaRPr sz="2400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var c = ++a;		// a = a + 1; var c = a;</a:t>
            </a:r>
            <a:endParaRPr sz="2400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Bonus: Can we do minus for string? </a:t>
            </a:r>
            <a:br>
              <a:rPr lang="en-US"/>
            </a:br>
            <a:r>
              <a:rPr lang="en-US"/>
              <a:t>Answer is NO</a:t>
            </a:r>
            <a:endParaRPr/>
          </a:p>
        </p:txBody>
      </p:sp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https://developer.mozilla.org/en-US/docs/Web/JavaScript/Reference/Operators/Strict_equality</a:t>
            </a:r>
            <a:endParaRPr/>
          </a:p>
        </p:txBody>
      </p:sp>
      <p:sp>
        <p:nvSpPr>
          <p:cNvPr id="443" name="Google Shape;44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8" name="Google Shape;67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https://developer.mozilla.org/en-us/docs/Web/JavaScript/Reference/Statements/if...else</a:t>
            </a:r>
            <a:endParaRPr/>
          </a:p>
        </p:txBody>
      </p:sp>
      <p:sp>
        <p:nvSpPr>
          <p:cNvPr id="685" name="Google Shape;6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3" name="Google Shape;69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// switch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a = 10;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switch (a)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case 10: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console.log("ten");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break;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case 20: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console.log("twenty");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break;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default: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console.log("other");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	break;       // optional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will happen if missing break?</a:t>
            </a:r>
            <a:br>
              <a:rPr lang="en-US"/>
            </a:br>
            <a:br>
              <a:rPr lang="en-US"/>
            </a:br>
            <a:r>
              <a:rPr lang="en-US"/>
              <a:t>https://developer.mozilla.org/en-us/docs/Web/JavaScript/Reference/Statements/switch</a:t>
            </a:r>
            <a:endParaRPr/>
          </a:p>
        </p:txBody>
      </p:sp>
      <p:sp>
        <p:nvSpPr>
          <p:cNvPr id="762" name="Google Shape;76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// Ternary Operator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a = 10;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b = 20;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c = a &gt; b ? "a is larger" : "b is larger";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// c should equals to “b is larger”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console.log(c);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https://developer.mozilla.org/en-US/docs/Web/JavaScript/Reference/Operators/Conditional_Operator</a:t>
            </a:r>
            <a:endParaRPr/>
          </a:p>
        </p:txBody>
      </p:sp>
      <p:sp>
        <p:nvSpPr>
          <p:cNvPr id="831" name="Google Shape;83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463883e67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0463883e67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0463883e67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463883e67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0463883e67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0463883e67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30463883e67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30463883e67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30463883e67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463883e67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0463883e67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0463883e67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30463883e67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0463883e67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463883e67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0463883e67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0463883e67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0463883e67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30463883e67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0463883e67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30463883e67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30463883e67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463883e67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0463883e67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30463883e67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30463883e67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463883e67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0463883e67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463883e67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0463883e67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30463883e67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463883e67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463883e67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30463883e67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30463883e67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30463883e67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463883e67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0463883e67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30463883e67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30463883e67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30463883e67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463883e67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0463883e67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30463883e67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463883e67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0463883e67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30463883e67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30463883e67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0463883e67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0463883e67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463883e67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463883e67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0463883e67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30463883e67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0463883e67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30463883e67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463883e67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0463883e67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30463883e67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0463883e67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0463883e67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463883e67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0463883e67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0463883e67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0463883e67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0463883e67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463883e6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0463883e67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0463883e67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3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124700" y="3774200"/>
            <a:ext cx="4219800" cy="18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&amp; Conditional Statement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131701" y="1439915"/>
            <a:ext cx="407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131700" y="2991375"/>
            <a:ext cx="4784100" cy="2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Overview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Operators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Conditional Operators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Short Circuit Evaluations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Dual Nature of =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Conditional Statements</a:t>
            </a:r>
            <a:endParaRPr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if, switch, 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18" name="Google Shape;118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1" name="Google Shape;121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5" name="Google Shape;125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1" name="Google Shape;171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1072662" y="365125"/>
            <a:ext cx="102811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700"/>
              <a:t>Operators, Conditions, Conditional Statements</a:t>
            </a:r>
            <a:endParaRPr sz="3700"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1072662" y="1825625"/>
            <a:ext cx="10281138" cy="3486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Conditional</a:t>
            </a:r>
            <a:r>
              <a:rPr lang="en-US" sz="2400"/>
              <a:t> </a:t>
            </a:r>
            <a:r>
              <a:rPr b="1" lang="en-US" sz="2400"/>
              <a:t>Statements</a:t>
            </a:r>
            <a:r>
              <a:rPr lang="en-US" sz="2400"/>
              <a:t>: A piece of code that would divert to different actions based on different conditions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Conditions</a:t>
            </a:r>
            <a:r>
              <a:rPr lang="en-US" sz="2400"/>
              <a:t>: to represent a criteria in code, evaluate as a boolean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Operators</a:t>
            </a:r>
            <a:r>
              <a:rPr lang="en-US" sz="2400"/>
              <a:t>: to operate on variables (e.g. + - * /)</a:t>
            </a:r>
            <a:endParaRPr sz="2400"/>
          </a:p>
        </p:txBody>
      </p:sp>
      <p:sp>
        <p:nvSpPr>
          <p:cNvPr id="178" name="Google Shape;178;p4"/>
          <p:cNvSpPr/>
          <p:nvPr/>
        </p:nvSpPr>
        <p:spPr>
          <a:xfrm rot="10800000">
            <a:off x="-12" y="5555609"/>
            <a:ext cx="12192012" cy="1325538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745075" y="4345350"/>
            <a:ext cx="2376600" cy="100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Conditional Statement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4821775" y="4345350"/>
            <a:ext cx="2376600" cy="100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9127075" y="4345350"/>
            <a:ext cx="2376600" cy="100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4"/>
          <p:cNvCxnSpPr>
            <a:stCxn id="179" idx="3"/>
            <a:endCxn id="180" idx="1"/>
          </p:cNvCxnSpPr>
          <p:nvPr/>
        </p:nvCxnSpPr>
        <p:spPr>
          <a:xfrm>
            <a:off x="3121675" y="4845600"/>
            <a:ext cx="170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4"/>
          <p:cNvSpPr txBox="1"/>
          <p:nvPr/>
        </p:nvSpPr>
        <p:spPr>
          <a:xfrm>
            <a:off x="3292800" y="4945650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4"/>
          <p:cNvCxnSpPr>
            <a:endCxn id="181" idx="1"/>
          </p:cNvCxnSpPr>
          <p:nvPr/>
        </p:nvCxnSpPr>
        <p:spPr>
          <a:xfrm>
            <a:off x="7198375" y="4845600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" name="Google Shape;185;p4"/>
          <p:cNvSpPr txBox="1"/>
          <p:nvPr/>
        </p:nvSpPr>
        <p:spPr>
          <a:xfrm>
            <a:off x="7468825" y="4945650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If (user’s guess equals to answer) -&gt; Print out “You Win”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If (user’s guess does not equals to answer) -&gt; Print out “Try Again”</a:t>
            </a:r>
            <a:endParaRPr sz="2400"/>
          </a:p>
        </p:txBody>
      </p:sp>
      <p:sp>
        <p:nvSpPr>
          <p:cNvPr id="191" name="Google Shape;191;p5"/>
          <p:cNvSpPr/>
          <p:nvPr/>
        </p:nvSpPr>
        <p:spPr>
          <a:xfrm>
            <a:off x="1565725" y="1804150"/>
            <a:ext cx="7735500" cy="43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939275" y="1859800"/>
            <a:ext cx="4180500" cy="3519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700"/>
              <a:t>Operators, Conditions, Conditional Statements</a:t>
            </a:r>
            <a:endParaRPr sz="3700"/>
          </a:p>
        </p:txBody>
      </p:sp>
      <p:sp>
        <p:nvSpPr>
          <p:cNvPr id="194" name="Google Shape;194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745075" y="4345350"/>
            <a:ext cx="2376600" cy="100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Conditional Statement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821775" y="4345350"/>
            <a:ext cx="2376600" cy="100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9127075" y="4345350"/>
            <a:ext cx="2376600" cy="100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5"/>
          <p:cNvCxnSpPr>
            <a:stCxn id="195" idx="3"/>
            <a:endCxn id="196" idx="1"/>
          </p:cNvCxnSpPr>
          <p:nvPr/>
        </p:nvCxnSpPr>
        <p:spPr>
          <a:xfrm>
            <a:off x="3121675" y="4845600"/>
            <a:ext cx="170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5"/>
          <p:cNvSpPr txBox="1"/>
          <p:nvPr/>
        </p:nvSpPr>
        <p:spPr>
          <a:xfrm>
            <a:off x="3292800" y="4945650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5"/>
          <p:cNvCxnSpPr>
            <a:endCxn id="197" idx="1"/>
          </p:cNvCxnSpPr>
          <p:nvPr/>
        </p:nvCxnSpPr>
        <p:spPr>
          <a:xfrm>
            <a:off x="7198375" y="4845600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5"/>
          <p:cNvSpPr txBox="1"/>
          <p:nvPr/>
        </p:nvSpPr>
        <p:spPr>
          <a:xfrm>
            <a:off x="7468825" y="4945650"/>
            <a:ext cx="13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5"/>
          <p:cNvCxnSpPr/>
          <p:nvPr/>
        </p:nvCxnSpPr>
        <p:spPr>
          <a:xfrm flipH="1">
            <a:off x="2209400" y="2225400"/>
            <a:ext cx="945900" cy="2106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5"/>
          <p:cNvCxnSpPr/>
          <p:nvPr/>
        </p:nvCxnSpPr>
        <p:spPr>
          <a:xfrm>
            <a:off x="4101100" y="2209500"/>
            <a:ext cx="1684800" cy="2122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5"/>
          <p:cNvSpPr/>
          <p:nvPr/>
        </p:nvSpPr>
        <p:spPr>
          <a:xfrm>
            <a:off x="3735500" y="1907475"/>
            <a:ext cx="945900" cy="2622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5"/>
          <p:cNvCxnSpPr>
            <a:stCxn id="204" idx="3"/>
          </p:cNvCxnSpPr>
          <p:nvPr/>
        </p:nvCxnSpPr>
        <p:spPr>
          <a:xfrm>
            <a:off x="4681400" y="2038575"/>
            <a:ext cx="5078700" cy="22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6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213" name="Google Shape;213;p6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5" name="Google Shape;215;p6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216" name="Google Shape;216;p6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6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6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6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20" name="Google Shape;220;p6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6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" name="Google Shape;222;p6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" name="Google Shape;232;p6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233" name="Google Shape;233;p6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6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6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" name="Google Shape;254;p6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255" name="Google Shape;255;p6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6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6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6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6" name="Google Shape;266;p6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Operators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are Operators?</a:t>
            </a:r>
            <a:endParaRPr/>
          </a:p>
        </p:txBody>
      </p:sp>
      <p:sp>
        <p:nvSpPr>
          <p:cNvPr id="272" name="Google Shape;272;p7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-"/>
            </a:pPr>
            <a:r>
              <a:rPr lang="en-US" sz="2400"/>
              <a:t>Basically + - * /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But there are some non-mathematical operators as well 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Quick shortcut for you to manipulate variables</a:t>
            </a:r>
            <a:endParaRPr sz="2400"/>
          </a:p>
        </p:txBody>
      </p:sp>
      <p:sp>
        <p:nvSpPr>
          <p:cNvPr id="273" name="Google Shape;273;p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operators are available?</a:t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" name="Google Shape;281;p8"/>
          <p:cNvGraphicFramePr/>
          <p:nvPr/>
        </p:nvGraphicFramePr>
        <p:xfrm>
          <a:off x="3159213" y="159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{7D672533-A0EB-4E80-91B5-745576499087}</a:tableStyleId>
              </a:tblPr>
              <a:tblGrid>
                <a:gridCol w="1756750"/>
                <a:gridCol w="43511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Operator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Description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+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Addition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-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Subtraction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*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Multiplication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**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Exponentiation (ES2016)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/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Division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%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Modulus (Remainder from Division)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++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Increment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--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Decrement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Modulus %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>
            <p:ph type="title"/>
          </p:nvPr>
        </p:nvSpPr>
        <p:spPr>
          <a:xfrm>
            <a:off x="838200" y="1558148"/>
            <a:ext cx="10515600" cy="3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modulus (the remainder of division)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21/5 = 4...1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21%5 = 1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8353" y="2635453"/>
            <a:ext cx="3375300" cy="1213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++/--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>
            <p:ph type="title"/>
          </p:nvPr>
        </p:nvSpPr>
        <p:spPr>
          <a:xfrm>
            <a:off x="838200" y="1558148"/>
            <a:ext cx="10515600" cy="3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 shorthand form</a:t>
            </a:r>
            <a:endParaRPr sz="2400"/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○"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a++ means "a = a + 1"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○"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a-- means "a = a - 1"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7" name="Google Shape;2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6650" y="2776558"/>
            <a:ext cx="4929050" cy="23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Magic of ++</a:t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5863" y="2202851"/>
            <a:ext cx="9100275" cy="20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Variations of Assignment Operators</a:t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1" name="Google Shape;311;p12"/>
          <p:cNvGraphicFramePr/>
          <p:nvPr/>
        </p:nvGraphicFramePr>
        <p:xfrm>
          <a:off x="3845013" y="159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{7D672533-A0EB-4E80-91B5-745576499087}</a:tableStyleId>
              </a:tblPr>
              <a:tblGrid>
                <a:gridCol w="1411400"/>
                <a:gridCol w="34957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Operator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Same as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=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x = y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+=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x = x + y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-=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x = x - y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*=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x = x * y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/=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x = x / y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%=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x = x % y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**=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x = x ** y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if we add strings together?</a:t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4375" y="1833475"/>
            <a:ext cx="6670175" cy="23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p1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26" name="Google Shape;326;p1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8" name="Google Shape;328;p1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29" name="Google Shape;329;p1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33" name="Google Shape;333;p1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5" name="Google Shape;335;p1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36" name="Google Shape;336;p1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1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39" name="Google Shape;339;p1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" name="Google Shape;341;p1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42" name="Google Shape;342;p1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" name="Google Shape;345;p1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46" name="Google Shape;346;p1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" name="Google Shape;352;p1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53" name="Google Shape;353;p1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" name="Google Shape;367;p1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68" name="Google Shape;368;p1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9" name="Google Shape;379;p1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Conditional Operators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Conditional Operators</a:t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1816200" y="1780250"/>
            <a:ext cx="9063000" cy="3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Easy, but super important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Basically it means comparisons, and return the boolean result (either true or false)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Conditional Operators</a:t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3" name="Google Shape;393;p16"/>
          <p:cNvGraphicFramePr/>
          <p:nvPr/>
        </p:nvGraphicFramePr>
        <p:xfrm>
          <a:off x="3845013" y="15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{7D672533-A0EB-4E80-91B5-745576499087}</a:tableStyleId>
              </a:tblPr>
              <a:tblGrid>
                <a:gridCol w="1411400"/>
                <a:gridCol w="34957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Operator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Same as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==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equal 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1" lang="en-US" sz="1700" u="none" cap="none" strike="noStrike"/>
                        <a:t>===</a:t>
                      </a:r>
                      <a:endParaRPr b="1" i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US" sz="1400" u="none" cap="none" strike="noStrike"/>
                        <a:t>equal value and equal type</a:t>
                      </a:r>
                      <a:endParaRPr b="1" i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i="1" lang="en-US" sz="1700" u="none" cap="none" strike="noStrike"/>
                        <a:t>!=</a:t>
                      </a:r>
                      <a:endParaRPr i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not equal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1" lang="en-US" sz="1700" u="none" cap="none" strike="noStrike"/>
                        <a:t>!==</a:t>
                      </a:r>
                      <a:endParaRPr b="1" i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US" sz="1400" u="none" cap="none" strike="noStrike"/>
                        <a:t>not equal value or not equal type</a:t>
                      </a:r>
                      <a:endParaRPr b="1" i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&gt;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greater than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&lt;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less than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&gt;=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greater than or equal 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&lt;=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less than or equal 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Logical Operators</a:t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0" name="Google Shape;400;p17"/>
          <p:cNvGraphicFramePr/>
          <p:nvPr/>
        </p:nvGraphicFramePr>
        <p:xfrm>
          <a:off x="3845013" y="220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{7D672533-A0EB-4E80-91B5-745576499087}</a:tableStyleId>
              </a:tblPr>
              <a:tblGrid>
                <a:gridCol w="1411400"/>
                <a:gridCol w="34957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Operator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Same as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&amp;&amp;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||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or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!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not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And (&amp;&amp;)</a:t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7" name="Google Shape;407;p18"/>
          <p:cNvGraphicFramePr/>
          <p:nvPr/>
        </p:nvGraphicFramePr>
        <p:xfrm>
          <a:off x="4389738" y="25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{7D672533-A0EB-4E80-91B5-745576499087}</a:tableStyleId>
              </a:tblPr>
              <a:tblGrid>
                <a:gridCol w="868775"/>
                <a:gridCol w="951225"/>
                <a:gridCol w="17042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a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Result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8" name="Google Shape;408;p18"/>
          <p:cNvSpPr txBox="1"/>
          <p:nvPr/>
        </p:nvSpPr>
        <p:spPr>
          <a:xfrm>
            <a:off x="1816200" y="1780250"/>
            <a:ext cx="9008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a&amp;&amp;b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true only if </a:t>
            </a: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a and b are true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Or (||)</a:t>
            </a:r>
            <a:endParaRPr/>
          </a:p>
        </p:txBody>
      </p:sp>
      <p:sp>
        <p:nvSpPr>
          <p:cNvPr id="414" name="Google Shape;414;p1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5" name="Google Shape;415;p19"/>
          <p:cNvGraphicFramePr/>
          <p:nvPr/>
        </p:nvGraphicFramePr>
        <p:xfrm>
          <a:off x="4389738" y="25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{7D672533-A0EB-4E80-91B5-745576499087}</a:tableStyleId>
              </a:tblPr>
              <a:tblGrid>
                <a:gridCol w="868775"/>
                <a:gridCol w="951225"/>
                <a:gridCol w="17042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a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Result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6" name="Google Shape;416;p19"/>
          <p:cNvSpPr txBox="1"/>
          <p:nvPr/>
        </p:nvSpPr>
        <p:spPr>
          <a:xfrm>
            <a:off x="1816200" y="1780250"/>
            <a:ext cx="9008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a||b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false only if </a:t>
            </a: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a and b are false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Not (!)</a:t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20"/>
          <p:cNvGraphicFramePr/>
          <p:nvPr/>
        </p:nvGraphicFramePr>
        <p:xfrm>
          <a:off x="4389738" y="26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{7D672533-A0EB-4E80-91B5-745576499087}</a:tableStyleId>
              </a:tblPr>
              <a:tblGrid>
                <a:gridCol w="868775"/>
                <a:gridCol w="17042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a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Result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4" name="Google Shape;424;p20"/>
          <p:cNvSpPr txBox="1"/>
          <p:nvPr/>
        </p:nvSpPr>
        <p:spPr>
          <a:xfrm>
            <a:off x="1816200" y="1780250"/>
            <a:ext cx="9008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Returns the opposite value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to use Conditional Operators?</a:t>
            </a:r>
            <a:endParaRPr/>
          </a:p>
        </p:txBody>
      </p:sp>
      <p:sp>
        <p:nvSpPr>
          <p:cNvPr id="430" name="Google Shape;430;p21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843225"/>
            <a:ext cx="9220624" cy="29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to use Conditional Operators?</a:t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690825"/>
            <a:ext cx="9873361" cy="3525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9" name="Google Shape;439;p22"/>
          <p:cNvGraphicFramePr/>
          <p:nvPr/>
        </p:nvGraphicFramePr>
        <p:xfrm>
          <a:off x="5891888" y="155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{7D672533-A0EB-4E80-91B5-745576499087}</a:tableStyleId>
              </a:tblPr>
              <a:tblGrid>
                <a:gridCol w="589575"/>
                <a:gridCol w="645525"/>
                <a:gridCol w="1156500"/>
              </a:tblGrid>
              <a:tr h="27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a</a:t>
                      </a:r>
                      <a:endParaRPr b="1" sz="17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</a:t>
                      </a:r>
                      <a:endParaRPr b="1" sz="17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a &amp;&amp; b</a:t>
                      </a:r>
                      <a:endParaRPr b="1" sz="17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4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4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4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4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0" name="Google Shape;440;p22"/>
          <p:cNvGraphicFramePr/>
          <p:nvPr/>
        </p:nvGraphicFramePr>
        <p:xfrm>
          <a:off x="8761038" y="155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{7D672533-A0EB-4E80-91B5-745576499087}</a:tableStyleId>
              </a:tblPr>
              <a:tblGrid>
                <a:gridCol w="623850"/>
                <a:gridCol w="683075"/>
                <a:gridCol w="1223775"/>
              </a:tblGrid>
              <a:tr h="31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a</a:t>
                      </a:r>
                      <a:endParaRPr b="1" sz="17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</a:t>
                      </a:r>
                      <a:endParaRPr b="1" sz="17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a || b</a:t>
                      </a:r>
                      <a:endParaRPr b="1" sz="17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8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8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8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true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28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false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Be careful about ==</a:t>
            </a:r>
            <a:endParaRPr/>
          </a:p>
        </p:txBody>
      </p:sp>
      <p:sp>
        <p:nvSpPr>
          <p:cNvPr id="446" name="Google Shape;446;p2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901800" y="4394875"/>
            <a:ext cx="100995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*JavaScript only*</a:t>
            </a:r>
            <a:endParaRPr b="1" i="0" sz="2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8" name="Google Shape;4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843225"/>
            <a:ext cx="10099499" cy="2206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5" name="Google Shape;455;p2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456" name="Google Shape;456;p2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457" name="Google Shape;457;p2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8" name="Google Shape;458;p2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459" name="Google Shape;459;p2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2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2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2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63" name="Google Shape;463;p2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" name="Google Shape;465;p2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466" name="Google Shape;466;p2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8" name="Google Shape;468;p2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469" name="Google Shape;469;p2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2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p2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472" name="Google Shape;472;p2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2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476" name="Google Shape;476;p2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2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483" name="Google Shape;483;p2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2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98" name="Google Shape;498;p2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2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2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2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2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2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2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2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2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9" name="Google Shape;509;p2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Short-circuit Evaluation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Logical Operators != true/false</a:t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1816200" y="1780250"/>
            <a:ext cx="9063000" cy="3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a guess on the results of the following statements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7" name="Google Shape;5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3" y="2509838"/>
            <a:ext cx="38004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Short-circuit Evaluation</a:t>
            </a:r>
            <a:endParaRPr/>
          </a:p>
        </p:txBody>
      </p:sp>
      <p:sp>
        <p:nvSpPr>
          <p:cNvPr id="523" name="Google Shape;523;p2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 txBox="1"/>
          <p:nvPr/>
        </p:nvSpPr>
        <p:spPr>
          <a:xfrm>
            <a:off x="1816200" y="1780250"/>
            <a:ext cx="9063000" cy="3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&amp;&amp;: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the first part is </a:t>
            </a:r>
            <a:r>
              <a:rPr b="1" i="0" lang="en-US" sz="25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then the second part will not be evaluated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||: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the first part is </a:t>
            </a:r>
            <a:r>
              <a:rPr b="1" i="0" lang="en-US" sz="25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then the second part will not be evaluated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only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considered as false, other values are all considered as true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Logical Operators != true/false</a:t>
            </a:r>
            <a:endParaRPr/>
          </a:p>
        </p:txBody>
      </p:sp>
      <p:sp>
        <p:nvSpPr>
          <p:cNvPr id="530" name="Google Shape;530;p2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7"/>
          <p:cNvSpPr txBox="1"/>
          <p:nvPr/>
        </p:nvSpPr>
        <p:spPr>
          <a:xfrm>
            <a:off x="1816200" y="1551650"/>
            <a:ext cx="9063000" cy="3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a guess on the results of the following statements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8913" y="2214563"/>
            <a:ext cx="673417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8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9" name="Google Shape;539;p28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540" name="Google Shape;540;p28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541" name="Google Shape;541;p28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2" name="Google Shape;542;p28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543" name="Google Shape;543;p28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28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28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28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47" name="Google Shape;547;p28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28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9" name="Google Shape;549;p28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550" name="Google Shape;550;p28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8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2" name="Google Shape;552;p28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553" name="Google Shape;553;p28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8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p28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556" name="Google Shape;556;p28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8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8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9" name="Google Shape;559;p28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560" name="Google Shape;560;p28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8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8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8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8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28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6" name="Google Shape;566;p28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567" name="Google Shape;567;p28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8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8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8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8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8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8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8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8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8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8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8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8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8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1" name="Google Shape;581;p28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582" name="Google Shape;582;p28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8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8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8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8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8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8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8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8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8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8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3" name="Google Shape;593;p28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Dual Nature of "="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Dual Nature of “=”</a:t>
            </a:r>
            <a:endParaRPr/>
          </a:p>
        </p:txBody>
      </p:sp>
      <p:sp>
        <p:nvSpPr>
          <p:cNvPr id="599" name="Google Shape;599;p2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9"/>
          <p:cNvSpPr txBox="1"/>
          <p:nvPr/>
        </p:nvSpPr>
        <p:spPr>
          <a:xfrm>
            <a:off x="1072650" y="1596325"/>
            <a:ext cx="3671400" cy="5715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9"/>
          <p:cNvSpPr txBox="1"/>
          <p:nvPr/>
        </p:nvSpPr>
        <p:spPr>
          <a:xfrm>
            <a:off x="7164650" y="1596325"/>
            <a:ext cx="3671400" cy="5715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Equals to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9"/>
          <p:cNvSpPr txBox="1"/>
          <p:nvPr/>
        </p:nvSpPr>
        <p:spPr>
          <a:xfrm>
            <a:off x="322575" y="4419600"/>
            <a:ext cx="58767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what is the value of a and b?</a:t>
            </a:r>
            <a:endParaRPr b="0" i="0" sz="2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3" name="Google Shape;603;p29"/>
          <p:cNvSpPr txBox="1"/>
          <p:nvPr/>
        </p:nvSpPr>
        <p:spPr>
          <a:xfrm>
            <a:off x="6489650" y="4419600"/>
            <a:ext cx="51651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What is the value of a?</a:t>
            </a:r>
            <a:endParaRPr b="0" i="0" sz="2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4" name="Google Shape;604;p29"/>
          <p:cNvSpPr txBox="1"/>
          <p:nvPr/>
        </p:nvSpPr>
        <p:spPr>
          <a:xfrm>
            <a:off x="9714575" y="107300"/>
            <a:ext cx="23331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Very Very Important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5" name="Google Shape;6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548825"/>
            <a:ext cx="253365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5650" y="2548825"/>
            <a:ext cx="38100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Dual Nature of “=”</a:t>
            </a:r>
            <a:endParaRPr/>
          </a:p>
        </p:txBody>
      </p:sp>
      <p:sp>
        <p:nvSpPr>
          <p:cNvPr id="612" name="Google Shape;612;p3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 txBox="1"/>
          <p:nvPr>
            <p:ph type="title"/>
          </p:nvPr>
        </p:nvSpPr>
        <p:spPr>
          <a:xfrm>
            <a:off x="838200" y="1558148"/>
            <a:ext cx="10515600" cy="3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b="1" lang="en-US" sz="2400"/>
              <a:t>=</a:t>
            </a:r>
            <a:r>
              <a:rPr lang="en-US" sz="2400"/>
              <a:t> means assigning the right hand side value to left hand side variable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==</a:t>
            </a:r>
            <a:r>
              <a:rPr lang="en-US" sz="2400"/>
              <a:t> means comparison, check if the left hand side is equals to right hand side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===</a:t>
            </a:r>
            <a:r>
              <a:rPr lang="en-US" sz="2400"/>
              <a:t> means strict comparison (checking both values and types)</a:t>
            </a:r>
            <a:endParaRPr sz="2400"/>
          </a:p>
        </p:txBody>
      </p:sp>
      <p:sp>
        <p:nvSpPr>
          <p:cNvPr id="614" name="Google Shape;614;p30"/>
          <p:cNvSpPr txBox="1"/>
          <p:nvPr/>
        </p:nvSpPr>
        <p:spPr>
          <a:xfrm>
            <a:off x="9714575" y="107300"/>
            <a:ext cx="23331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Very Very Important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1" name="Google Shape;621;p3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622" name="Google Shape;622;p3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623" name="Google Shape;623;p3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3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625" name="Google Shape;625;p3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3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3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3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29" name="Google Shape;629;p3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1" name="Google Shape;631;p3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632" name="Google Shape;632;p3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3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3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635" name="Google Shape;635;p3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7" name="Google Shape;637;p3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638" name="Google Shape;638;p3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3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3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1" name="Google Shape;641;p3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642" name="Google Shape;642;p3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3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3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3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3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3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8" name="Google Shape;648;p3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649" name="Google Shape;649;p3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3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3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3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3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3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3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3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3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3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3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3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3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3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3" name="Google Shape;663;p3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664" name="Google Shape;664;p3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3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3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3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3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3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3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3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3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3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3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5" name="Google Shape;675;p3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Conditional Statement - If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Finally, Conditional Statements</a:t>
            </a:r>
            <a:endParaRPr/>
          </a:p>
        </p:txBody>
      </p:sp>
      <p:sp>
        <p:nvSpPr>
          <p:cNvPr id="681" name="Google Shape;681;p3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2"/>
          <p:cNvSpPr txBox="1"/>
          <p:nvPr/>
        </p:nvSpPr>
        <p:spPr>
          <a:xfrm>
            <a:off x="1816200" y="1780250"/>
            <a:ext cx="9063000" cy="3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three types of Conditional Statements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 (Ternary Operator)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Conditional Statements - If</a:t>
            </a:r>
            <a:endParaRPr/>
          </a:p>
        </p:txBody>
      </p:sp>
      <p:sp>
        <p:nvSpPr>
          <p:cNvPr id="688" name="Google Shape;688;p3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3"/>
          <p:cNvSpPr txBox="1"/>
          <p:nvPr/>
        </p:nvSpPr>
        <p:spPr>
          <a:xfrm>
            <a:off x="1816200" y="1780250"/>
            <a:ext cx="9063000" cy="3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90" name="Google Shape;69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6404" y="1897375"/>
            <a:ext cx="4797750" cy="313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7" name="Google Shape;697;p3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698" name="Google Shape;698;p3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699" name="Google Shape;699;p3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00" name="Google Shape;700;p3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701" name="Google Shape;701;p3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2" name="Google Shape;702;p3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3" name="Google Shape;703;p3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3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05" name="Google Shape;705;p3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7" name="Google Shape;707;p3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708" name="Google Shape;708;p3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3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0" name="Google Shape;710;p3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711" name="Google Shape;711;p3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3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3" name="Google Shape;713;p3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714" name="Google Shape;714;p3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3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3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7" name="Google Shape;717;p3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718" name="Google Shape;718;p3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3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3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3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3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3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4" name="Google Shape;724;p3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725" name="Google Shape;725;p3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3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3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3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3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3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3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3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3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3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3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3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3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3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9" name="Google Shape;739;p3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740" name="Google Shape;740;p3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3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3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3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3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3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3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3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3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3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3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1" name="Google Shape;751;p3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Conditional Statement - Switch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Conditional Statements - Switch</a:t>
            </a:r>
            <a:endParaRPr/>
          </a:p>
        </p:txBody>
      </p:sp>
      <p:sp>
        <p:nvSpPr>
          <p:cNvPr id="757" name="Google Shape;757;p3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8" name="Google Shape;7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151675"/>
            <a:ext cx="4024882" cy="317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1874" y="1999275"/>
            <a:ext cx="3685000" cy="375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Tricky Switch</a:t>
            </a:r>
            <a:endParaRPr/>
          </a:p>
        </p:txBody>
      </p:sp>
      <p:sp>
        <p:nvSpPr>
          <p:cNvPr id="765" name="Google Shape;765;p3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6" name="Google Shape;76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1874" y="1999275"/>
            <a:ext cx="3685000" cy="375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2086425"/>
            <a:ext cx="405765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7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4" name="Google Shape;774;p3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775" name="Google Shape;775;p3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776" name="Google Shape;776;p3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77" name="Google Shape;777;p3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778" name="Google Shape;778;p3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779;p3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3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3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82" name="Google Shape;782;p3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4" name="Google Shape;784;p3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785" name="Google Shape;785;p3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7" name="Google Shape;787;p3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788" name="Google Shape;788;p3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0" name="Google Shape;790;p3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791" name="Google Shape;791;p3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4" name="Google Shape;794;p3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795" name="Google Shape;795;p3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1" name="Google Shape;801;p3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802" name="Google Shape;802;p3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6" name="Google Shape;816;p3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817" name="Google Shape;817;p3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8" name="Google Shape;828;p3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Conditional Statement - ? (Ternary Operator)</a:t>
            </a:r>
            <a:endParaRPr sz="4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/>
              <a:t>? - </a:t>
            </a:r>
            <a:r>
              <a:rPr lang="en-US"/>
              <a:t>Special Conditional Statement </a:t>
            </a:r>
            <a:endParaRPr b="1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700"/>
              <a:t>(in fact, it should be an operator)</a:t>
            </a:r>
            <a:endParaRPr sz="2700"/>
          </a:p>
        </p:txBody>
      </p:sp>
      <p:sp>
        <p:nvSpPr>
          <p:cNvPr id="834" name="Google Shape;834;p3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8"/>
          <p:cNvSpPr txBox="1"/>
          <p:nvPr/>
        </p:nvSpPr>
        <p:spPr>
          <a:xfrm>
            <a:off x="1816200" y="1780250"/>
            <a:ext cx="90630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Ternary Operator: ?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it as shorthand for if … else…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36" name="Google Shape;83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958650"/>
            <a:ext cx="8345083" cy="23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