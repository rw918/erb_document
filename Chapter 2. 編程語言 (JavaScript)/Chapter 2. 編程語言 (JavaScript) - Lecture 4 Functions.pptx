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pgqeWwHRZayYcUYftzwz8KCJA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Functions to reduce repeated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// Example: converting 5 numbers into pounds from kg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weight1 = 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weight2 = 20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weight3 = 30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weight4 = 40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 weight5 = 50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weightInPound1 = weight1*2.2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weightInPound2 = weight2*2.2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weightInPound3 = weight3*2.2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weightInPound4 = weight4*2.2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weightInPound5 = weight5*2.2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8" name="Google Shape;7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7" name="Google Shape;77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630e2f69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630e2f69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630e2f69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630e2f69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630e2f69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630e2f69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630e2f69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630e2f69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630e2f69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630e2f69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630e2f69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630e2f69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630e2f69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630e2f69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630e2f69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630e2f69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630e2f69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630e2f69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630e2f69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630e2f69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630e2f69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630e2f69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630e2f69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630e2f69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630e2f69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630e2f69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630e2f69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630e2f69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630e2f69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630e2f69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630e2f69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630e2f69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630e2f69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630e2f69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630e2f69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630e2f69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630e2f69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630e2f69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630e2f69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630e2f69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630e2f69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630e2f69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630e2f69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630e2f69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630e2f69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630e2f69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630e2f69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630e2f69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630e2f69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630e2f69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630e2f69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630e2f69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630e2f69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630e2f69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630e2f69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630e2f69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630e2f69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630e2f69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630e2f69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630e2f69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630e2f69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630e2f69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630e2f69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630e2f69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630e2f69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630e2f69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630e2f6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630e2f69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630e2f69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hyperlink" Target="https://stackoverflow.com/questions/22747068/is-there-a-max-number-of-arguments-javascript-functions-can-accep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4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124700" y="3774200"/>
            <a:ext cx="42198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Functions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250726" y="1299465"/>
            <a:ext cx="407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50726" y="2774715"/>
            <a:ext cx="40734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Functions Overview</a:t>
            </a:r>
            <a:endParaRPr sz="2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Writing Functions</a:t>
            </a:r>
            <a:endParaRPr sz="2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Using Functions</a:t>
            </a:r>
            <a:endParaRPr sz="2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Why Using Functions?</a:t>
            </a:r>
            <a:endParaRPr sz="2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Best Practices</a:t>
            </a:r>
            <a:endParaRPr sz="2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Variable Scopes</a:t>
            </a:r>
            <a:endParaRPr sz="2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Pass-by-Value &amp; Pass-by-Reference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8" name="Google Shape;118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" name="Google Shape;120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1" name="Google Shape;121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" name="Google Shape;122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5" name="Google Shape;125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" name="Google Shape;127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5" name="Google Shape;145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1" name="Google Shape;171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Functions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Function</a:t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piece of packaged code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programming component that perform a specific task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 encapsulation of a piece of repeatedly used code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 some other languages/scenarios, it is named as “Method”, “Procedure”, “Subroutine”</a:t>
            </a:r>
            <a:endParaRPr sz="2400"/>
          </a:p>
        </p:txBody>
      </p:sp>
      <p:sp>
        <p:nvSpPr>
          <p:cNvPr id="178" name="Google Shape;178;p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Function Works</a:t>
            </a:r>
            <a:endParaRPr/>
          </a:p>
        </p:txBody>
      </p:sp>
      <p:sp>
        <p:nvSpPr>
          <p:cNvPr id="185" name="Google Shape;185;p5"/>
          <p:cNvSpPr txBox="1"/>
          <p:nvPr>
            <p:ph idx="1" type="body"/>
          </p:nvPr>
        </p:nvSpPr>
        <p:spPr>
          <a:xfrm>
            <a:off x="1072650" y="1368425"/>
            <a:ext cx="102810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Functions: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186" name="Google Shape;186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302950" y="1969475"/>
            <a:ext cx="1469400" cy="8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5"/>
          <p:cNvCxnSpPr/>
          <p:nvPr/>
        </p:nvCxnSpPr>
        <p:spPr>
          <a:xfrm flipH="1" rot="10800000">
            <a:off x="1750650" y="22546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5"/>
          <p:cNvSpPr txBox="1"/>
          <p:nvPr/>
        </p:nvSpPr>
        <p:spPr>
          <a:xfrm>
            <a:off x="1823600" y="187242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 flipH="1" rot="10800000">
            <a:off x="1750650" y="26356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5"/>
          <p:cNvSpPr txBox="1"/>
          <p:nvPr/>
        </p:nvSpPr>
        <p:spPr>
          <a:xfrm>
            <a:off x="1823600" y="263442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5"/>
          <p:cNvCxnSpPr/>
          <p:nvPr/>
        </p:nvCxnSpPr>
        <p:spPr>
          <a:xfrm flipH="1" rot="10800000">
            <a:off x="3772350" y="240387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5"/>
          <p:cNvSpPr txBox="1"/>
          <p:nvPr/>
        </p:nvSpPr>
        <p:spPr>
          <a:xfrm>
            <a:off x="3804800" y="20248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503350" y="1969475"/>
            <a:ext cx="1791000" cy="875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SayHello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(Print Hello {name})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5"/>
          <p:cNvCxnSpPr/>
          <p:nvPr/>
        </p:nvCxnSpPr>
        <p:spPr>
          <a:xfrm flipH="1" rot="10800000">
            <a:off x="4951050" y="24070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5"/>
          <p:cNvSpPr txBox="1"/>
          <p:nvPr/>
        </p:nvSpPr>
        <p:spPr>
          <a:xfrm>
            <a:off x="4834475" y="2024825"/>
            <a:ext cx="7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779950" y="1969475"/>
            <a:ext cx="1469400" cy="87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5"/>
          <p:cNvCxnSpPr/>
          <p:nvPr/>
        </p:nvCxnSpPr>
        <p:spPr>
          <a:xfrm flipH="1" rot="10800000">
            <a:off x="8227650" y="21784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5"/>
          <p:cNvSpPr txBox="1"/>
          <p:nvPr/>
        </p:nvSpPr>
        <p:spPr>
          <a:xfrm>
            <a:off x="7915775" y="17962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5"/>
          <p:cNvCxnSpPr/>
          <p:nvPr/>
        </p:nvCxnSpPr>
        <p:spPr>
          <a:xfrm flipH="1" rot="10800000">
            <a:off x="10249350" y="240387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" name="Google Shape;201;p5"/>
          <p:cNvSpPr txBox="1"/>
          <p:nvPr/>
        </p:nvSpPr>
        <p:spPr>
          <a:xfrm>
            <a:off x="10281800" y="20248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5"/>
          <p:cNvCxnSpPr/>
          <p:nvPr/>
        </p:nvCxnSpPr>
        <p:spPr>
          <a:xfrm flipH="1" rot="10800000">
            <a:off x="8227650" y="25594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" name="Google Shape;203;p5"/>
          <p:cNvSpPr txBox="1"/>
          <p:nvPr/>
        </p:nvSpPr>
        <p:spPr>
          <a:xfrm>
            <a:off x="7915775" y="24820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>
            <p:ph idx="1" type="body"/>
          </p:nvPr>
        </p:nvSpPr>
        <p:spPr>
          <a:xfrm>
            <a:off x="1072650" y="3197225"/>
            <a:ext cx="102810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Main Program (BMI Calculator Program):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205" name="Google Shape;205;p5"/>
          <p:cNvSpPr/>
          <p:nvPr/>
        </p:nvSpPr>
        <p:spPr>
          <a:xfrm>
            <a:off x="800425" y="4099925"/>
            <a:ext cx="1469400" cy="7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3010225" y="4099925"/>
            <a:ext cx="1469400" cy="7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for User’s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5"/>
          <p:cNvCxnSpPr>
            <a:stCxn id="205" idx="3"/>
            <a:endCxn id="206" idx="1"/>
          </p:cNvCxnSpPr>
          <p:nvPr/>
        </p:nvCxnSpPr>
        <p:spPr>
          <a:xfrm>
            <a:off x="2269825" y="4464575"/>
            <a:ext cx="74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5"/>
          <p:cNvSpPr/>
          <p:nvPr/>
        </p:nvSpPr>
        <p:spPr>
          <a:xfrm>
            <a:off x="5122350" y="4026875"/>
            <a:ext cx="1469400" cy="875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SayHello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(Print Hello {name})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5"/>
          <p:cNvCxnSpPr/>
          <p:nvPr/>
        </p:nvCxnSpPr>
        <p:spPr>
          <a:xfrm>
            <a:off x="4489275" y="4501650"/>
            <a:ext cx="6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5"/>
          <p:cNvSpPr txBox="1"/>
          <p:nvPr/>
        </p:nvSpPr>
        <p:spPr>
          <a:xfrm>
            <a:off x="4453475" y="4158425"/>
            <a:ext cx="7101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353625" y="4099925"/>
            <a:ext cx="1469400" cy="7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for User’s Weight &amp; 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5"/>
          <p:cNvCxnSpPr>
            <a:endCxn id="211" idx="1"/>
          </p:cNvCxnSpPr>
          <p:nvPr/>
        </p:nvCxnSpPr>
        <p:spPr>
          <a:xfrm>
            <a:off x="6613225" y="4464575"/>
            <a:ext cx="74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5"/>
          <p:cNvSpPr/>
          <p:nvPr/>
        </p:nvSpPr>
        <p:spPr>
          <a:xfrm>
            <a:off x="9694350" y="4103075"/>
            <a:ext cx="1469400" cy="87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5"/>
          <p:cNvCxnSpPr/>
          <p:nvPr/>
        </p:nvCxnSpPr>
        <p:spPr>
          <a:xfrm>
            <a:off x="8826175" y="4272400"/>
            <a:ext cx="868200" cy="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" name="Google Shape;215;p5"/>
          <p:cNvSpPr txBox="1"/>
          <p:nvPr/>
        </p:nvSpPr>
        <p:spPr>
          <a:xfrm>
            <a:off x="8830175" y="4006025"/>
            <a:ext cx="9054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5"/>
          <p:cNvCxnSpPr/>
          <p:nvPr/>
        </p:nvCxnSpPr>
        <p:spPr>
          <a:xfrm flipH="1" rot="10800000">
            <a:off x="11163750" y="453747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7" name="Google Shape;217;p5"/>
          <p:cNvSpPr txBox="1"/>
          <p:nvPr/>
        </p:nvSpPr>
        <p:spPr>
          <a:xfrm>
            <a:off x="11196200" y="41584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5"/>
          <p:cNvCxnSpPr/>
          <p:nvPr/>
        </p:nvCxnSpPr>
        <p:spPr>
          <a:xfrm>
            <a:off x="8836600" y="4678800"/>
            <a:ext cx="8577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5"/>
          <p:cNvSpPr txBox="1"/>
          <p:nvPr/>
        </p:nvSpPr>
        <p:spPr>
          <a:xfrm>
            <a:off x="8906375" y="4753025"/>
            <a:ext cx="9054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6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27" name="Google Shape;227;p6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28" name="Google Shape;228;p6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9" name="Google Shape;229;p6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30" name="Google Shape;230;p6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6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6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6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4" name="Google Shape;234;p6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" name="Google Shape;236;p6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37" name="Google Shape;237;p6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6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40" name="Google Shape;240;p6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" name="Google Shape;242;p6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43" name="Google Shape;243;p6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6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6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6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6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6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69" name="Google Shape;269;p6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6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6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6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0" name="Google Shape;280;p6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Writing Functions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Let’s Write Some Functions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/>
              <a:t>(</a:t>
            </a:r>
            <a:r>
              <a:rPr b="1" lang="en-US" sz="2800"/>
              <a:t>WITHOUT</a:t>
            </a:r>
            <a:r>
              <a:rPr lang="en-US" sz="2800"/>
              <a:t> Input, </a:t>
            </a:r>
            <a:r>
              <a:rPr b="1" lang="en-US" sz="2800"/>
              <a:t>WITHOUT</a:t>
            </a:r>
            <a:r>
              <a:rPr lang="en-US" sz="2800"/>
              <a:t> Returning Value)</a:t>
            </a:r>
            <a:endParaRPr sz="2800"/>
          </a:p>
        </p:txBody>
      </p:sp>
      <p:sp>
        <p:nvSpPr>
          <p:cNvPr id="286" name="Google Shape;286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/>
          <p:nvPr/>
        </p:nvSpPr>
        <p:spPr>
          <a:xfrm>
            <a:off x="7560750" y="2426675"/>
            <a:ext cx="1469400" cy="875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sayHello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(Print Hello)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29841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72513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 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168" y="2391300"/>
            <a:ext cx="37242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Let’s Write Some Functions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/>
              <a:t>(</a:t>
            </a:r>
            <a:r>
              <a:rPr b="1" lang="en-US" sz="2800"/>
              <a:t>WITH</a:t>
            </a:r>
            <a:r>
              <a:rPr lang="en-US" sz="2800"/>
              <a:t> Input, </a:t>
            </a:r>
            <a:r>
              <a:rPr b="1" lang="en-US" sz="2800"/>
              <a:t>WITHOUT</a:t>
            </a:r>
            <a:r>
              <a:rPr lang="en-US" sz="2800"/>
              <a:t> Returning Value)</a:t>
            </a:r>
            <a:endParaRPr sz="2800"/>
          </a:p>
        </p:txBody>
      </p:sp>
      <p:sp>
        <p:nvSpPr>
          <p:cNvPr id="297" name="Google Shape;297;p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8"/>
          <p:cNvSpPr/>
          <p:nvPr/>
        </p:nvSpPr>
        <p:spPr>
          <a:xfrm>
            <a:off x="7560750" y="2426675"/>
            <a:ext cx="2005200" cy="875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sayHello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(Print Hello {name})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8"/>
          <p:cNvCxnSpPr/>
          <p:nvPr/>
        </p:nvCxnSpPr>
        <p:spPr>
          <a:xfrm flipH="1" rot="10800000">
            <a:off x="7008450" y="28642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" name="Google Shape;301;p8"/>
          <p:cNvSpPr txBox="1"/>
          <p:nvPr/>
        </p:nvSpPr>
        <p:spPr>
          <a:xfrm>
            <a:off x="6891875" y="2482025"/>
            <a:ext cx="7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29841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72513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 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7268" y="2354788"/>
            <a:ext cx="4410075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Let’s Write Some Functions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/>
              <a:t>(</a:t>
            </a:r>
            <a:r>
              <a:rPr b="1" lang="en-US" sz="2800"/>
              <a:t>WITH</a:t>
            </a:r>
            <a:r>
              <a:rPr lang="en-US" sz="2800"/>
              <a:t> Input, </a:t>
            </a:r>
            <a:r>
              <a:rPr b="1" lang="en-US" sz="2800"/>
              <a:t>WITH</a:t>
            </a:r>
            <a:r>
              <a:rPr lang="en-US" sz="2800"/>
              <a:t> Returning Value)</a:t>
            </a:r>
            <a:endParaRPr sz="2800"/>
          </a:p>
        </p:txBody>
      </p:sp>
      <p:sp>
        <p:nvSpPr>
          <p:cNvPr id="310" name="Google Shape;310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9"/>
          <p:cNvSpPr txBox="1"/>
          <p:nvPr/>
        </p:nvSpPr>
        <p:spPr>
          <a:xfrm>
            <a:off x="29841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72513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 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5918" y="2392888"/>
            <a:ext cx="31527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7620625" y="2270725"/>
            <a:ext cx="1469400" cy="8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9"/>
          <p:cNvCxnSpPr/>
          <p:nvPr/>
        </p:nvCxnSpPr>
        <p:spPr>
          <a:xfrm flipH="1" rot="10800000">
            <a:off x="7068325" y="2555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9"/>
          <p:cNvSpPr txBox="1"/>
          <p:nvPr/>
        </p:nvSpPr>
        <p:spPr>
          <a:xfrm>
            <a:off x="7141275" y="217367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9"/>
          <p:cNvCxnSpPr/>
          <p:nvPr/>
        </p:nvCxnSpPr>
        <p:spPr>
          <a:xfrm flipH="1" rot="10800000">
            <a:off x="7068325" y="2936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" name="Google Shape;319;p9"/>
          <p:cNvSpPr txBox="1"/>
          <p:nvPr/>
        </p:nvSpPr>
        <p:spPr>
          <a:xfrm>
            <a:off x="7141275" y="293567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9"/>
          <p:cNvCxnSpPr/>
          <p:nvPr/>
        </p:nvCxnSpPr>
        <p:spPr>
          <a:xfrm flipH="1" rot="10800000">
            <a:off x="9090025" y="270512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9"/>
          <p:cNvSpPr txBox="1"/>
          <p:nvPr/>
        </p:nvSpPr>
        <p:spPr>
          <a:xfrm>
            <a:off x="9122475" y="23260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Let’s Write Some Functions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800"/>
              <a:t>(</a:t>
            </a:r>
            <a:r>
              <a:rPr b="1" lang="en-US" sz="2800"/>
              <a:t>WITH</a:t>
            </a:r>
            <a:r>
              <a:rPr lang="en-US" sz="2800"/>
              <a:t> Input, </a:t>
            </a:r>
            <a:r>
              <a:rPr b="1" lang="en-US" sz="2800"/>
              <a:t>WITH</a:t>
            </a:r>
            <a:r>
              <a:rPr lang="en-US" sz="2800"/>
              <a:t> Returning Value)</a:t>
            </a:r>
            <a:endParaRPr sz="2800"/>
          </a:p>
        </p:txBody>
      </p:sp>
      <p:sp>
        <p:nvSpPr>
          <p:cNvPr id="327" name="Google Shape;327;p1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0"/>
          <p:cNvSpPr txBox="1"/>
          <p:nvPr/>
        </p:nvSpPr>
        <p:spPr>
          <a:xfrm>
            <a:off x="29841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80895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 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8386163" y="2446925"/>
            <a:ext cx="1469400" cy="87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 flipH="1" rot="10800000">
            <a:off x="7833863" y="2655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10"/>
          <p:cNvSpPr txBox="1"/>
          <p:nvPr/>
        </p:nvSpPr>
        <p:spPr>
          <a:xfrm>
            <a:off x="7521988" y="22736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0"/>
          <p:cNvCxnSpPr/>
          <p:nvPr/>
        </p:nvCxnSpPr>
        <p:spPr>
          <a:xfrm flipH="1" rot="10800000">
            <a:off x="9855563" y="288132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10"/>
          <p:cNvSpPr txBox="1"/>
          <p:nvPr/>
        </p:nvSpPr>
        <p:spPr>
          <a:xfrm>
            <a:off x="9888013" y="25022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10"/>
          <p:cNvCxnSpPr/>
          <p:nvPr/>
        </p:nvCxnSpPr>
        <p:spPr>
          <a:xfrm flipH="1" rot="10800000">
            <a:off x="7833863" y="3036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0"/>
          <p:cNvSpPr txBox="1"/>
          <p:nvPr/>
        </p:nvSpPr>
        <p:spPr>
          <a:xfrm>
            <a:off x="7521988" y="29594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225" y="2284550"/>
            <a:ext cx="577215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0"/>
          <p:cNvSpPr txBox="1"/>
          <p:nvPr/>
        </p:nvSpPr>
        <p:spPr>
          <a:xfrm>
            <a:off x="2729975" y="4662200"/>
            <a:ext cx="528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BMI = weight (kg) ÷ height</a:t>
            </a:r>
            <a:r>
              <a:rPr b="0" baseline="3000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build a function?</a:t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1"/>
          <p:cNvSpPr txBox="1"/>
          <p:nvPr/>
        </p:nvSpPr>
        <p:spPr>
          <a:xfrm>
            <a:off x="8089550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 View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8386163" y="2446925"/>
            <a:ext cx="1469400" cy="875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function_name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(xxxxxxxx)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11"/>
          <p:cNvCxnSpPr/>
          <p:nvPr/>
        </p:nvCxnSpPr>
        <p:spPr>
          <a:xfrm flipH="1" rot="10800000">
            <a:off x="7833863" y="2655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0" name="Google Shape;350;p11"/>
          <p:cNvSpPr txBox="1"/>
          <p:nvPr/>
        </p:nvSpPr>
        <p:spPr>
          <a:xfrm>
            <a:off x="7521988" y="22736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11"/>
          <p:cNvCxnSpPr/>
          <p:nvPr/>
        </p:nvCxnSpPr>
        <p:spPr>
          <a:xfrm flipH="1" rot="10800000">
            <a:off x="9855563" y="288132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2" name="Google Shape;352;p11"/>
          <p:cNvSpPr txBox="1"/>
          <p:nvPr/>
        </p:nvSpPr>
        <p:spPr>
          <a:xfrm>
            <a:off x="9888037" y="2502275"/>
            <a:ext cx="176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valueToReturn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1"/>
          <p:cNvCxnSpPr/>
          <p:nvPr/>
        </p:nvCxnSpPr>
        <p:spPr>
          <a:xfrm flipH="1" rot="10800000">
            <a:off x="7833863" y="3036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4" name="Google Shape;354;p11"/>
          <p:cNvSpPr txBox="1"/>
          <p:nvPr/>
        </p:nvSpPr>
        <p:spPr>
          <a:xfrm>
            <a:off x="7521988" y="29594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300425"/>
            <a:ext cx="61817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1"/>
          <p:cNvSpPr txBox="1"/>
          <p:nvPr/>
        </p:nvSpPr>
        <p:spPr>
          <a:xfrm>
            <a:off x="9888037" y="2807075"/>
            <a:ext cx="176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(Optional)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2556113" y="3647175"/>
            <a:ext cx="21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 Code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" name="Google Shape;364;p12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65" name="Google Shape;365;p12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66" name="Google Shape;366;p12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7" name="Google Shape;367;p12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68" name="Google Shape;368;p12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12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12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12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72" name="Google Shape;372;p12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2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4" name="Google Shape;374;p12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75" name="Google Shape;375;p12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2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7" name="Google Shape;377;p12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78" name="Google Shape;378;p12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2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2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81" name="Google Shape;381;p12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2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2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4" name="Google Shape;384;p12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85" name="Google Shape;385;p12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2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2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2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2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2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1" name="Google Shape;391;p12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92" name="Google Shape;392;p12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2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2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2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2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2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2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12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12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2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2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2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2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2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6" name="Google Shape;406;p12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407" name="Google Shape;407;p12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2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2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2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2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2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2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2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2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2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2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8" name="Google Shape;418;p12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Using Functions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Let’s Use Some Functions</a:t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74" y="1462225"/>
            <a:ext cx="5437800" cy="39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3"/>
          <p:cNvSpPr txBox="1"/>
          <p:nvPr>
            <p:ph idx="1" type="body"/>
          </p:nvPr>
        </p:nvSpPr>
        <p:spPr>
          <a:xfrm>
            <a:off x="5797050" y="1444625"/>
            <a:ext cx="2852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Functions: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427" name="Google Shape;427;p13"/>
          <p:cNvSpPr/>
          <p:nvPr/>
        </p:nvSpPr>
        <p:spPr>
          <a:xfrm>
            <a:off x="6722550" y="1969475"/>
            <a:ext cx="1971900" cy="875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SayHello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(Print “Hello” {name})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13"/>
          <p:cNvCxnSpPr/>
          <p:nvPr/>
        </p:nvCxnSpPr>
        <p:spPr>
          <a:xfrm flipH="1" rot="10800000">
            <a:off x="6170250" y="24070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9" name="Google Shape;429;p13"/>
          <p:cNvSpPr txBox="1"/>
          <p:nvPr/>
        </p:nvSpPr>
        <p:spPr>
          <a:xfrm>
            <a:off x="6053675" y="2024825"/>
            <a:ext cx="71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9999150" y="1969475"/>
            <a:ext cx="1469400" cy="87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13"/>
          <p:cNvCxnSpPr/>
          <p:nvPr/>
        </p:nvCxnSpPr>
        <p:spPr>
          <a:xfrm flipH="1" rot="10800000">
            <a:off x="9446850" y="21784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2" name="Google Shape;432;p13"/>
          <p:cNvSpPr txBox="1"/>
          <p:nvPr/>
        </p:nvSpPr>
        <p:spPr>
          <a:xfrm>
            <a:off x="9134975" y="17962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13"/>
          <p:cNvCxnSpPr/>
          <p:nvPr/>
        </p:nvCxnSpPr>
        <p:spPr>
          <a:xfrm flipH="1" rot="10800000">
            <a:off x="11468550" y="240387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13"/>
          <p:cNvSpPr txBox="1"/>
          <p:nvPr/>
        </p:nvSpPr>
        <p:spPr>
          <a:xfrm>
            <a:off x="11501000" y="20248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13"/>
          <p:cNvCxnSpPr/>
          <p:nvPr/>
        </p:nvCxnSpPr>
        <p:spPr>
          <a:xfrm flipH="1" rot="10800000">
            <a:off x="9446850" y="255945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13"/>
          <p:cNvSpPr txBox="1"/>
          <p:nvPr/>
        </p:nvSpPr>
        <p:spPr>
          <a:xfrm>
            <a:off x="9134975" y="24820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3"/>
          <p:cNvSpPr txBox="1"/>
          <p:nvPr>
            <p:ph idx="1" type="body"/>
          </p:nvPr>
        </p:nvSpPr>
        <p:spPr>
          <a:xfrm>
            <a:off x="5797050" y="3121025"/>
            <a:ext cx="28521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Main Program: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438" name="Google Shape;438;p13"/>
          <p:cNvSpPr/>
          <p:nvPr/>
        </p:nvSpPr>
        <p:spPr>
          <a:xfrm>
            <a:off x="5984125" y="3718925"/>
            <a:ext cx="857700" cy="7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13"/>
          <p:cNvCxnSpPr>
            <a:stCxn id="438" idx="3"/>
          </p:cNvCxnSpPr>
          <p:nvPr/>
        </p:nvCxnSpPr>
        <p:spPr>
          <a:xfrm>
            <a:off x="6841825" y="4083575"/>
            <a:ext cx="2547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0" name="Google Shape;440;p13"/>
          <p:cNvSpPr/>
          <p:nvPr/>
        </p:nvSpPr>
        <p:spPr>
          <a:xfrm>
            <a:off x="7789350" y="3645875"/>
            <a:ext cx="1121400" cy="875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SayHello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13"/>
          <p:cNvCxnSpPr/>
          <p:nvPr/>
        </p:nvCxnSpPr>
        <p:spPr>
          <a:xfrm>
            <a:off x="7156275" y="4120650"/>
            <a:ext cx="60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2" name="Google Shape;442;p13"/>
          <p:cNvSpPr txBox="1"/>
          <p:nvPr/>
        </p:nvSpPr>
        <p:spPr>
          <a:xfrm>
            <a:off x="7120475" y="3777425"/>
            <a:ext cx="7101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13"/>
          <p:cNvCxnSpPr/>
          <p:nvPr/>
        </p:nvCxnSpPr>
        <p:spPr>
          <a:xfrm flipH="1" rot="10800000">
            <a:off x="8877750" y="408027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4" name="Google Shape;444;p13"/>
          <p:cNvSpPr txBox="1"/>
          <p:nvPr/>
        </p:nvSpPr>
        <p:spPr>
          <a:xfrm>
            <a:off x="8910200" y="362502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Hello {name}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10532550" y="3722075"/>
            <a:ext cx="968400" cy="87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Calculate 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3"/>
          <p:cNvCxnSpPr/>
          <p:nvPr/>
        </p:nvCxnSpPr>
        <p:spPr>
          <a:xfrm>
            <a:off x="9664375" y="3891400"/>
            <a:ext cx="868200" cy="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7" name="Google Shape;447;p13"/>
          <p:cNvSpPr txBox="1"/>
          <p:nvPr/>
        </p:nvSpPr>
        <p:spPr>
          <a:xfrm>
            <a:off x="9668375" y="3625025"/>
            <a:ext cx="9054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11577200" y="4082225"/>
            <a:ext cx="9054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13"/>
          <p:cNvCxnSpPr/>
          <p:nvPr/>
        </p:nvCxnSpPr>
        <p:spPr>
          <a:xfrm>
            <a:off x="9674800" y="4297800"/>
            <a:ext cx="857700" cy="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0" name="Google Shape;450;p13"/>
          <p:cNvSpPr txBox="1"/>
          <p:nvPr/>
        </p:nvSpPr>
        <p:spPr>
          <a:xfrm>
            <a:off x="9744575" y="4372025"/>
            <a:ext cx="9054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10659850" y="4826250"/>
            <a:ext cx="857700" cy="72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13"/>
          <p:cNvCxnSpPr>
            <a:endCxn id="451" idx="3"/>
          </p:cNvCxnSpPr>
          <p:nvPr/>
        </p:nvCxnSpPr>
        <p:spPr>
          <a:xfrm flipH="1" rot="-5400000">
            <a:off x="10993750" y="4667100"/>
            <a:ext cx="1031100" cy="16500"/>
          </a:xfrm>
          <a:prstGeom prst="curvedConnector4">
            <a:avLst>
              <a:gd fmla="val 9912" name="adj1"/>
              <a:gd fmla="val 154318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3" name="Google Shape;453;p13"/>
          <p:cNvSpPr/>
          <p:nvPr/>
        </p:nvSpPr>
        <p:spPr>
          <a:xfrm>
            <a:off x="444175" y="1403525"/>
            <a:ext cx="4471200" cy="185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5074800" y="2125775"/>
            <a:ext cx="857700" cy="66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500175" y="3438775"/>
            <a:ext cx="5216400" cy="2116800"/>
          </a:xfrm>
          <a:prstGeom prst="rect">
            <a:avLst/>
          </a:prstGeom>
          <a:noFill/>
          <a:ln cap="flat" cmpd="sng" w="381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3"/>
          <p:cNvSpPr/>
          <p:nvPr/>
        </p:nvSpPr>
        <p:spPr>
          <a:xfrm rot="-2522518">
            <a:off x="5797328" y="4643624"/>
            <a:ext cx="793370" cy="54612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9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3" name="Google Shape;463;p1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464" name="Google Shape;464;p1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465" name="Google Shape;465;p1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6" name="Google Shape;466;p1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467" name="Google Shape;467;p1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1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1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71" name="Google Shape;471;p1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" name="Google Shape;473;p1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474" name="Google Shape;474;p1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6" name="Google Shape;476;p1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477" name="Google Shape;477;p1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" name="Google Shape;479;p1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480" name="Google Shape;480;p1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3" name="Google Shape;483;p1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484" name="Google Shape;484;p1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1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0" name="Google Shape;490;p1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491" name="Google Shape;491;p1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5" name="Google Shape;505;p1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06" name="Google Shape;506;p1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1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7" name="Google Shape;517;p1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Why using functions?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Why building function?</a:t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3380" y="1690825"/>
            <a:ext cx="6583870" cy="355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Why building function?</a:t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2" name="Google Shape;5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2555" y="1551450"/>
            <a:ext cx="7341204" cy="355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7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0" name="Google Shape;540;p1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541" name="Google Shape;541;p1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542" name="Google Shape;542;p1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3" name="Google Shape;543;p1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544" name="Google Shape;544;p1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" name="Google Shape;545;p1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" name="Google Shape;546;p1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7" name="Google Shape;547;p1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48" name="Google Shape;548;p1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0" name="Google Shape;550;p1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551" name="Google Shape;551;p1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1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" name="Google Shape;553;p1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554" name="Google Shape;554;p1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1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6" name="Google Shape;556;p1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557" name="Google Shape;557;p1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1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0" name="Google Shape;560;p1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561" name="Google Shape;561;p1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1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1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1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1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7" name="Google Shape;567;p1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568" name="Google Shape;568;p1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1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1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1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1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1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1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1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1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1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1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2" name="Google Shape;582;p1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583" name="Google Shape;583;p1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1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1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1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1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1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1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4" name="Google Shape;594;p1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Best Practices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function_name</a:t>
            </a:r>
            <a:endParaRPr/>
          </a:p>
        </p:txBody>
      </p:sp>
      <p:sp>
        <p:nvSpPr>
          <p:cNvPr id="600" name="Google Shape;600;p1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1" name="Google Shape;6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8"/>
          <p:cNvSpPr txBox="1"/>
          <p:nvPr>
            <p:ph idx="1" type="body"/>
          </p:nvPr>
        </p:nvSpPr>
        <p:spPr>
          <a:xfrm>
            <a:off x="2636375" y="1721950"/>
            <a:ext cx="8212200" cy="3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It should be a description of what the function do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e.g “convertToPound”, “CalculateTaxiFare”, “PrintHelloWorld” etc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it should be meaningful and human-readable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Bad Examples: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calculate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convert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printReport</a:t>
            </a:r>
            <a:endParaRPr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input/parameter/arguments</a:t>
            </a:r>
            <a:endParaRPr/>
          </a:p>
        </p:txBody>
      </p:sp>
      <p:sp>
        <p:nvSpPr>
          <p:cNvPr id="608" name="Google Shape;608;p1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9"/>
          <p:cNvSpPr txBox="1"/>
          <p:nvPr>
            <p:ph idx="1" type="body"/>
          </p:nvPr>
        </p:nvSpPr>
        <p:spPr>
          <a:xfrm>
            <a:off x="2636375" y="1721950"/>
            <a:ext cx="8212200" cy="3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Can have virtually unlimited parameters (read </a:t>
            </a:r>
            <a:r>
              <a:rPr lang="en-US" sz="2100" u="sng">
                <a:solidFill>
                  <a:schemeClr val="hlink"/>
                </a:solidFill>
                <a:hlinkClick r:id="rId4"/>
              </a:rPr>
              <a:t>this</a:t>
            </a:r>
            <a:r>
              <a:rPr lang="en-US" sz="2100"/>
              <a:t> if you want to know more.)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Again, it should be human-readable and meaningful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e.g. weightInKg, name, age, etc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Bad Examples: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Input1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Weight1, weight2, weight3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Return Value</a:t>
            </a:r>
            <a:endParaRPr/>
          </a:p>
        </p:txBody>
      </p:sp>
      <p:sp>
        <p:nvSpPr>
          <p:cNvPr id="616" name="Google Shape;616;p2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0"/>
          <p:cNvSpPr txBox="1"/>
          <p:nvPr>
            <p:ph idx="1" type="body"/>
          </p:nvPr>
        </p:nvSpPr>
        <p:spPr>
          <a:xfrm>
            <a:off x="2636375" y="1721950"/>
            <a:ext cx="8212200" cy="17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Optional for JavaScript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If your function is named as convertToPounds, the return value should be the resulting number in pounds</a:t>
            </a:r>
            <a:endParaRPr sz="2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5" name="Google Shape;625;p2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626" name="Google Shape;626;p2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627" name="Google Shape;627;p2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8" name="Google Shape;628;p2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629" name="Google Shape;629;p2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2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2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2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33" name="Google Shape;633;p2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5" name="Google Shape;635;p2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636" name="Google Shape;636;p2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8" name="Google Shape;638;p2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639" name="Google Shape;639;p2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1" name="Google Shape;641;p2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642" name="Google Shape;642;p2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5" name="Google Shape;645;p2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2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2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2" name="Google Shape;652;p2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653" name="Google Shape;653;p2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2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2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2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2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2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2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2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2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2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2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2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7" name="Google Shape;667;p2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668" name="Google Shape;668;p2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2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2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Variable Scopes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Local Scope</a:t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6" name="Google Shape;6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22"/>
          <p:cNvSpPr txBox="1"/>
          <p:nvPr>
            <p:ph idx="1" type="body"/>
          </p:nvPr>
        </p:nvSpPr>
        <p:spPr>
          <a:xfrm>
            <a:off x="731375" y="1569550"/>
            <a:ext cx="52470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What is created in the function could not be accessed outside of the function</a:t>
            </a:r>
            <a:endParaRPr sz="2100"/>
          </a:p>
        </p:txBody>
      </p:sp>
      <p:pic>
        <p:nvPicPr>
          <p:cNvPr id="688" name="Google Shape;6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0775" y="1843225"/>
            <a:ext cx="525780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Global Scope</a:t>
            </a:r>
            <a:endParaRPr/>
          </a:p>
        </p:txBody>
      </p:sp>
      <p:sp>
        <p:nvSpPr>
          <p:cNvPr id="694" name="Google Shape;694;p2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23"/>
          <p:cNvSpPr txBox="1"/>
          <p:nvPr>
            <p:ph idx="1" type="body"/>
          </p:nvPr>
        </p:nvSpPr>
        <p:spPr>
          <a:xfrm>
            <a:off x="731375" y="1569550"/>
            <a:ext cx="52470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What is created outside of the function </a:t>
            </a:r>
            <a:r>
              <a:rPr b="1" lang="en-US" sz="2100"/>
              <a:t>could be accessed</a:t>
            </a:r>
            <a:r>
              <a:rPr lang="en-US" sz="2100"/>
              <a:t> inside of the function</a:t>
            </a:r>
            <a:endParaRPr sz="2100"/>
          </a:p>
        </p:txBody>
      </p:sp>
      <p:pic>
        <p:nvPicPr>
          <p:cNvPr id="697" name="Google Shape;6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0775" y="1843225"/>
            <a:ext cx="562927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4" name="Google Shape;704;p2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705" name="Google Shape;705;p2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706" name="Google Shape;706;p2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07" name="Google Shape;707;p2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708" name="Google Shape;708;p2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9" name="Google Shape;709;p2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0" name="Google Shape;710;p2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1" name="Google Shape;711;p2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12" name="Google Shape;712;p2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4" name="Google Shape;714;p2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715" name="Google Shape;715;p2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7" name="Google Shape;717;p2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718" name="Google Shape;718;p2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0" name="Google Shape;720;p2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4" name="Google Shape;724;p2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725" name="Google Shape;725;p2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1" name="Google Shape;731;p2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732" name="Google Shape;732;p2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2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2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2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747" name="Google Shape;747;p2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2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2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2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2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2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2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2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2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2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2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8" name="Google Shape;758;p2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Pass-by-Value &amp; Pass-by-Reference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Pass-by-Value vs Pass-by-Reference</a:t>
            </a:r>
            <a:endParaRPr/>
          </a:p>
        </p:txBody>
      </p:sp>
      <p:sp>
        <p:nvSpPr>
          <p:cNvPr id="764" name="Google Shape;764;p2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5"/>
          <p:cNvSpPr txBox="1"/>
          <p:nvPr>
            <p:ph idx="1" type="body"/>
          </p:nvPr>
        </p:nvSpPr>
        <p:spPr>
          <a:xfrm>
            <a:off x="1950575" y="1874350"/>
            <a:ext cx="8116200" cy="3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Pass-by-Value = Copying the value to the function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No matter what happened in the functions, no impact to the original variable at all</a:t>
            </a:r>
            <a:endParaRPr sz="21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Pass-by-Reference = Passing the actual object to the function</a:t>
            </a:r>
            <a:endParaRPr sz="2100"/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making changes in the function to the variable, the original variable will get changed as well</a:t>
            </a:r>
            <a:endParaRPr sz="2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Pass-by-Value</a:t>
            </a:r>
            <a:endParaRPr/>
          </a:p>
        </p:txBody>
      </p:sp>
      <p:sp>
        <p:nvSpPr>
          <p:cNvPr id="771" name="Google Shape;771;p2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2" name="Google Shape;7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26"/>
          <p:cNvSpPr txBox="1"/>
          <p:nvPr>
            <p:ph idx="1" type="body"/>
          </p:nvPr>
        </p:nvSpPr>
        <p:spPr>
          <a:xfrm>
            <a:off x="731375" y="1569550"/>
            <a:ext cx="5247000" cy="25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In Javascript, if you pass a primitive type(string, number, boolean, undefined, null) to a function, it makes a new copy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i.e. the original variable is untouched</a:t>
            </a:r>
            <a:endParaRPr sz="2100"/>
          </a:p>
        </p:txBody>
      </p:sp>
      <p:pic>
        <p:nvPicPr>
          <p:cNvPr id="774" name="Google Shape;77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0775" y="1690825"/>
            <a:ext cx="575310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Pass-by-Reference</a:t>
            </a:r>
            <a:endParaRPr/>
          </a:p>
        </p:txBody>
      </p:sp>
      <p:sp>
        <p:nvSpPr>
          <p:cNvPr id="780" name="Google Shape;780;p2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1" name="Google Shape;7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7"/>
          <p:cNvSpPr txBox="1"/>
          <p:nvPr>
            <p:ph idx="1" type="body"/>
          </p:nvPr>
        </p:nvSpPr>
        <p:spPr>
          <a:xfrm>
            <a:off x="731375" y="1569550"/>
            <a:ext cx="5247000" cy="1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In Javascript, if you pass an object or array to a function, it would be pass-by-reference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i.e. the original variable would be changed</a:t>
            </a:r>
            <a:endParaRPr sz="2100"/>
          </a:p>
        </p:txBody>
      </p:sp>
      <p:pic>
        <p:nvPicPr>
          <p:cNvPr id="783" name="Google Shape;7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0775" y="1690825"/>
            <a:ext cx="5362575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