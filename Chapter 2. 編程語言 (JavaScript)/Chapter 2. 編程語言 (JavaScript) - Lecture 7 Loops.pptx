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NeZFYvTaATDcCIDejTg+B2pv3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5c3d01db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5c3d01db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5c3d01db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5c3d01db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5c3d01db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5c3d01db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5c3d01db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5c3d01db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5c3d01db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5c3d01db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5c3d01db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5c3d01db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5c3d01db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5c3d01db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5c3d01db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5c3d01db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5c3d01db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5c3d01db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5c3d01db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5c3d01db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5c3d01db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5c3d01db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5c3d01db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5c3d01db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5c3d01db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5c3d01db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5c3d01db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5c3d01db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5c3d01db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5c3d01db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5c3d01db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5c3d01db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5c3d01db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5c3d01db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5c3d01db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5c3d01db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5c3d01db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5c3d01db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5c3d01db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5c3d01db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5c3d01db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5c3d01db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5c3d01db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5c3d01db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5c3d01db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5c3d01db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5c3d01db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5c3d01db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5c3d01db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5c3d01db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5c3d01db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5c3d01db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5c3d01db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5c3d01db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5c3d01db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5c3d01db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5c3d01db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5c3d01db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5c3d01db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5c3d01db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5c3d01db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5c3d01db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5c3d01db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5c3d01db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5c3d01db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5c3d01db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5c3d01d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5c3d01db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5c3d01db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</a:t>
            </a:r>
            <a:r>
              <a:rPr b="1" lang="en-US" sz="4400">
                <a:solidFill>
                  <a:srgbClr val="F0EFEE"/>
                </a:solidFill>
              </a:rPr>
              <a:t>7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24700" y="3774200"/>
            <a:ext cx="42198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F0EFEE"/>
                </a:solidFill>
              </a:rPr>
              <a:t>Loops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280476" y="1626765"/>
            <a:ext cx="40733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80476" y="3102015"/>
            <a:ext cx="4073324" cy="2426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Loops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For Loop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For...of Loop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For...in Loop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While Loop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While vs For Loops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Loops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1072662" y="365125"/>
            <a:ext cx="102811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are Loops?</a:t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1072662" y="1825625"/>
            <a:ext cx="10281138" cy="3486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One of the main purpose of computer is to help doing repetitive tasks for human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Loops = repeating a piece of code multiple times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2 types of loops (almost universal in all programming languages)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For Loop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While Loop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 rot="10800000">
            <a:off x="0" y="5555582"/>
            <a:ext cx="12192000" cy="1325565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50" cy="22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When do we need Loops?</a:t>
            </a:r>
            <a:endParaRPr/>
          </a:p>
        </p:txBody>
      </p:sp>
      <p:sp>
        <p:nvSpPr>
          <p:cNvPr id="185" name="Google Shape;185;p5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Loop through a list of values/objects (e.g. array)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Repeat a task for multiple times (repeat a task for 10 times)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Do something until a certain conditions is met (until time is up, until user finished input, until server side has send me the results etc)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Reduce the number of times we need to copy pasting code</a:t>
            </a:r>
            <a:endParaRPr sz="2400"/>
          </a:p>
        </p:txBody>
      </p:sp>
      <p:sp>
        <p:nvSpPr>
          <p:cNvPr id="186" name="Google Shape;186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93" name="Google Shape;193;p6"/>
          <p:cNvSpPr txBox="1"/>
          <p:nvPr>
            <p:ph idx="1" type="body"/>
          </p:nvPr>
        </p:nvSpPr>
        <p:spPr>
          <a:xfrm>
            <a:off x="463056" y="1825625"/>
            <a:ext cx="52452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FFFFFF"/>
                </a:solidFill>
                <a:highlight>
                  <a:srgbClr val="93C47D"/>
                </a:highlight>
                <a:latin typeface="Consolas"/>
                <a:ea typeface="Consolas"/>
                <a:cs typeface="Consolas"/>
                <a:sym typeface="Consolas"/>
              </a:rPr>
              <a:t>Without Loop</a:t>
            </a:r>
            <a:endParaRPr sz="2400">
              <a:solidFill>
                <a:srgbClr val="FFFFFF"/>
              </a:solidFill>
              <a:highlight>
                <a:srgbClr val="93C47D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>
            <p:ph idx="1" type="body"/>
          </p:nvPr>
        </p:nvSpPr>
        <p:spPr>
          <a:xfrm>
            <a:off x="6330456" y="1825625"/>
            <a:ext cx="52452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FFFFFF"/>
                </a:solidFill>
                <a:highlight>
                  <a:srgbClr val="EA9999"/>
                </a:highlight>
                <a:latin typeface="Consolas"/>
                <a:ea typeface="Consolas"/>
                <a:cs typeface="Consolas"/>
                <a:sym typeface="Consolas"/>
              </a:rPr>
              <a:t>With Loop</a:t>
            </a:r>
            <a:endParaRPr sz="2400">
              <a:highlight>
                <a:srgbClr val="EA99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88" y="2538413"/>
            <a:ext cx="48482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3188" y="2833688"/>
            <a:ext cx="492442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05" name="Google Shape;205;p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06" name="Google Shape;206;p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" name="Google Shape;207;p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08" name="Google Shape;208;p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2" name="Google Shape;212;p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4" name="Google Shape;214;p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15" name="Google Shape;215;p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p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21" name="Google Shape;221;p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25" name="Google Shape;225;p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32" name="Google Shape;232;p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47" name="Google Shape;247;p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For Loop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Types of For Loops</a:t>
            </a:r>
            <a:endParaRPr/>
          </a:p>
        </p:txBody>
      </p:sp>
      <p:sp>
        <p:nvSpPr>
          <p:cNvPr id="264" name="Google Shape;264;p8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basic concept: for n times, execute this piece of code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There are three types of for loops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for - loop through a block of code for certain times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for/in - loop through the properties of an object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for/of - loop through the values of an array/list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"/>
          <p:cNvSpPr txBox="1"/>
          <p:nvPr/>
        </p:nvSpPr>
        <p:spPr>
          <a:xfrm>
            <a:off x="1624650" y="1326400"/>
            <a:ext cx="8346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0" i="0" lang="en-US" sz="16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initialization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-US" sz="1600" u="none" cap="none" strike="noStrike">
                <a:solidFill>
                  <a:schemeClr val="dk1"/>
                </a:solidFill>
                <a:highlight>
                  <a:schemeClr val="accent3"/>
                </a:highlight>
                <a:latin typeface="Consolas"/>
                <a:ea typeface="Consolas"/>
                <a:cs typeface="Consolas"/>
                <a:sym typeface="Consolas"/>
              </a:rPr>
              <a:t>continuing condition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-US" sz="160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after iteration statement</a:t>
            </a: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highlight>
                  <a:srgbClr val="ACCADE"/>
                </a:highlight>
                <a:latin typeface="Consolas"/>
                <a:ea typeface="Consolas"/>
                <a:cs typeface="Consolas"/>
                <a:sym typeface="Consolas"/>
              </a:rPr>
              <a:t>// Loop Body - do something</a:t>
            </a:r>
            <a:endParaRPr b="0" i="0" sz="1600" u="none" cap="none" strike="noStrike">
              <a:solidFill>
                <a:schemeClr val="dk1"/>
              </a:solidFill>
              <a:highlight>
                <a:srgbClr val="ACCAD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For</a:t>
            </a:r>
            <a:endParaRPr/>
          </a:p>
        </p:txBody>
      </p:sp>
      <p:sp>
        <p:nvSpPr>
          <p:cNvPr id="275" name="Google Shape;275;p9"/>
          <p:cNvSpPr txBox="1"/>
          <p:nvPr>
            <p:ph idx="1" type="body"/>
          </p:nvPr>
        </p:nvSpPr>
        <p:spPr>
          <a:xfrm>
            <a:off x="10120050" y="1451488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enter a loop</a:t>
            </a:r>
            <a:endParaRPr sz="2200"/>
          </a:p>
        </p:txBody>
      </p:sp>
      <p:cxnSp>
        <p:nvCxnSpPr>
          <p:cNvPr id="276" name="Google Shape;276;p9"/>
          <p:cNvCxnSpPr/>
          <p:nvPr/>
        </p:nvCxnSpPr>
        <p:spPr>
          <a:xfrm>
            <a:off x="10120050" y="1326400"/>
            <a:ext cx="0" cy="949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9"/>
          <p:cNvSpPr txBox="1"/>
          <p:nvPr>
            <p:ph idx="1" type="body"/>
          </p:nvPr>
        </p:nvSpPr>
        <p:spPr>
          <a:xfrm>
            <a:off x="8666400" y="3563913"/>
            <a:ext cx="2907300" cy="699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check condition</a:t>
            </a:r>
            <a:endParaRPr/>
          </a:p>
        </p:txBody>
      </p:sp>
      <p:cxnSp>
        <p:nvCxnSpPr>
          <p:cNvPr id="278" name="Google Shape;278;p9"/>
          <p:cNvCxnSpPr/>
          <p:nvPr/>
        </p:nvCxnSpPr>
        <p:spPr>
          <a:xfrm>
            <a:off x="10525050" y="4288863"/>
            <a:ext cx="0" cy="243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9"/>
          <p:cNvSpPr txBox="1"/>
          <p:nvPr>
            <p:ph idx="1" type="body"/>
          </p:nvPr>
        </p:nvSpPr>
        <p:spPr>
          <a:xfrm>
            <a:off x="7385063" y="5253125"/>
            <a:ext cx="2503500" cy="699000"/>
          </a:xfrm>
          <a:prstGeom prst="rect">
            <a:avLst/>
          </a:prstGeom>
          <a:solidFill>
            <a:srgbClr val="ACCAD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do something</a:t>
            </a:r>
            <a:endParaRPr/>
          </a:p>
        </p:txBody>
      </p:sp>
      <p:cxnSp>
        <p:nvCxnSpPr>
          <p:cNvPr id="280" name="Google Shape;280;p9"/>
          <p:cNvCxnSpPr/>
          <p:nvPr/>
        </p:nvCxnSpPr>
        <p:spPr>
          <a:xfrm>
            <a:off x="5184000" y="3903950"/>
            <a:ext cx="3478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" name="Google Shape;281;p9"/>
          <p:cNvCxnSpPr/>
          <p:nvPr/>
        </p:nvCxnSpPr>
        <p:spPr>
          <a:xfrm>
            <a:off x="5187363" y="3903950"/>
            <a:ext cx="0" cy="1366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9"/>
          <p:cNvSpPr txBox="1"/>
          <p:nvPr>
            <p:ph idx="1" type="body"/>
          </p:nvPr>
        </p:nvSpPr>
        <p:spPr>
          <a:xfrm>
            <a:off x="10525050" y="5029088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false</a:t>
            </a:r>
            <a:endParaRPr/>
          </a:p>
        </p:txBody>
      </p:sp>
      <p:sp>
        <p:nvSpPr>
          <p:cNvPr id="283" name="Google Shape;283;p9"/>
          <p:cNvSpPr txBox="1"/>
          <p:nvPr>
            <p:ph idx="1" type="body"/>
          </p:nvPr>
        </p:nvSpPr>
        <p:spPr>
          <a:xfrm>
            <a:off x="8697575" y="4403775"/>
            <a:ext cx="862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true</a:t>
            </a:r>
            <a:endParaRPr/>
          </a:p>
        </p:txBody>
      </p:sp>
      <p:cxnSp>
        <p:nvCxnSpPr>
          <p:cNvPr id="284" name="Google Shape;284;p9"/>
          <p:cNvCxnSpPr/>
          <p:nvPr/>
        </p:nvCxnSpPr>
        <p:spPr>
          <a:xfrm>
            <a:off x="9550688" y="4253450"/>
            <a:ext cx="0" cy="96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" name="Google Shape;285;p9"/>
          <p:cNvSpPr txBox="1"/>
          <p:nvPr>
            <p:ph idx="1" type="body"/>
          </p:nvPr>
        </p:nvSpPr>
        <p:spPr>
          <a:xfrm>
            <a:off x="8959638" y="2289175"/>
            <a:ext cx="2320800" cy="699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initialization</a:t>
            </a:r>
            <a:endParaRPr/>
          </a:p>
        </p:txBody>
      </p:sp>
      <p:cxnSp>
        <p:nvCxnSpPr>
          <p:cNvPr id="286" name="Google Shape;286;p9"/>
          <p:cNvCxnSpPr/>
          <p:nvPr/>
        </p:nvCxnSpPr>
        <p:spPr>
          <a:xfrm flipH="1">
            <a:off x="10120200" y="3010500"/>
            <a:ext cx="4800" cy="55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9"/>
          <p:cNvCxnSpPr/>
          <p:nvPr/>
        </p:nvCxnSpPr>
        <p:spPr>
          <a:xfrm rot="10800000">
            <a:off x="6588863" y="5602625"/>
            <a:ext cx="796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9"/>
          <p:cNvSpPr txBox="1"/>
          <p:nvPr>
            <p:ph idx="1" type="body"/>
          </p:nvPr>
        </p:nvSpPr>
        <p:spPr>
          <a:xfrm>
            <a:off x="3804425" y="5253125"/>
            <a:ext cx="2784600" cy="699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After iteration statement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/>
        </p:nvSpPr>
        <p:spPr>
          <a:xfrm>
            <a:off x="1624650" y="1326400"/>
            <a:ext cx="7591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i = 0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3"/>
                </a:highlight>
                <a:latin typeface="Consolas"/>
                <a:ea typeface="Consolas"/>
                <a:cs typeface="Consolas"/>
                <a:sym typeface="Consolas"/>
              </a:rPr>
              <a:t>i &lt; 5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i++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highlight>
                  <a:srgbClr val="ACCADE"/>
                </a:highlight>
                <a:latin typeface="Consolas"/>
                <a:ea typeface="Consolas"/>
                <a:cs typeface="Consolas"/>
                <a:sym typeface="Consolas"/>
              </a:rPr>
              <a:t>console.log("value of i: " + i);</a:t>
            </a:r>
            <a:endParaRPr b="0" i="0" sz="2100" u="none" cap="none" strike="noStrike">
              <a:solidFill>
                <a:schemeClr val="dk1"/>
              </a:solidFill>
              <a:highlight>
                <a:srgbClr val="ACCAD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" name="Google Shape;294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0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For Loop Example</a:t>
            </a:r>
            <a:endParaRPr/>
          </a:p>
        </p:txBody>
      </p:sp>
      <p:sp>
        <p:nvSpPr>
          <p:cNvPr id="297" name="Google Shape;297;p10"/>
          <p:cNvSpPr txBox="1"/>
          <p:nvPr>
            <p:ph idx="1" type="body"/>
          </p:nvPr>
        </p:nvSpPr>
        <p:spPr>
          <a:xfrm>
            <a:off x="10120050" y="1451488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enter a loop</a:t>
            </a:r>
            <a:endParaRPr sz="2200"/>
          </a:p>
        </p:txBody>
      </p:sp>
      <p:cxnSp>
        <p:nvCxnSpPr>
          <p:cNvPr id="298" name="Google Shape;298;p10"/>
          <p:cNvCxnSpPr/>
          <p:nvPr/>
        </p:nvCxnSpPr>
        <p:spPr>
          <a:xfrm>
            <a:off x="10120050" y="1326400"/>
            <a:ext cx="0" cy="949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10"/>
          <p:cNvSpPr txBox="1"/>
          <p:nvPr>
            <p:ph idx="1" type="body"/>
          </p:nvPr>
        </p:nvSpPr>
        <p:spPr>
          <a:xfrm>
            <a:off x="8666400" y="3563913"/>
            <a:ext cx="2907300" cy="699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 &lt; 5</a:t>
            </a:r>
            <a:endParaRPr/>
          </a:p>
        </p:txBody>
      </p:sp>
      <p:cxnSp>
        <p:nvCxnSpPr>
          <p:cNvPr id="300" name="Google Shape;300;p10"/>
          <p:cNvCxnSpPr/>
          <p:nvPr/>
        </p:nvCxnSpPr>
        <p:spPr>
          <a:xfrm>
            <a:off x="10525050" y="4288863"/>
            <a:ext cx="0" cy="243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" name="Google Shape;301;p10"/>
          <p:cNvSpPr txBox="1"/>
          <p:nvPr>
            <p:ph idx="1" type="body"/>
          </p:nvPr>
        </p:nvSpPr>
        <p:spPr>
          <a:xfrm>
            <a:off x="7385063" y="5253125"/>
            <a:ext cx="2503500" cy="699000"/>
          </a:xfrm>
          <a:prstGeom prst="rect">
            <a:avLst/>
          </a:prstGeom>
          <a:solidFill>
            <a:srgbClr val="ACCAD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console.log()</a:t>
            </a:r>
            <a:endParaRPr/>
          </a:p>
        </p:txBody>
      </p:sp>
      <p:cxnSp>
        <p:nvCxnSpPr>
          <p:cNvPr id="302" name="Google Shape;302;p10"/>
          <p:cNvCxnSpPr/>
          <p:nvPr/>
        </p:nvCxnSpPr>
        <p:spPr>
          <a:xfrm>
            <a:off x="5184000" y="3903950"/>
            <a:ext cx="3478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p10"/>
          <p:cNvCxnSpPr/>
          <p:nvPr/>
        </p:nvCxnSpPr>
        <p:spPr>
          <a:xfrm>
            <a:off x="5187363" y="3903950"/>
            <a:ext cx="0" cy="1366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0"/>
          <p:cNvSpPr txBox="1"/>
          <p:nvPr>
            <p:ph idx="1" type="body"/>
          </p:nvPr>
        </p:nvSpPr>
        <p:spPr>
          <a:xfrm>
            <a:off x="10525050" y="5029088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false</a:t>
            </a:r>
            <a:endParaRPr/>
          </a:p>
        </p:txBody>
      </p:sp>
      <p:sp>
        <p:nvSpPr>
          <p:cNvPr id="305" name="Google Shape;305;p10"/>
          <p:cNvSpPr txBox="1"/>
          <p:nvPr>
            <p:ph idx="1" type="body"/>
          </p:nvPr>
        </p:nvSpPr>
        <p:spPr>
          <a:xfrm>
            <a:off x="8697575" y="4403775"/>
            <a:ext cx="862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true</a:t>
            </a:r>
            <a:endParaRPr/>
          </a:p>
        </p:txBody>
      </p:sp>
      <p:cxnSp>
        <p:nvCxnSpPr>
          <p:cNvPr id="306" name="Google Shape;306;p10"/>
          <p:cNvCxnSpPr/>
          <p:nvPr/>
        </p:nvCxnSpPr>
        <p:spPr>
          <a:xfrm>
            <a:off x="9550688" y="4253450"/>
            <a:ext cx="0" cy="96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" name="Google Shape;307;p10"/>
          <p:cNvSpPr txBox="1"/>
          <p:nvPr>
            <p:ph idx="1" type="body"/>
          </p:nvPr>
        </p:nvSpPr>
        <p:spPr>
          <a:xfrm>
            <a:off x="8959638" y="2289175"/>
            <a:ext cx="2320800" cy="699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let i = 0</a:t>
            </a:r>
            <a:endParaRPr/>
          </a:p>
        </p:txBody>
      </p:sp>
      <p:cxnSp>
        <p:nvCxnSpPr>
          <p:cNvPr id="308" name="Google Shape;308;p10"/>
          <p:cNvCxnSpPr/>
          <p:nvPr/>
        </p:nvCxnSpPr>
        <p:spPr>
          <a:xfrm flipH="1">
            <a:off x="10120200" y="3010500"/>
            <a:ext cx="4800" cy="55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10"/>
          <p:cNvCxnSpPr/>
          <p:nvPr/>
        </p:nvCxnSpPr>
        <p:spPr>
          <a:xfrm rot="10800000">
            <a:off x="6588863" y="5602625"/>
            <a:ext cx="796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10"/>
          <p:cNvSpPr txBox="1"/>
          <p:nvPr>
            <p:ph idx="1" type="body"/>
          </p:nvPr>
        </p:nvSpPr>
        <p:spPr>
          <a:xfrm>
            <a:off x="3804413" y="5253125"/>
            <a:ext cx="2784600" cy="699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i++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1779550" y="891575"/>
            <a:ext cx="11880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10"/>
          <p:cNvCxnSpPr>
            <a:endCxn id="311" idx="2"/>
          </p:cNvCxnSpPr>
          <p:nvPr/>
        </p:nvCxnSpPr>
        <p:spPr>
          <a:xfrm rot="10800000">
            <a:off x="2373550" y="1291775"/>
            <a:ext cx="240000" cy="31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" name="Google Shape;313;p10"/>
          <p:cNvSpPr txBox="1"/>
          <p:nvPr/>
        </p:nvSpPr>
        <p:spPr>
          <a:xfrm>
            <a:off x="3684550" y="662975"/>
            <a:ext cx="1094400" cy="615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Continuing Condition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0"/>
          <p:cNvCxnSpPr/>
          <p:nvPr/>
        </p:nvCxnSpPr>
        <p:spPr>
          <a:xfrm rot="10800000">
            <a:off x="4220425" y="1287100"/>
            <a:ext cx="209400" cy="31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10"/>
          <p:cNvSpPr txBox="1"/>
          <p:nvPr/>
        </p:nvSpPr>
        <p:spPr>
          <a:xfrm>
            <a:off x="6122950" y="1272575"/>
            <a:ext cx="1094400" cy="831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Iteration Statement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0"/>
          <p:cNvCxnSpPr/>
          <p:nvPr/>
        </p:nvCxnSpPr>
        <p:spPr>
          <a:xfrm flipH="1" rot="10800000">
            <a:off x="5357700" y="1446650"/>
            <a:ext cx="6885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10"/>
          <p:cNvSpPr txBox="1"/>
          <p:nvPr/>
        </p:nvSpPr>
        <p:spPr>
          <a:xfrm>
            <a:off x="3836950" y="2872775"/>
            <a:ext cx="10944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 Body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10"/>
          <p:cNvCxnSpPr>
            <a:endCxn id="317" idx="0"/>
          </p:cNvCxnSpPr>
          <p:nvPr/>
        </p:nvCxnSpPr>
        <p:spPr>
          <a:xfrm>
            <a:off x="3930850" y="2554175"/>
            <a:ext cx="453300" cy="31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1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26" name="Google Shape;326;p1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27" name="Google Shape;327;p1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8" name="Google Shape;328;p1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29" name="Google Shape;329;p1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33" name="Google Shape;333;p1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5" name="Google Shape;335;p1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36" name="Google Shape;336;p1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1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39" name="Google Shape;339;p1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" name="Google Shape;341;p1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42" name="Google Shape;342;p1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" name="Google Shape;345;p1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46" name="Google Shape;346;p1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" name="Google Shape;352;p1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53" name="Google Shape;353;p1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" name="Google Shape;367;p1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68" name="Google Shape;368;p1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9" name="Google Shape;379;p1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For Loop Variations 1 - For … of Loop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"/>
          <p:cNvSpPr txBox="1"/>
          <p:nvPr/>
        </p:nvSpPr>
        <p:spPr>
          <a:xfrm>
            <a:off x="1624650" y="1326400"/>
            <a:ext cx="75915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(let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of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3"/>
                </a:highlight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highlight>
                  <a:srgbClr val="ACCADE"/>
                </a:highlight>
                <a:latin typeface="Consolas"/>
                <a:ea typeface="Consolas"/>
                <a:cs typeface="Consolas"/>
                <a:sym typeface="Consolas"/>
              </a:rPr>
              <a:t>console.log(element);</a:t>
            </a:r>
            <a:endParaRPr b="0" i="0" sz="2100" u="none" cap="none" strike="noStrike">
              <a:solidFill>
                <a:schemeClr val="dk1"/>
              </a:solidFill>
              <a:highlight>
                <a:srgbClr val="ACCAD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2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For ... of</a:t>
            </a:r>
            <a:endParaRPr/>
          </a:p>
        </p:txBody>
      </p:sp>
      <p:sp>
        <p:nvSpPr>
          <p:cNvPr id="388" name="Google Shape;388;p12"/>
          <p:cNvSpPr txBox="1"/>
          <p:nvPr/>
        </p:nvSpPr>
        <p:spPr>
          <a:xfrm>
            <a:off x="1718350" y="3280600"/>
            <a:ext cx="85980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Note: change the value of element will not affect the original array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 txBox="1"/>
          <p:nvPr>
            <p:ph type="title"/>
          </p:nvPr>
        </p:nvSpPr>
        <p:spPr>
          <a:xfrm>
            <a:off x="2003109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Traps!</a:t>
            </a:r>
            <a:endParaRPr/>
          </a:p>
        </p:txBody>
      </p:sp>
      <p:pic>
        <p:nvPicPr>
          <p:cNvPr id="394" name="Google Shape;3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750" y="4812075"/>
            <a:ext cx="1908225" cy="5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6248" y="4867500"/>
            <a:ext cx="1908225" cy="48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2605225"/>
            <a:ext cx="46482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605225"/>
            <a:ext cx="602932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3"/>
          <p:cNvSpPr txBox="1"/>
          <p:nvPr/>
        </p:nvSpPr>
        <p:spPr>
          <a:xfrm>
            <a:off x="1258950" y="1451800"/>
            <a:ext cx="96741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Note: change the value of element will not affect the original array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" name="Google Shape;405;p1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06" name="Google Shape;406;p1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07" name="Google Shape;407;p1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" name="Google Shape;408;p1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09" name="Google Shape;409;p1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" name="Google Shape;410;p1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13" name="Google Shape;413;p1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5" name="Google Shape;415;p1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16" name="Google Shape;416;p1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19" name="Google Shape;419;p1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22" name="Google Shape;422;p1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5" name="Google Shape;425;p1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26" name="Google Shape;426;p1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2" name="Google Shape;432;p1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33" name="Google Shape;433;p1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7" name="Google Shape;447;p1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48" name="Google Shape;448;p1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9" name="Google Shape;459;p1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For Loop Variations 2 - For … In Loop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"/>
          <p:cNvSpPr txBox="1"/>
          <p:nvPr/>
        </p:nvSpPr>
        <p:spPr>
          <a:xfrm>
            <a:off x="898650" y="1665950"/>
            <a:ext cx="75915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(let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property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3"/>
                </a:highlight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highlight>
                  <a:srgbClr val="ACCADE"/>
                </a:highlight>
                <a:latin typeface="Consolas"/>
                <a:ea typeface="Consolas"/>
                <a:cs typeface="Consolas"/>
                <a:sym typeface="Consolas"/>
              </a:rPr>
              <a:t>// do something</a:t>
            </a:r>
            <a:endParaRPr b="0" i="0" sz="2100" u="none" cap="none" strike="noStrike">
              <a:solidFill>
                <a:schemeClr val="dk1"/>
              </a:solidFill>
              <a:highlight>
                <a:srgbClr val="ACCAD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p15"/>
          <p:cNvSpPr txBox="1"/>
          <p:nvPr>
            <p:ph type="title"/>
          </p:nvPr>
        </p:nvSpPr>
        <p:spPr>
          <a:xfrm>
            <a:off x="2064759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For / in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"/>
          <p:cNvSpPr txBox="1"/>
          <p:nvPr>
            <p:ph type="title"/>
          </p:nvPr>
        </p:nvSpPr>
        <p:spPr>
          <a:xfrm>
            <a:off x="2003109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Be careful</a:t>
            </a:r>
            <a:endParaRPr/>
          </a:p>
        </p:txBody>
      </p:sp>
      <p:pic>
        <p:nvPicPr>
          <p:cNvPr id="471" name="Google Shape;4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9475" y="1813288"/>
            <a:ext cx="5020336" cy="274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1843225"/>
            <a:ext cx="37147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400" y="4934887"/>
            <a:ext cx="11239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1950" y="4944412"/>
            <a:ext cx="1095375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1" name="Google Shape;481;p1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82" name="Google Shape;482;p1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83" name="Google Shape;483;p1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4" name="Google Shape;484;p1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85" name="Google Shape;485;p1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1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1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1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89" name="Google Shape;489;p1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1" name="Google Shape;491;p1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92" name="Google Shape;492;p1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p1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95" name="Google Shape;495;p1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98" name="Google Shape;498;p1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1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502" name="Google Shape;502;p1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1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509" name="Google Shape;509;p1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1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1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1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1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1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1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1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3" name="Google Shape;523;p1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24" name="Google Shape;524;p1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1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1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1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1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1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1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1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1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1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1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5" name="Google Shape;535;p1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While Loop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Types of While Loops</a:t>
            </a:r>
            <a:endParaRPr/>
          </a:p>
        </p:txBody>
      </p:sp>
      <p:sp>
        <p:nvSpPr>
          <p:cNvPr id="541" name="Google Shape;541;p18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Basic Concept: keep running the piece of code until a condition is met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There are 2 types of while loops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while loop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do...while loop</a:t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9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While</a:t>
            </a:r>
            <a:endParaRPr/>
          </a:p>
        </p:txBody>
      </p:sp>
      <p:sp>
        <p:nvSpPr>
          <p:cNvPr id="551" name="Google Shape;551;p19"/>
          <p:cNvSpPr txBox="1"/>
          <p:nvPr>
            <p:ph idx="1" type="body"/>
          </p:nvPr>
        </p:nvSpPr>
        <p:spPr>
          <a:xfrm>
            <a:off x="9668700" y="1188000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enter a loop</a:t>
            </a:r>
            <a:endParaRPr sz="2200"/>
          </a:p>
        </p:txBody>
      </p:sp>
      <p:cxnSp>
        <p:nvCxnSpPr>
          <p:cNvPr id="552" name="Google Shape;552;p19"/>
          <p:cNvCxnSpPr>
            <a:endCxn id="553" idx="0"/>
          </p:cNvCxnSpPr>
          <p:nvPr/>
        </p:nvCxnSpPr>
        <p:spPr>
          <a:xfrm>
            <a:off x="9616875" y="1187913"/>
            <a:ext cx="0" cy="96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3" name="Google Shape;553;p19"/>
          <p:cNvSpPr txBox="1"/>
          <p:nvPr>
            <p:ph idx="1" type="body"/>
          </p:nvPr>
        </p:nvSpPr>
        <p:spPr>
          <a:xfrm>
            <a:off x="8163225" y="2150913"/>
            <a:ext cx="2907300" cy="699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check condition</a:t>
            </a:r>
            <a:endParaRPr/>
          </a:p>
        </p:txBody>
      </p:sp>
      <p:cxnSp>
        <p:nvCxnSpPr>
          <p:cNvPr id="554" name="Google Shape;554;p19"/>
          <p:cNvCxnSpPr/>
          <p:nvPr/>
        </p:nvCxnSpPr>
        <p:spPr>
          <a:xfrm>
            <a:off x="10123700" y="2849913"/>
            <a:ext cx="0" cy="369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5" name="Google Shape;555;p19"/>
          <p:cNvSpPr txBox="1"/>
          <p:nvPr>
            <p:ph idx="1" type="body"/>
          </p:nvPr>
        </p:nvSpPr>
        <p:spPr>
          <a:xfrm>
            <a:off x="6712650" y="3849575"/>
            <a:ext cx="2503500" cy="699000"/>
          </a:xfrm>
          <a:prstGeom prst="rect">
            <a:avLst/>
          </a:prstGeom>
          <a:solidFill>
            <a:srgbClr val="ACCAD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do something</a:t>
            </a:r>
            <a:endParaRPr/>
          </a:p>
        </p:txBody>
      </p:sp>
      <p:cxnSp>
        <p:nvCxnSpPr>
          <p:cNvPr id="556" name="Google Shape;556;p19"/>
          <p:cNvCxnSpPr/>
          <p:nvPr/>
        </p:nvCxnSpPr>
        <p:spPr>
          <a:xfrm>
            <a:off x="7020000" y="2500425"/>
            <a:ext cx="1143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7" name="Google Shape;557;p19"/>
          <p:cNvCxnSpPr/>
          <p:nvPr/>
        </p:nvCxnSpPr>
        <p:spPr>
          <a:xfrm>
            <a:off x="7020000" y="2500425"/>
            <a:ext cx="0" cy="1366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9"/>
          <p:cNvSpPr txBox="1"/>
          <p:nvPr>
            <p:ph idx="1" type="body"/>
          </p:nvPr>
        </p:nvSpPr>
        <p:spPr>
          <a:xfrm>
            <a:off x="10175525" y="4402613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false</a:t>
            </a:r>
            <a:endParaRPr/>
          </a:p>
        </p:txBody>
      </p:sp>
      <p:sp>
        <p:nvSpPr>
          <p:cNvPr id="559" name="Google Shape;559;p19"/>
          <p:cNvSpPr txBox="1"/>
          <p:nvPr>
            <p:ph idx="1" type="body"/>
          </p:nvPr>
        </p:nvSpPr>
        <p:spPr>
          <a:xfrm>
            <a:off x="8097138" y="3000250"/>
            <a:ext cx="862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true</a:t>
            </a:r>
            <a:endParaRPr/>
          </a:p>
        </p:txBody>
      </p:sp>
      <p:sp>
        <p:nvSpPr>
          <p:cNvPr id="560" name="Google Shape;560;p19"/>
          <p:cNvSpPr txBox="1"/>
          <p:nvPr/>
        </p:nvSpPr>
        <p:spPr>
          <a:xfrm>
            <a:off x="2383057" y="2094250"/>
            <a:ext cx="3893100" cy="24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while 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2100" u="none" cap="none" strike="noStrike">
                <a:solidFill>
                  <a:schemeClr val="dk1"/>
                </a:solidFill>
                <a:highlight>
                  <a:schemeClr val="accent3"/>
                </a:highlight>
                <a:latin typeface="Consolas"/>
                <a:ea typeface="Consolas"/>
                <a:cs typeface="Consolas"/>
                <a:sym typeface="Consolas"/>
              </a:rPr>
              <a:t>condition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2100" u="none" cap="none" strike="noStrike">
                <a:solidFill>
                  <a:srgbClr val="3E4754"/>
                </a:solidFill>
                <a:highlight>
                  <a:srgbClr val="ACCADE"/>
                </a:highlight>
                <a:latin typeface="Consolas"/>
                <a:ea typeface="Consolas"/>
                <a:cs typeface="Consolas"/>
                <a:sym typeface="Consolas"/>
              </a:rPr>
              <a:t>//do something</a:t>
            </a:r>
            <a:endParaRPr b="0" i="0" sz="2100" u="none" cap="none" strike="noStrike">
              <a:solidFill>
                <a:srgbClr val="3E4754"/>
              </a:solidFill>
              <a:highlight>
                <a:srgbClr val="ACCAD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1" name="Google Shape;561;p19"/>
          <p:cNvCxnSpPr/>
          <p:nvPr/>
        </p:nvCxnSpPr>
        <p:spPr>
          <a:xfrm>
            <a:off x="8959650" y="2841250"/>
            <a:ext cx="0" cy="96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8" name="Google Shape;5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4373" y="1767025"/>
            <a:ext cx="5955925" cy="34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6" name="Google Shape;576;p2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577" name="Google Shape;577;p2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578" name="Google Shape;578;p2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9" name="Google Shape;579;p2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580" name="Google Shape;580;p2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2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2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" name="Google Shape;583;p2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84" name="Google Shape;584;p2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2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6" name="Google Shape;586;p2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587" name="Google Shape;587;p2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9" name="Google Shape;589;p2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590" name="Google Shape;590;p2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2" name="Google Shape;592;p2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593" name="Google Shape;593;p2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6" name="Google Shape;596;p2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597" name="Google Shape;597;p2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2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3" name="Google Shape;603;p2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604" name="Google Shape;604;p2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2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2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619" name="Google Shape;619;p2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30" name="Google Shape;630;p2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Do While Loop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6" name="Google Shape;6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2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Do ... While</a:t>
            </a:r>
            <a:endParaRPr/>
          </a:p>
        </p:txBody>
      </p:sp>
      <p:sp>
        <p:nvSpPr>
          <p:cNvPr id="638" name="Google Shape;638;p22"/>
          <p:cNvSpPr txBox="1"/>
          <p:nvPr>
            <p:ph idx="1" type="body"/>
          </p:nvPr>
        </p:nvSpPr>
        <p:spPr>
          <a:xfrm>
            <a:off x="6435300" y="2028000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enter a loop</a:t>
            </a:r>
            <a:endParaRPr sz="2200"/>
          </a:p>
        </p:txBody>
      </p:sp>
      <p:cxnSp>
        <p:nvCxnSpPr>
          <p:cNvPr id="639" name="Google Shape;639;p22"/>
          <p:cNvCxnSpPr>
            <a:endCxn id="640" idx="0"/>
          </p:cNvCxnSpPr>
          <p:nvPr/>
        </p:nvCxnSpPr>
        <p:spPr>
          <a:xfrm>
            <a:off x="8154000" y="1863000"/>
            <a:ext cx="0" cy="1120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0" name="Google Shape;640;p22"/>
          <p:cNvSpPr txBox="1"/>
          <p:nvPr>
            <p:ph idx="1" type="body"/>
          </p:nvPr>
        </p:nvSpPr>
        <p:spPr>
          <a:xfrm>
            <a:off x="6912300" y="2983500"/>
            <a:ext cx="2483400" cy="699000"/>
          </a:xfrm>
          <a:prstGeom prst="rect">
            <a:avLst/>
          </a:prstGeom>
          <a:solidFill>
            <a:srgbClr val="ACCAD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do something</a:t>
            </a:r>
            <a:endParaRPr/>
          </a:p>
        </p:txBody>
      </p:sp>
      <p:cxnSp>
        <p:nvCxnSpPr>
          <p:cNvPr id="641" name="Google Shape;641;p22"/>
          <p:cNvCxnSpPr/>
          <p:nvPr/>
        </p:nvCxnSpPr>
        <p:spPr>
          <a:xfrm>
            <a:off x="8154000" y="3682500"/>
            <a:ext cx="0" cy="82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2" name="Google Shape;642;p22"/>
          <p:cNvSpPr txBox="1"/>
          <p:nvPr>
            <p:ph idx="1" type="body"/>
          </p:nvPr>
        </p:nvSpPr>
        <p:spPr>
          <a:xfrm>
            <a:off x="6771000" y="4534325"/>
            <a:ext cx="2766000" cy="699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check condition</a:t>
            </a:r>
            <a:endParaRPr/>
          </a:p>
        </p:txBody>
      </p:sp>
      <p:cxnSp>
        <p:nvCxnSpPr>
          <p:cNvPr id="643" name="Google Shape;643;p22"/>
          <p:cNvCxnSpPr/>
          <p:nvPr/>
        </p:nvCxnSpPr>
        <p:spPr>
          <a:xfrm rot="10800000">
            <a:off x="9395700" y="3333000"/>
            <a:ext cx="1286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4" name="Google Shape;644;p22"/>
          <p:cNvCxnSpPr/>
          <p:nvPr/>
        </p:nvCxnSpPr>
        <p:spPr>
          <a:xfrm>
            <a:off x="9517500" y="4994988"/>
            <a:ext cx="1161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22"/>
          <p:cNvCxnSpPr/>
          <p:nvPr/>
        </p:nvCxnSpPr>
        <p:spPr>
          <a:xfrm>
            <a:off x="10682100" y="3333000"/>
            <a:ext cx="0" cy="166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6" name="Google Shape;646;p22"/>
          <p:cNvSpPr txBox="1"/>
          <p:nvPr>
            <p:ph idx="1" type="body"/>
          </p:nvPr>
        </p:nvSpPr>
        <p:spPr>
          <a:xfrm>
            <a:off x="9692700" y="4363500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true</a:t>
            </a:r>
            <a:endParaRPr/>
          </a:p>
        </p:txBody>
      </p:sp>
      <p:sp>
        <p:nvSpPr>
          <p:cNvPr id="647" name="Google Shape;647;p22"/>
          <p:cNvSpPr txBox="1"/>
          <p:nvPr>
            <p:ph idx="1" type="body"/>
          </p:nvPr>
        </p:nvSpPr>
        <p:spPr>
          <a:xfrm>
            <a:off x="8154000" y="5339675"/>
            <a:ext cx="232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false</a:t>
            </a:r>
            <a:endParaRPr/>
          </a:p>
        </p:txBody>
      </p:sp>
      <p:cxnSp>
        <p:nvCxnSpPr>
          <p:cNvPr id="648" name="Google Shape;648;p22"/>
          <p:cNvCxnSpPr/>
          <p:nvPr/>
        </p:nvCxnSpPr>
        <p:spPr>
          <a:xfrm>
            <a:off x="8154000" y="5258675"/>
            <a:ext cx="0" cy="1113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9" name="Google Shape;649;p22"/>
          <p:cNvSpPr txBox="1"/>
          <p:nvPr/>
        </p:nvSpPr>
        <p:spPr>
          <a:xfrm>
            <a:off x="2249832" y="2183100"/>
            <a:ext cx="3893100" cy="24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do {</a:t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-US" sz="2100" u="none" cap="none" strike="noStrike">
                <a:solidFill>
                  <a:srgbClr val="3E4754"/>
                </a:solidFill>
                <a:highlight>
                  <a:srgbClr val="ACCADE"/>
                </a:highlight>
                <a:latin typeface="Consolas"/>
                <a:ea typeface="Consolas"/>
                <a:cs typeface="Consolas"/>
                <a:sym typeface="Consolas"/>
              </a:rPr>
              <a:t>//do something</a:t>
            </a:r>
            <a:endParaRPr b="0" i="0" sz="2100" u="none" cap="none" strike="noStrike">
              <a:solidFill>
                <a:srgbClr val="3E4754"/>
              </a:solidFill>
              <a:highlight>
                <a:srgbClr val="ACCAD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} while (</a:t>
            </a:r>
            <a:r>
              <a:rPr b="0" i="0" lang="en-US" sz="2100" u="none" cap="none" strike="noStrike">
                <a:solidFill>
                  <a:srgbClr val="3E4754"/>
                </a:solidFill>
                <a:highlight>
                  <a:schemeClr val="accent3"/>
                </a:highlight>
                <a:latin typeface="Consolas"/>
                <a:ea typeface="Consolas"/>
                <a:cs typeface="Consolas"/>
                <a:sym typeface="Consolas"/>
              </a:rPr>
              <a:t>condition</a:t>
            </a:r>
            <a:r>
              <a:rPr b="0" i="0" lang="en-US" sz="2100" u="none" cap="none" strike="noStrike">
                <a:solidFill>
                  <a:srgbClr val="3E475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E475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Do...While Loop</a:t>
            </a:r>
            <a:endParaRPr/>
          </a:p>
        </p:txBody>
      </p:sp>
      <p:sp>
        <p:nvSpPr>
          <p:cNvPr id="655" name="Google Shape;655;p2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9575" y="1843225"/>
            <a:ext cx="6340751" cy="326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4" name="Google Shape;664;p2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665" name="Google Shape;665;p2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666" name="Google Shape;666;p2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7" name="Google Shape;667;p2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668" name="Google Shape;668;p2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2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2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2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72" name="Google Shape;672;p2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2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4" name="Google Shape;674;p2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675" name="Google Shape;675;p2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7" name="Google Shape;677;p2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678" name="Google Shape;678;p2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0" name="Google Shape;680;p2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681" name="Google Shape;681;p2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4" name="Google Shape;684;p2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685" name="Google Shape;685;p2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1" name="Google Shape;691;p2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692" name="Google Shape;692;p2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2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2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6" name="Google Shape;706;p2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707" name="Google Shape;707;p2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2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2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2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2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8" name="Google Shape;718;p2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While vs For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24" name="Google Shape;724;p25"/>
          <p:cNvSpPr txBox="1"/>
          <p:nvPr>
            <p:ph idx="1" type="body"/>
          </p:nvPr>
        </p:nvSpPr>
        <p:spPr>
          <a:xfrm>
            <a:off x="1072656" y="1825625"/>
            <a:ext cx="47556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const numbers = [1, 2, 3, 4, 5]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lang="en-US" sz="21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let i = 0</a:t>
            </a: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100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i &lt; 5</a:t>
            </a: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1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i++</a:t>
            </a: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	console.log(numbers[i])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console.log("Loop Finished")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5" name="Google Shape;725;p2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6" name="Google Shape;7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5"/>
          <p:cNvSpPr txBox="1"/>
          <p:nvPr>
            <p:ph idx="1" type="body"/>
          </p:nvPr>
        </p:nvSpPr>
        <p:spPr>
          <a:xfrm>
            <a:off x="6330456" y="1825625"/>
            <a:ext cx="47556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const numbers = [1, 2, 3, 4, 5]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let i = 0;</a:t>
            </a:r>
            <a:endParaRPr sz="210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while (</a:t>
            </a:r>
            <a:r>
              <a:rPr lang="en-US" sz="2100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i &lt; 5</a:t>
            </a: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	console.log(numbers[i])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1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i++</a:t>
            </a: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Consolas"/>
                <a:ea typeface="Consolas"/>
                <a:cs typeface="Consolas"/>
                <a:sym typeface="Consolas"/>
              </a:rPr>
              <a:t>console.log("Loop Finished")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