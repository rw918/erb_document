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8aN3h/RmydaSrMoExgnJEs8n9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3E4754"/>
                </a:solidFill>
                <a:highlight>
                  <a:srgbClr val="FFD966"/>
                </a:highlight>
                <a:latin typeface="Consolas"/>
                <a:ea typeface="Consolas"/>
                <a:cs typeface="Consolas"/>
                <a:sym typeface="Consolas"/>
              </a:rPr>
              <a:t>// One line answer</a:t>
            </a:r>
            <a:endParaRPr sz="2000">
              <a:solidFill>
                <a:srgbClr val="3E4754"/>
              </a:solidFill>
              <a:highlight>
                <a:srgbClr val="FFD96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3E4754"/>
                </a:solidFill>
                <a:highlight>
                  <a:srgbClr val="FFD966"/>
                </a:highlight>
                <a:latin typeface="Consolas"/>
                <a:ea typeface="Consolas"/>
                <a:cs typeface="Consolas"/>
                <a:sym typeface="Consolas"/>
              </a:rPr>
              <a:t>car.pastOwners[car.pastOwners.length-1]			//Tom</a:t>
            </a:r>
            <a:endParaRPr/>
          </a:p>
        </p:txBody>
      </p:sp>
      <p:sp>
        <p:nvSpPr>
          <p:cNvPr id="448" name="Google Shape;44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5" name="Google Shape;45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464b1eea0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0464b1eea0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30464b1eea0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464b1eea0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0464b1eea0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0464b1eea0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30464b1eea0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30464b1eea0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30464b1eea0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0464b1eea0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0464b1eea0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30464b1eea0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30464b1eea0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30464b1eea0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0464b1eea0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0464b1eea0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0464b1eea0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0464b1eea0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30464b1eea0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30464b1eea0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30464b1eea0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30464b1eea0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0464b1eea0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0464b1eea0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30464b1eea0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30464b1eea0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464b1eea0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0464b1eea0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464b1eea0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0464b1eea0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30464b1eea0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464b1eea0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464b1eea0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30464b1eea0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30464b1eea0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30464b1eea0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464b1eea0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0464b1eea0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30464b1eea0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30464b1eea0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30464b1eea0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464b1eea0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0464b1eea0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30464b1eea0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464b1eea0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0464b1eea0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30464b1eea0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30464b1eea0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30464b1eea0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0464b1eea0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464b1eea0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464b1eea0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0464b1eea0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30464b1eea0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0464b1eea0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30464b1eea0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464b1eea0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0464b1eea0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30464b1eea0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0464b1eea0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0464b1eea0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464b1eea0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0464b1eea0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0464b1eea0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0464b1eea0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30464b1eea0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464b1eea0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0464b1eea0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0464b1eea0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10310420" y="6331352"/>
            <a:ext cx="1704102" cy="4166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9.1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124700" y="3774200"/>
            <a:ext cx="42198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Arrays &amp; Objects Drills</a:t>
            </a:r>
            <a:endParaRPr b="0" i="0" sz="2800" u="none" cap="none" strike="noStrike">
              <a:solidFill>
                <a:srgbClr val="F0EF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05" y="756904"/>
            <a:ext cx="5508795" cy="550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280476" y="1626765"/>
            <a:ext cx="407332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Agenda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80476" y="3102015"/>
            <a:ext cx="4073324" cy="2426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Arrays Revisions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Array Methods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Functional Array Functions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Objects Revisited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3"/>
          <p:cNvGrpSpPr/>
          <p:nvPr/>
        </p:nvGrpSpPr>
        <p:grpSpPr>
          <a:xfrm>
            <a:off x="8923224" y="3307131"/>
            <a:ext cx="2993315" cy="2620023"/>
            <a:chOff x="5259929" y="732609"/>
            <a:chExt cx="6557447" cy="5739679"/>
          </a:xfrm>
        </p:grpSpPr>
        <p:grpSp>
          <p:nvGrpSpPr>
            <p:cNvPr id="118" name="Google Shape;118;p3"/>
            <p:cNvGrpSpPr/>
            <p:nvPr/>
          </p:nvGrpSpPr>
          <p:grpSpPr>
            <a:xfrm rot="-819711">
              <a:off x="7170204" y="1966879"/>
              <a:ext cx="818239" cy="1067012"/>
              <a:chOff x="7135154" y="1236172"/>
              <a:chExt cx="818239" cy="1067012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7515757" y="1236172"/>
                <a:ext cx="437636" cy="579959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" name="Google Shape;120;p3"/>
              <p:cNvGrpSpPr/>
              <p:nvPr/>
            </p:nvGrpSpPr>
            <p:grpSpPr>
              <a:xfrm>
                <a:off x="7135154" y="1625666"/>
                <a:ext cx="791263" cy="677518"/>
                <a:chOff x="1934025" y="1001650"/>
                <a:chExt cx="415300" cy="355600"/>
              </a:xfrm>
            </p:grpSpPr>
            <p:sp>
              <p:nvSpPr>
                <p:cNvPr id="121" name="Google Shape;121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5" name="Google Shape;125;p3"/>
            <p:cNvSpPr/>
            <p:nvPr/>
          </p:nvSpPr>
          <p:spPr>
            <a:xfrm rot="859076">
              <a:off x="6902959" y="4365208"/>
              <a:ext cx="594943" cy="763617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 rot="-1283923">
              <a:off x="11027933" y="4691747"/>
              <a:ext cx="615998" cy="1067146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3"/>
            <p:cNvGrpSpPr/>
            <p:nvPr/>
          </p:nvGrpSpPr>
          <p:grpSpPr>
            <a:xfrm rot="929063">
              <a:off x="10666804" y="845475"/>
              <a:ext cx="970497" cy="919297"/>
              <a:chOff x="2583100" y="2973775"/>
              <a:chExt cx="461550" cy="4372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>
              <a:off x="5259929" y="5850591"/>
              <a:ext cx="836160" cy="621697"/>
              <a:chOff x="5247525" y="3007275"/>
              <a:chExt cx="517575" cy="384825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 rot="-995547">
              <a:off x="8647518" y="3715003"/>
              <a:ext cx="874254" cy="717779"/>
              <a:chOff x="2599525" y="3688600"/>
              <a:chExt cx="428675" cy="351950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>
              <a:off x="10447576" y="3460793"/>
              <a:ext cx="688367" cy="688367"/>
              <a:chOff x="5941025" y="3634400"/>
              <a:chExt cx="467650" cy="467650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3"/>
            <p:cNvGrpSpPr/>
            <p:nvPr/>
          </p:nvGrpSpPr>
          <p:grpSpPr>
            <a:xfrm rot="-1150443">
              <a:off x="9034399" y="1570431"/>
              <a:ext cx="754931" cy="714873"/>
              <a:chOff x="5973900" y="318475"/>
              <a:chExt cx="401900" cy="380575"/>
            </a:xfrm>
          </p:grpSpPr>
          <p:sp>
            <p:nvSpPr>
              <p:cNvPr id="145" name="Google Shape;145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3"/>
            <p:cNvGrpSpPr/>
            <p:nvPr/>
          </p:nvGrpSpPr>
          <p:grpSpPr>
            <a:xfrm rot="-2485111">
              <a:off x="7686365" y="5449375"/>
              <a:ext cx="833869" cy="799904"/>
              <a:chOff x="5233525" y="4954450"/>
              <a:chExt cx="538275" cy="516350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1" name="Google Shape;171;p3"/>
          <p:cNvSpPr txBox="1"/>
          <p:nvPr>
            <p:ph type="title"/>
          </p:nvPr>
        </p:nvSpPr>
        <p:spPr>
          <a:xfrm>
            <a:off x="838199" y="365125"/>
            <a:ext cx="108922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Arrays Revisions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1072662" y="365125"/>
            <a:ext cx="102811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is array (again)?</a:t>
            </a:r>
            <a:endParaRPr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1072650" y="1597025"/>
            <a:ext cx="10281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Lists/Arrays is simply a list of value or objects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Technically, you could put anything in it (even if each elements are of different types)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Best Practice: You should try to put only same type of values/objects into the same array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  <p:sp>
        <p:nvSpPr>
          <p:cNvPr id="178" name="Google Shape;178;p4"/>
          <p:cNvSpPr/>
          <p:nvPr/>
        </p:nvSpPr>
        <p:spPr>
          <a:xfrm rot="10800000">
            <a:off x="0" y="5555582"/>
            <a:ext cx="12192000" cy="1325565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>
            <p:ph idx="1" type="body"/>
          </p:nvPr>
        </p:nvSpPr>
        <p:spPr>
          <a:xfrm>
            <a:off x="1072650" y="3502025"/>
            <a:ext cx="49590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FFFFFF"/>
                </a:solidFill>
                <a:highlight>
                  <a:srgbClr val="6AA84F"/>
                </a:highlight>
                <a:latin typeface="Consolas"/>
                <a:ea typeface="Consolas"/>
                <a:cs typeface="Consolas"/>
                <a:sym typeface="Consolas"/>
              </a:rPr>
              <a:t>// Good Example</a:t>
            </a:r>
            <a:endParaRPr sz="2000">
              <a:solidFill>
                <a:srgbClr val="FFFFFF"/>
              </a:solidFill>
              <a:highlight>
                <a:srgbClr val="6AA84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4"/>
          <p:cNvSpPr txBox="1"/>
          <p:nvPr>
            <p:ph idx="1" type="body"/>
          </p:nvPr>
        </p:nvSpPr>
        <p:spPr>
          <a:xfrm>
            <a:off x="6482850" y="3502025"/>
            <a:ext cx="49590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FFFFFF"/>
                </a:solidFill>
                <a:highlight>
                  <a:srgbClr val="E06666"/>
                </a:highlight>
                <a:latin typeface="Consolas"/>
                <a:ea typeface="Consolas"/>
                <a:cs typeface="Consolas"/>
                <a:sym typeface="Consolas"/>
              </a:rPr>
              <a:t>// Bad Example</a:t>
            </a:r>
            <a:endParaRPr sz="2200">
              <a:solidFill>
                <a:srgbClr val="FFFFFF"/>
              </a:solidFill>
              <a:highlight>
                <a:srgbClr val="E0666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1" name="Google Shape;1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8649" y="4013174"/>
            <a:ext cx="5243888" cy="58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1125" y="4013175"/>
            <a:ext cx="4958999" cy="544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to access the content in the array?</a:t>
            </a:r>
            <a:endParaRPr/>
          </a:p>
        </p:txBody>
      </p:sp>
      <p:sp>
        <p:nvSpPr>
          <p:cNvPr id="188" name="Google Shape;188;p5"/>
          <p:cNvSpPr txBox="1"/>
          <p:nvPr>
            <p:ph idx="1" type="body"/>
          </p:nvPr>
        </p:nvSpPr>
        <p:spPr>
          <a:xfrm>
            <a:off x="1072650" y="1597025"/>
            <a:ext cx="10281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use array_name[index]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index start from 0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index can also be a variable or a result of calculation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  <p:sp>
        <p:nvSpPr>
          <p:cNvPr id="189" name="Google Shape;189;p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2790125"/>
            <a:ext cx="5273100" cy="26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6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98" name="Google Shape;198;p6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0" name="Google Shape;200;p6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01" name="Google Shape;201;p6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6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6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6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05" name="Google Shape;205;p6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7" name="Google Shape;207;p6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08" name="Google Shape;208;p6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6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6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6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" name="Google Shape;217;p6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18" name="Google Shape;218;p6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" name="Google Shape;224;p6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25" name="Google Shape;225;p6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6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6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1" name="Google Shape;251;p6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Array Methods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Two Major Types of Array Methods</a:t>
            </a:r>
            <a:endParaRPr/>
          </a:p>
        </p:txBody>
      </p:sp>
      <p:sp>
        <p:nvSpPr>
          <p:cNvPr id="257" name="Google Shape;257;p7"/>
          <p:cNvSpPr txBox="1"/>
          <p:nvPr>
            <p:ph idx="1" type="body"/>
          </p:nvPr>
        </p:nvSpPr>
        <p:spPr>
          <a:xfrm>
            <a:off x="1072650" y="1597025"/>
            <a:ext cx="10281300" cy="3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Traditional Array Methods (Self-Study in Reading Materials)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Mutating (changing the original array)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Non-mutating (Not changing the original array)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Functional Array Methods (All non-mutating)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  <p:sp>
        <p:nvSpPr>
          <p:cNvPr id="258" name="Google Shape;258;p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" name="Google Shape;265;p8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66" name="Google Shape;266;p8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67" name="Google Shape;267;p8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8" name="Google Shape;268;p8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69" name="Google Shape;269;p8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" name="Google Shape;270;p8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8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8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73" name="Google Shape;273;p8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8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5" name="Google Shape;275;p8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76" name="Google Shape;276;p8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8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" name="Google Shape;278;p8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79" name="Google Shape;279;p8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8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82" name="Google Shape;282;p8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8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5" name="Google Shape;285;p8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86" name="Google Shape;286;p8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8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2" name="Google Shape;292;p8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93" name="Google Shape;293;p8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8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8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8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8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" name="Google Shape;307;p8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08" name="Google Shape;308;p8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9" name="Google Shape;319;p8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Functional Array Methods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Functional Array Methods</a:t>
            </a:r>
            <a:endParaRPr/>
          </a:p>
        </p:txBody>
      </p:sp>
      <p:sp>
        <p:nvSpPr>
          <p:cNvPr id="325" name="Google Shape;325;p9"/>
          <p:cNvSpPr txBox="1"/>
          <p:nvPr>
            <p:ph idx="1" type="body"/>
          </p:nvPr>
        </p:nvSpPr>
        <p:spPr>
          <a:xfrm>
            <a:off x="1072650" y="1597025"/>
            <a:ext cx="10281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Methods that take a "Function" as input for how to process the array.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Most commonly used methods: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Array.map() - Creating an new array based on the original array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Array.filter() - Removing some values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  <p:sp>
        <p:nvSpPr>
          <p:cNvPr id="326" name="Google Shape;326;p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Array.map()</a:t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1690825"/>
            <a:ext cx="6322861" cy="3559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Array.map()</a:t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6250" y="2008204"/>
            <a:ext cx="7044950" cy="26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Usage</a:t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 txBox="1"/>
          <p:nvPr>
            <p:ph idx="1" type="body"/>
          </p:nvPr>
        </p:nvSpPr>
        <p:spPr>
          <a:xfrm>
            <a:off x="1072650" y="1597025"/>
            <a:ext cx="10281300" cy="3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To convert every elements of an array into another value based on a rule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convert a list of scores into grades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convert a list of “cm” values to “m”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Frequently used in data processing and frontend/backend programming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Array.filter()</a:t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14625"/>
            <a:ext cx="1042035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Array.filter()</a:t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919425"/>
            <a:ext cx="1036320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Usage</a:t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 txBox="1"/>
          <p:nvPr>
            <p:ph idx="1" type="body"/>
          </p:nvPr>
        </p:nvSpPr>
        <p:spPr>
          <a:xfrm>
            <a:off x="1072650" y="1597025"/>
            <a:ext cx="10281300" cy="3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To extract the values that fulfil the requirements only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select a list of students with score higher than a particular score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select a list of people whose height &gt; 1.8m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Frequently used in data processing and frontend/backend programming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16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76" name="Google Shape;376;p16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77" name="Google Shape;377;p16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8" name="Google Shape;378;p16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79" name="Google Shape;379;p16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" name="Google Shape;380;p16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" name="Google Shape;381;p16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" name="Google Shape;382;p16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83" name="Google Shape;383;p16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6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5" name="Google Shape;385;p16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86" name="Google Shape;386;p16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6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" name="Google Shape;388;p16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89" name="Google Shape;389;p16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16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1" name="Google Shape;391;p16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92" name="Google Shape;392;p16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16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16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5" name="Google Shape;395;p16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96" name="Google Shape;396;p16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16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16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16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16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16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2" name="Google Shape;402;p16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403" name="Google Shape;403;p16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16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6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6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6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6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6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6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7" name="Google Shape;417;p16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418" name="Google Shape;418;p16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6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6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6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6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6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6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6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6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9" name="Google Shape;429;p16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Objects Revisited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Objects in details</a:t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 txBox="1"/>
          <p:nvPr>
            <p:ph idx="1" type="body"/>
          </p:nvPr>
        </p:nvSpPr>
        <p:spPr>
          <a:xfrm>
            <a:off x="1682250" y="1749425"/>
            <a:ext cx="9771000" cy="4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Objects represent a physical concept, e.g. cars, users, houses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Each object should contains a set of properties - the characteristics of the object</a:t>
            </a:r>
            <a:endParaRPr sz="2000"/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FFFFFF"/>
                </a:solidFill>
                <a:highlight>
                  <a:srgbClr val="6AA84F"/>
                </a:highlight>
                <a:latin typeface="Consolas"/>
                <a:ea typeface="Consolas"/>
                <a:cs typeface="Consolas"/>
                <a:sym typeface="Consolas"/>
              </a:rPr>
              <a:t>// Example</a:t>
            </a:r>
            <a:endParaRPr sz="2000">
              <a:solidFill>
                <a:srgbClr val="FFFFFF"/>
              </a:solidFill>
              <a:highlight>
                <a:srgbClr val="6AA84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7" name="Google Shape;4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9363" y="3605213"/>
            <a:ext cx="3495675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to access value of an object?</a:t>
            </a:r>
            <a:endParaRPr/>
          </a:p>
        </p:txBody>
      </p:sp>
      <p:sp>
        <p:nvSpPr>
          <p:cNvPr id="443" name="Google Shape;443;p18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 txBox="1"/>
          <p:nvPr>
            <p:ph idx="1" type="body"/>
          </p:nvPr>
        </p:nvSpPr>
        <p:spPr>
          <a:xfrm>
            <a:off x="1682250" y="1749425"/>
            <a:ext cx="9771000" cy="4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Two ways: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•"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objectName.propertyName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•"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objectName["propertyName"]</a:t>
            </a:r>
            <a:endParaRPr sz="2000">
              <a:solidFill>
                <a:srgbClr val="FFFFFF"/>
              </a:solidFill>
              <a:highlight>
                <a:srgbClr val="6AA84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45" name="Google Shape;4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0288" y="2786063"/>
            <a:ext cx="4695825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Anything could be a Property in Object</a:t>
            </a:r>
            <a:endParaRPr/>
          </a:p>
        </p:txBody>
      </p:sp>
      <p:sp>
        <p:nvSpPr>
          <p:cNvPr id="451" name="Google Shape;451;p19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2" name="Google Shape;4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843225"/>
            <a:ext cx="10258425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Anything could be a Property in Object</a:t>
            </a:r>
            <a:endParaRPr/>
          </a:p>
        </p:txBody>
      </p:sp>
      <p:sp>
        <p:nvSpPr>
          <p:cNvPr id="458" name="Google Shape;458;p20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614625"/>
            <a:ext cx="10057716" cy="3712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Array of Objects with Array Methods</a:t>
            </a:r>
            <a:endParaRPr/>
          </a:p>
        </p:txBody>
      </p:sp>
      <p:sp>
        <p:nvSpPr>
          <p:cNvPr id="465" name="Google Shape;465;p21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 txBox="1"/>
          <p:nvPr>
            <p:ph idx="1" type="body"/>
          </p:nvPr>
        </p:nvSpPr>
        <p:spPr>
          <a:xfrm>
            <a:off x="1682250" y="1749425"/>
            <a:ext cx="9771000" cy="4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Please read up and practice with Reading Materials 10.3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FFFFFF"/>
              </a:solidFill>
              <a:highlight>
                <a:srgbClr val="6AA84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