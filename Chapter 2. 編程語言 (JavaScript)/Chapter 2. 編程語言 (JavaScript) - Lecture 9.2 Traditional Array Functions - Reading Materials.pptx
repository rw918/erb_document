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N596Hc7S0nJGKGV8MHK2b5avR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b75ca1c79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g2eb75ca1c79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3E4754"/>
                </a:solidFill>
                <a:highlight>
                  <a:srgbClr val="FFE599"/>
                </a:highlight>
                <a:latin typeface="Consolas"/>
                <a:ea typeface="Consolas"/>
                <a:cs typeface="Consolas"/>
                <a:sym typeface="Consolas"/>
              </a:rPr>
              <a:t>// Exercise 1: How to reversely sort an array (from largest to smallest)</a:t>
            </a:r>
            <a:endParaRPr>
              <a:solidFill>
                <a:srgbClr val="3E4754"/>
              </a:solidFill>
              <a:highlight>
                <a:srgbClr val="FFE599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3E4754"/>
                </a:solidFill>
                <a:latin typeface="Consolas"/>
                <a:ea typeface="Consolas"/>
                <a:cs typeface="Consolas"/>
                <a:sym typeface="Consolas"/>
              </a:rPr>
              <a:t>let reverseSorted = nums.sort().reverse();</a:t>
            </a:r>
            <a:endParaRPr>
              <a:solidFill>
                <a:srgbClr val="3E475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E475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3E4754"/>
                </a:solidFill>
                <a:highlight>
                  <a:srgbClr val="FFE599"/>
                </a:highlight>
                <a:latin typeface="Consolas"/>
                <a:ea typeface="Consolas"/>
                <a:cs typeface="Consolas"/>
                <a:sym typeface="Consolas"/>
              </a:rPr>
              <a:t>// Exercise 2: How to get the smallest number in the array</a:t>
            </a:r>
            <a:endParaRPr>
              <a:solidFill>
                <a:srgbClr val="3E475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3E4754"/>
                </a:solidFill>
                <a:latin typeface="Consolas"/>
                <a:ea typeface="Consolas"/>
                <a:cs typeface="Consolas"/>
                <a:sym typeface="Consolas"/>
              </a:rPr>
              <a:t>let smallestNum = nums.sort()[0]</a:t>
            </a:r>
            <a:endParaRPr>
              <a:solidFill>
                <a:srgbClr val="3E475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E4754"/>
              </a:solidFill>
              <a:highlight>
                <a:srgbClr val="FFE599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3E4754"/>
                </a:solidFill>
                <a:highlight>
                  <a:srgbClr val="FFE599"/>
                </a:highlight>
                <a:latin typeface="Consolas"/>
                <a:ea typeface="Consolas"/>
                <a:cs typeface="Consolas"/>
                <a:sym typeface="Consolas"/>
              </a:rPr>
              <a:t>// Exercise 3: How to get the largest number in the array</a:t>
            </a:r>
            <a:endParaRPr>
              <a:solidFill>
                <a:srgbClr val="3E4754"/>
              </a:solidFill>
              <a:highlight>
                <a:srgbClr val="FFE599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3E4754"/>
                </a:solidFill>
                <a:highlight>
                  <a:srgbClr val="FFE599"/>
                </a:highlight>
                <a:latin typeface="Consolas"/>
                <a:ea typeface="Consolas"/>
                <a:cs typeface="Consolas"/>
                <a:sym typeface="Consolas"/>
              </a:rPr>
              <a:t>nums.sort().reverse()[0]</a:t>
            </a:r>
            <a:endParaRPr>
              <a:solidFill>
                <a:srgbClr val="3E4754"/>
              </a:solidFill>
              <a:highlight>
                <a:srgbClr val="FFE599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3E4754"/>
                </a:solidFill>
                <a:highlight>
                  <a:srgbClr val="FFE599"/>
                </a:highlight>
                <a:latin typeface="Consolas"/>
                <a:ea typeface="Consolas"/>
                <a:cs typeface="Consolas"/>
                <a:sym typeface="Consolas"/>
              </a:rPr>
              <a:t>nums.sort()[nums.length-1]</a:t>
            </a:r>
            <a:endParaRPr/>
          </a:p>
        </p:txBody>
      </p:sp>
      <p:sp>
        <p:nvSpPr>
          <p:cNvPr id="287" name="Google Shape;28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2" name="Google Shape;30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0" name="Google Shape;37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7" name="Google Shape;37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4" name="Google Shape;38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Cue: use repl.it to walk through exercise</a:t>
            </a:r>
            <a:endParaRPr/>
          </a:p>
        </p:txBody>
      </p:sp>
      <p:sp>
        <p:nvSpPr>
          <p:cNvPr id="445" name="Google Shape;44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2f88425c8b9_0_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2f88425c8b9_0_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g2f88425c8b9_0_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2f88425c8b9_0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2f88425c8b9_0_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2f88425c8b9_0_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g2f88425c8b9_0_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g2f88425c8b9_0_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g2f88425c8b9_0_8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2f88425c8b9_0_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2f88425c8b9_0_1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g2f88425c8b9_0_15"/>
          <p:cNvSpPr txBox="1"/>
          <p:nvPr>
            <p:ph idx="1" type="body"/>
          </p:nvPr>
        </p:nvSpPr>
        <p:spPr>
          <a:xfrm>
            <a:off x="66458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g2f88425c8b9_0_15"/>
          <p:cNvSpPr txBox="1"/>
          <p:nvPr>
            <p:ph idx="2" type="body"/>
          </p:nvPr>
        </p:nvSpPr>
        <p:spPr>
          <a:xfrm>
            <a:off x="432025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g2f88425c8b9_0_15"/>
          <p:cNvSpPr txBox="1"/>
          <p:nvPr>
            <p:ph idx="3" type="body"/>
          </p:nvPr>
        </p:nvSpPr>
        <p:spPr>
          <a:xfrm>
            <a:off x="797592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2f88425c8b9_0_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2f88425c8b9_0_2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g2f88425c8b9_0_21"/>
          <p:cNvSpPr txBox="1"/>
          <p:nvPr>
            <p:ph idx="1" type="body"/>
          </p:nvPr>
        </p:nvSpPr>
        <p:spPr>
          <a:xfrm>
            <a:off x="119317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g2f88425c8b9_0_21"/>
          <p:cNvSpPr txBox="1"/>
          <p:nvPr>
            <p:ph idx="2" type="body"/>
          </p:nvPr>
        </p:nvSpPr>
        <p:spPr>
          <a:xfrm>
            <a:off x="484884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g2f88425c8b9_0_21"/>
          <p:cNvSpPr txBox="1"/>
          <p:nvPr>
            <p:ph idx="3" type="body"/>
          </p:nvPr>
        </p:nvSpPr>
        <p:spPr>
          <a:xfrm>
            <a:off x="850451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g2f88425c8b9_0_21"/>
          <p:cNvSpPr txBox="1"/>
          <p:nvPr>
            <p:ph idx="4" type="body"/>
          </p:nvPr>
        </p:nvSpPr>
        <p:spPr>
          <a:xfrm>
            <a:off x="119317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g2f88425c8b9_0_21"/>
          <p:cNvSpPr txBox="1"/>
          <p:nvPr>
            <p:ph idx="5" type="body"/>
          </p:nvPr>
        </p:nvSpPr>
        <p:spPr>
          <a:xfrm>
            <a:off x="484884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g2f88425c8b9_0_21"/>
          <p:cNvSpPr txBox="1"/>
          <p:nvPr>
            <p:ph idx="6" type="body"/>
          </p:nvPr>
        </p:nvSpPr>
        <p:spPr>
          <a:xfrm>
            <a:off x="850451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f88425c8b9_0_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2f88425c8b9_0_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g2f88425c8b9_0_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g2f88425c8b9_0_3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1_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f88425c8b9_0_36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">
  <p:cSld name="Blank color">
    <p:bg>
      <p:bgPr>
        <a:solidFill>
          <a:schemeClr val="accen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f88425c8b9_0_38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l Slide">
  <p:cSld name="General Slid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88425c8b9_0_4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2f88425c8b9_0_4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g2f88425c8b9_0_4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f88425c8b9_0_45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2f88425c8b9_0_45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09297"/>
              </a:buClr>
              <a:buSzPts val="2400"/>
              <a:buNone/>
              <a:defRPr sz="2400">
                <a:solidFill>
                  <a:srgbClr val="909297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2000"/>
              <a:buNone/>
              <a:defRPr sz="2000">
                <a:solidFill>
                  <a:srgbClr val="909297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800"/>
              <a:buNone/>
              <a:defRPr sz="1800">
                <a:solidFill>
                  <a:srgbClr val="909297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9pPr>
          </a:lstStyle>
          <a:p/>
        </p:txBody>
      </p:sp>
      <p:sp>
        <p:nvSpPr>
          <p:cNvPr id="57" name="Google Shape;57;g2f88425c8b9_0_4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g2f88425c8b9_0_4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g2f88425c8b9_0_4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f88425c8b9_0_51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2f88425c8b9_0_51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g2f88425c8b9_0_51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g2f88425c8b9_0_51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g2f88425c8b9_0_51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g2f88425c8b9_0_5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g2f88425c8b9_0_5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g2f88425c8b9_0_5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f88425c8b9_0_6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2f88425c8b9_0_60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2" name="Google Shape;72;g2f88425c8b9_0_60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g2f88425c8b9_0_6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g2f88425c8b9_0_6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g2f88425c8b9_0_6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88425c8b9_0_67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2f88425c8b9_0_67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g2f88425c8b9_0_67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g2f88425c8b9_0_6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g2f88425c8b9_0_6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g2f88425c8b9_0_67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f88425c8b9_0_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2f88425c8b9_0_74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g2f88425c8b9_0_7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g2f88425c8b9_0_7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g2f88425c8b9_0_7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88425c8b9_0_80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2f88425c8b9_0_80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g2f88425c8b9_0_8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g2f88425c8b9_0_8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g2f88425c8b9_0_8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f88425c8b9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g2f88425c8b9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2f88425c8b9_0_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eb75ca1c79_1_0"/>
          <p:cNvSpPr/>
          <p:nvPr/>
        </p:nvSpPr>
        <p:spPr>
          <a:xfrm>
            <a:off x="10310420" y="6331352"/>
            <a:ext cx="1704000" cy="41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g2eb75ca1c79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801" y="1641414"/>
            <a:ext cx="6027751" cy="377378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2eb75ca1c79_1_0"/>
          <p:cNvSpPr txBox="1"/>
          <p:nvPr/>
        </p:nvSpPr>
        <p:spPr>
          <a:xfrm>
            <a:off x="6605100" y="2344575"/>
            <a:ext cx="4739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0EFEE"/>
                </a:solidFill>
                <a:latin typeface="Arial"/>
                <a:ea typeface="Arial"/>
                <a:cs typeface="Arial"/>
                <a:sym typeface="Arial"/>
              </a:rPr>
              <a:t>Lecture 9.2</a:t>
            </a:r>
            <a:endParaRPr b="1" i="0" sz="44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2eb75ca1c79_1_0"/>
          <p:cNvSpPr txBox="1"/>
          <p:nvPr/>
        </p:nvSpPr>
        <p:spPr>
          <a:xfrm>
            <a:off x="7124700" y="3774200"/>
            <a:ext cx="4219800" cy="20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Traditional Array Functions - Reading Materials</a:t>
            </a:r>
            <a:endParaRPr b="0" i="0" sz="2800" u="none" cap="none" strike="noStrike">
              <a:solidFill>
                <a:srgbClr val="F0EF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g2eb75ca1c79_1_0"/>
          <p:cNvCxnSpPr/>
          <p:nvPr/>
        </p:nvCxnSpPr>
        <p:spPr>
          <a:xfrm>
            <a:off x="7707700" y="3532925"/>
            <a:ext cx="3619500" cy="0"/>
          </a:xfrm>
          <a:prstGeom prst="straightConnector1">
            <a:avLst/>
          </a:prstGeom>
          <a:noFill/>
          <a:ln cap="flat" cmpd="sng" w="9525">
            <a:solidFill>
              <a:srgbClr val="F0EFE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Study Instructions</a:t>
            </a:r>
            <a:endParaRPr/>
          </a:p>
        </p:txBody>
      </p:sp>
      <p:sp>
        <p:nvSpPr>
          <p:cNvPr id="109" name="Google Shape;109;p2"/>
          <p:cNvSpPr txBox="1"/>
          <p:nvPr>
            <p:ph idx="1" type="body"/>
          </p:nvPr>
        </p:nvSpPr>
        <p:spPr>
          <a:xfrm>
            <a:off x="1072650" y="1520825"/>
            <a:ext cx="10281300" cy="45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In this reading materials, we have provided examples and quick exercises for some commonly used array functions.</a:t>
            </a:r>
            <a:endParaRPr sz="2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/>
          </a:p>
          <a:p>
            <a:pPr indent="-3683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Please test these with your local development environment (Visual Studio Code) or repl.it (Please check out the best practices on next page)</a:t>
            </a:r>
            <a:endParaRPr sz="22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/>
          </a:p>
          <a:p>
            <a:pPr indent="-3683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You don’t need to remember the exact syntax, input and output of the examples, but you should have an understand what array functions could do for you.</a:t>
            </a:r>
            <a:endParaRPr sz="22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/>
          </a:p>
          <a:p>
            <a:pPr indent="-3683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In reality, you can always Google for the function usage, or refer to this notes. But the prerequisite is that you know what are the keywords to search in Google.</a:t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2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200"/>
          </a:p>
        </p:txBody>
      </p:sp>
      <p:sp>
        <p:nvSpPr>
          <p:cNvPr id="110" name="Google Shape;110;p2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How to Use the Sample Code?</a:t>
            </a:r>
            <a:endParaRPr/>
          </a:p>
        </p:txBody>
      </p:sp>
      <p:sp>
        <p:nvSpPr>
          <p:cNvPr id="116" name="Google Shape;116;p3"/>
          <p:cNvSpPr txBox="1"/>
          <p:nvPr>
            <p:ph idx="1" type="body"/>
          </p:nvPr>
        </p:nvSpPr>
        <p:spPr>
          <a:xfrm>
            <a:off x="1072650" y="1368425"/>
            <a:ext cx="10281300" cy="45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In this study materials, we have provided a use case and sample code on each of the page. We would like you to test each of them.</a:t>
            </a:r>
            <a:endParaRPr sz="2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The best way to learn, is to type the whole code again, instead of copy pasting. (That’s why we provided the code as a picture instead of text)</a:t>
            </a:r>
            <a:endParaRPr sz="2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While typing, try to understand the meaning of each line instead of just typing the code line by line. Testing without understanding what you are doing is meaningless.</a:t>
            </a:r>
            <a:endParaRPr sz="2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After testing, try to make changes to the code, and see if the new results is something that you expected.</a:t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200"/>
          </a:p>
        </p:txBody>
      </p:sp>
      <p:sp>
        <p:nvSpPr>
          <p:cNvPr id="117" name="Google Shape;117;p3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4" name="Google Shape;124;p4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125" name="Google Shape;125;p4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7" name="Google Shape;127;p4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128" name="Google Shape;128;p4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" name="Google Shape;129;p4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" name="Google Shape;130;p4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" name="Google Shape;131;p4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32" name="Google Shape;132;p4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4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4" name="Google Shape;134;p4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135" name="Google Shape;135;p4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4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" name="Google Shape;137;p4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138" name="Google Shape;138;p4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0" name="Google Shape;140;p4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141" name="Google Shape;141;p4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4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4" name="Google Shape;144;p4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145" name="Google Shape;145;p4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4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4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1" name="Google Shape;151;p4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152" name="Google Shape;152;p4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4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4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4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4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4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4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4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6" name="Google Shape;166;p4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167" name="Google Shape;167;p4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4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4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4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4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4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4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4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4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4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8" name="Google Shape;178;p4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Array Operations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Accessing the array from the last</a:t>
            </a:r>
            <a:endParaRPr/>
          </a:p>
        </p:txBody>
      </p:sp>
      <p:sp>
        <p:nvSpPr>
          <p:cNvPr id="184" name="Google Shape;184;p5"/>
          <p:cNvSpPr txBox="1"/>
          <p:nvPr>
            <p:ph idx="1" type="body"/>
          </p:nvPr>
        </p:nvSpPr>
        <p:spPr>
          <a:xfrm>
            <a:off x="1072650" y="1597025"/>
            <a:ext cx="10281300" cy="17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Sometimes you want to access the data in the array from the back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e.g. retrieve the latest user 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/>
          </a:p>
        </p:txBody>
      </p:sp>
      <p:sp>
        <p:nvSpPr>
          <p:cNvPr id="185" name="Google Shape;185;p5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5350" y="2746500"/>
            <a:ext cx="5829300" cy="191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Making changes to the array</a:t>
            </a:r>
            <a:endParaRPr/>
          </a:p>
        </p:txBody>
      </p:sp>
      <p:sp>
        <p:nvSpPr>
          <p:cNvPr id="192" name="Google Shape;192;p6"/>
          <p:cNvSpPr txBox="1"/>
          <p:nvPr>
            <p:ph idx="1" type="body"/>
          </p:nvPr>
        </p:nvSpPr>
        <p:spPr>
          <a:xfrm>
            <a:off x="1072650" y="1597025"/>
            <a:ext cx="10281300" cy="38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Array is mutable, i.e. can be changed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each element is actually a variable that you can re-assign value to it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/>
          </a:p>
        </p:txBody>
      </p:sp>
      <p:sp>
        <p:nvSpPr>
          <p:cNvPr id="193" name="Google Shape;193;p6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1263" y="2790825"/>
            <a:ext cx="7534275" cy="219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Array doesn’t need to be fully filled</a:t>
            </a:r>
            <a:endParaRPr/>
          </a:p>
        </p:txBody>
      </p:sp>
      <p:sp>
        <p:nvSpPr>
          <p:cNvPr id="200" name="Google Shape;200;p7"/>
          <p:cNvSpPr txBox="1"/>
          <p:nvPr>
            <p:ph idx="1" type="body"/>
          </p:nvPr>
        </p:nvSpPr>
        <p:spPr>
          <a:xfrm>
            <a:off x="1072650" y="1597025"/>
            <a:ext cx="10281300" cy="38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You can set values at any index in the array. For the missing values in between, JS will auto-fill it with "undefined".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</p:txBody>
      </p:sp>
      <p:sp>
        <p:nvSpPr>
          <p:cNvPr id="201" name="Google Shape;201;p7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9225" y="2814638"/>
            <a:ext cx="9658350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9" name="Google Shape;209;p8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210" name="Google Shape;210;p8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211" name="Google Shape;211;p8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12" name="Google Shape;212;p8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213" name="Google Shape;213;p8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" name="Google Shape;214;p8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" name="Google Shape;215;p8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" name="Google Shape;216;p8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17" name="Google Shape;217;p8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8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9" name="Google Shape;219;p8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220" name="Google Shape;220;p8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8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2" name="Google Shape;222;p8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223" name="Google Shape;223;p8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" name="Google Shape;224;p8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" name="Google Shape;225;p8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226" name="Google Shape;226;p8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p8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" name="Google Shape;228;p8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9" name="Google Shape;229;p8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230" name="Google Shape;230;p8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8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8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8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8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8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6" name="Google Shape;236;p8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237" name="Google Shape;237;p8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8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8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8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8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8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8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8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8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8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8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8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8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8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1" name="Google Shape;251;p8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252" name="Google Shape;252;p8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8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8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8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8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8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8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8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8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8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8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63" name="Google Shape;263;p8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Non-mutating Functions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9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Converting Array to String - toString()</a:t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 rot="10800000">
            <a:off x="-12" y="57079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2529025"/>
            <a:ext cx="8772525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Joining Two Arrays - concat()</a:t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 rot="10800000">
            <a:off x="-12" y="57079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2148025"/>
            <a:ext cx="9496425" cy="212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Joining More Arrays - concat()</a:t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 rot="10800000">
            <a:off x="-12" y="57079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4" name="Google Shape;28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1843225"/>
            <a:ext cx="7905574" cy="3712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Sort the Array - sort()</a:t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 rot="10800000">
            <a:off x="-12" y="57079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 txBox="1"/>
          <p:nvPr>
            <p:ph idx="1" type="body"/>
          </p:nvPr>
        </p:nvSpPr>
        <p:spPr>
          <a:xfrm>
            <a:off x="1069975" y="5437550"/>
            <a:ext cx="11684400" cy="11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highlight>
                  <a:srgbClr val="FFE599"/>
                </a:highlight>
                <a:latin typeface="Consolas"/>
                <a:ea typeface="Consolas"/>
                <a:cs typeface="Consolas"/>
                <a:sym typeface="Consolas"/>
              </a:rPr>
              <a:t>// Exercise 1: How to reversely sort an array (from largest to smallest)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highlight>
                  <a:srgbClr val="FFE599"/>
                </a:highlight>
                <a:latin typeface="Consolas"/>
                <a:ea typeface="Consolas"/>
                <a:cs typeface="Consolas"/>
                <a:sym typeface="Consolas"/>
              </a:rPr>
              <a:t>// Exercise 2: How to get the smallest number in the array</a:t>
            </a:r>
            <a:endParaRPr sz="1800">
              <a:highlight>
                <a:srgbClr val="FFE599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highlight>
                  <a:srgbClr val="FFE599"/>
                </a:highlight>
                <a:latin typeface="Consolas"/>
                <a:ea typeface="Consolas"/>
                <a:cs typeface="Consolas"/>
                <a:sym typeface="Consolas"/>
              </a:rPr>
              <a:t>// Exercise 3: How to get the largest number in the array</a:t>
            </a:r>
            <a:endParaRPr sz="1800">
              <a:highlight>
                <a:srgbClr val="FFE599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highlight>
                <a:srgbClr val="FFE599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92" name="Google Shape;29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9700" y="1752600"/>
            <a:ext cx="967740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3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Sorting String Arrays - sort()</a:t>
            </a:r>
            <a:endParaRPr/>
          </a:p>
        </p:txBody>
      </p:sp>
      <p:sp>
        <p:nvSpPr>
          <p:cNvPr id="298" name="Google Shape;298;p13"/>
          <p:cNvSpPr/>
          <p:nvPr/>
        </p:nvSpPr>
        <p:spPr>
          <a:xfrm rot="10800000">
            <a:off x="-12" y="57079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2376625"/>
            <a:ext cx="10287000" cy="155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4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6" name="Google Shape;306;p14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307" name="Google Shape;307;p14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308" name="Google Shape;308;p14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09" name="Google Shape;309;p14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310" name="Google Shape;310;p14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" name="Google Shape;311;p14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2" name="Google Shape;312;p14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" name="Google Shape;313;p14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14" name="Google Shape;314;p14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4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6" name="Google Shape;316;p14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317" name="Google Shape;317;p14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" name="Google Shape;318;p14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9" name="Google Shape;319;p14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320" name="Google Shape;320;p14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14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2" name="Google Shape;322;p14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323" name="Google Shape;323;p14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14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14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6" name="Google Shape;326;p14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327" name="Google Shape;327;p14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14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14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14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" name="Google Shape;331;p14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14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3" name="Google Shape;333;p14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334" name="Google Shape;334;p14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14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14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14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" name="Google Shape;338;p14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" name="Google Shape;339;p14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" name="Google Shape;340;p14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" name="Google Shape;341;p14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" name="Google Shape;342;p14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" name="Google Shape;343;p14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" name="Google Shape;344;p14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" name="Google Shape;345;p14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14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14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8" name="Google Shape;348;p14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349" name="Google Shape;349;p14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" name="Google Shape;350;p14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" name="Google Shape;351;p14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14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14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p14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" name="Google Shape;355;p14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14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14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14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" name="Google Shape;359;p14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60" name="Google Shape;360;p14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Mutating Functions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5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Adding/Removing Items from the End</a:t>
            </a:r>
            <a:endParaRPr/>
          </a:p>
        </p:txBody>
      </p:sp>
      <p:sp>
        <p:nvSpPr>
          <p:cNvPr id="366" name="Google Shape;366;p15"/>
          <p:cNvSpPr/>
          <p:nvPr/>
        </p:nvSpPr>
        <p:spPr>
          <a:xfrm rot="10800000">
            <a:off x="-12" y="57079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7" name="Google Shape;36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843225"/>
            <a:ext cx="9896475" cy="331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6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Adding/Removing Items from the Start</a:t>
            </a:r>
            <a:endParaRPr/>
          </a:p>
        </p:txBody>
      </p:sp>
      <p:sp>
        <p:nvSpPr>
          <p:cNvPr id="373" name="Google Shape;373;p16"/>
          <p:cNvSpPr/>
          <p:nvPr/>
        </p:nvSpPr>
        <p:spPr>
          <a:xfrm rot="10800000">
            <a:off x="-12" y="57079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4" name="Google Shape;37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1767025"/>
            <a:ext cx="10477500" cy="328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7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Pushing/Unshifting Multiple Elements</a:t>
            </a:r>
            <a:endParaRPr/>
          </a:p>
        </p:txBody>
      </p:sp>
      <p:sp>
        <p:nvSpPr>
          <p:cNvPr id="380" name="Google Shape;380;p17"/>
          <p:cNvSpPr/>
          <p:nvPr/>
        </p:nvSpPr>
        <p:spPr>
          <a:xfrm rot="10800000">
            <a:off x="-12" y="57079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1" name="Google Shape;38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1690825"/>
            <a:ext cx="10515600" cy="360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8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8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8" name="Google Shape;388;p18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389" name="Google Shape;389;p18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390" name="Google Shape;390;p18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91" name="Google Shape;391;p18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392" name="Google Shape;392;p18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" name="Google Shape;393;p18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4" name="Google Shape;394;p18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" name="Google Shape;395;p18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96" name="Google Shape;396;p18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18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8" name="Google Shape;398;p18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399" name="Google Shape;399;p18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" name="Google Shape;400;p18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1" name="Google Shape;401;p18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402" name="Google Shape;402;p18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" name="Google Shape;403;p18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4" name="Google Shape;404;p18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405" name="Google Shape;405;p18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" name="Google Shape;406;p18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407;p18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8" name="Google Shape;408;p18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409" name="Google Shape;409;p18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" name="Google Shape;410;p18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" name="Google Shape;411;p18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18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18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18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5" name="Google Shape;415;p18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416" name="Google Shape;416;p18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18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18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18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18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18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" name="Google Shape;422;p18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23;p18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18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18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18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18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18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18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0" name="Google Shape;430;p18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431" name="Google Shape;431;p18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18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18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18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18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18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18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8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18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18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18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42" name="Google Shape;442;p18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Array of Objects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9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Objects can also be an element</a:t>
            </a:r>
            <a:endParaRPr/>
          </a:p>
        </p:txBody>
      </p:sp>
      <p:sp>
        <p:nvSpPr>
          <p:cNvPr id="448" name="Google Shape;448;p19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9"/>
          <p:cNvSpPr txBox="1"/>
          <p:nvPr>
            <p:ph idx="1" type="body"/>
          </p:nvPr>
        </p:nvSpPr>
        <p:spPr>
          <a:xfrm>
            <a:off x="1831975" y="5285150"/>
            <a:ext cx="8944200" cy="11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highlight>
                  <a:srgbClr val="FFE599"/>
                </a:highlight>
                <a:latin typeface="Consolas"/>
                <a:ea typeface="Consolas"/>
                <a:cs typeface="Consolas"/>
                <a:sym typeface="Consolas"/>
              </a:rPr>
              <a:t>// Exercise 1: How to get the last user’s age?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highlight>
                  <a:srgbClr val="FFE599"/>
                </a:highlight>
                <a:latin typeface="Consolas"/>
                <a:ea typeface="Consolas"/>
                <a:cs typeface="Consolas"/>
                <a:sym typeface="Consolas"/>
              </a:rPr>
              <a:t>// Exercise 2: How to push user3 to the end of the array?</a:t>
            </a:r>
            <a:endParaRPr sz="1800">
              <a:highlight>
                <a:srgbClr val="FFE599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highlight>
                  <a:srgbClr val="FFE599"/>
                </a:highlight>
                <a:latin typeface="Consolas"/>
                <a:ea typeface="Consolas"/>
                <a:cs typeface="Consolas"/>
                <a:sym typeface="Consolas"/>
              </a:rPr>
              <a:t>// Exercise 3: How to remove the first user from the array?</a:t>
            </a:r>
            <a:endParaRPr sz="1800">
              <a:highlight>
                <a:srgbClr val="FFE599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highlight>
                <a:srgbClr val="FFE599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50" name="Google Shape;4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6263" y="1541050"/>
            <a:ext cx="6933780" cy="351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alentlabs ERB course Theme">
  <a:themeElements>
    <a:clrScheme name="TalentLabs">
      <a:dk1>
        <a:srgbClr val="3E4754"/>
      </a:dk1>
      <a:lt1>
        <a:srgbClr val="F0EFEE"/>
      </a:lt1>
      <a:dk2>
        <a:srgbClr val="3C607E"/>
      </a:dk2>
      <a:lt2>
        <a:srgbClr val="E6E6E6"/>
      </a:lt2>
      <a:accent1>
        <a:srgbClr val="5080A6"/>
      </a:accent1>
      <a:accent2>
        <a:srgbClr val="FFB182"/>
      </a:accent2>
      <a:accent3>
        <a:srgbClr val="FFBBC6"/>
      </a:accent3>
      <a:accent4>
        <a:srgbClr val="FBD590"/>
      </a:accent4>
      <a:accent5>
        <a:srgbClr val="77A8C9"/>
      </a:accent5>
      <a:accent6>
        <a:srgbClr val="C4E7AA"/>
      </a:accent6>
      <a:hlink>
        <a:srgbClr val="DABAA3"/>
      </a:hlink>
      <a:folHlink>
        <a:srgbClr val="77A8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