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rsiDjfjUcVXGP6tPXSuKxhnJw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978296d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978296d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978296d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978296d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978296d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978296d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978296d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978296d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978296d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978296d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978296d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978296d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978296d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978296d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978296d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978296d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978296d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978296d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978296d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978296d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978296d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978296d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978296d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978296d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978296d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978296d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978296d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978296d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978296d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978296d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978296d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978296d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978296d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978296d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978296d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978296d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978296d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978296d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978296d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978296d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978296d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978296d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978296d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978296d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978296d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978296d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978296d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978296d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978296d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978296d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978296d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978296d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978296d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978296d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978296d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978296d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978296d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978296d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978296d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978296d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978296d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978296d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978296d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978296d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978296d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978296d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978296d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978296d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978296d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10310420" y="6331352"/>
            <a:ext cx="1704102" cy="4166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7240825" y="2344575"/>
            <a:ext cx="4103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Lecture </a:t>
            </a: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7725075" y="3774200"/>
            <a:ext cx="36195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DOM</a:t>
            </a:r>
            <a:endParaRPr b="0" i="0" sz="2800" u="none" cap="none" strike="noStrike">
              <a:solidFill>
                <a:srgbClr val="F0EF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05" y="756904"/>
            <a:ext cx="5508795" cy="550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250726" y="1709090"/>
            <a:ext cx="4073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Agenda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6613511" y="2886794"/>
            <a:ext cx="5347800" cy="24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HTML DOM Introduction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HTML DOM Node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HTML DOM Function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HTML DOM Access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HTML DOM Modify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HTML DOM Event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HTML DOM Summary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is the HTML DOM?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The </a:t>
            </a:r>
            <a:r>
              <a:rPr b="1" i="0" lang="en-US" sz="2000">
                <a:solidFill>
                  <a:srgbClr val="000000"/>
                </a:solidFill>
              </a:rPr>
              <a:t>HTML DOM</a:t>
            </a:r>
            <a:r>
              <a:rPr i="0" lang="en-US" sz="2000">
                <a:solidFill>
                  <a:srgbClr val="000000"/>
                </a:solidFill>
              </a:rPr>
              <a:t> is an </a:t>
            </a:r>
            <a:r>
              <a:rPr b="1" i="0" lang="en-US" sz="2000">
                <a:solidFill>
                  <a:srgbClr val="000000"/>
                </a:solidFill>
              </a:rPr>
              <a:t>Object Model</a:t>
            </a:r>
            <a:r>
              <a:rPr i="0" lang="en-US" sz="2000">
                <a:solidFill>
                  <a:srgbClr val="000000"/>
                </a:solidFill>
              </a:rPr>
              <a:t> for </a:t>
            </a:r>
            <a:r>
              <a:rPr b="1" i="0" lang="en-US" sz="2000">
                <a:solidFill>
                  <a:srgbClr val="000000"/>
                </a:solidFill>
              </a:rPr>
              <a:t>HTML</a:t>
            </a:r>
            <a:r>
              <a:rPr i="0" lang="en-US" sz="2000">
                <a:solidFill>
                  <a:srgbClr val="000000"/>
                </a:solidFill>
              </a:rPr>
              <a:t>. It defines:</a:t>
            </a:r>
            <a:endParaRPr sz="3200"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i="0" lang="en-US" sz="2000">
                <a:solidFill>
                  <a:srgbClr val="000000"/>
                </a:solidFill>
              </a:rPr>
              <a:t>HTML elements as </a:t>
            </a:r>
            <a:r>
              <a:rPr b="1" i="0" lang="en-US" sz="2000">
                <a:solidFill>
                  <a:srgbClr val="000000"/>
                </a:solidFill>
              </a:rPr>
              <a:t>objects</a:t>
            </a:r>
            <a:endParaRPr i="0" sz="20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i="0" lang="en-US" sz="2000">
                <a:solidFill>
                  <a:srgbClr val="000000"/>
                </a:solidFill>
              </a:rPr>
              <a:t>Properties</a:t>
            </a:r>
            <a:r>
              <a:rPr i="0" lang="en-US" sz="2000">
                <a:solidFill>
                  <a:srgbClr val="000000"/>
                </a:solidFill>
              </a:rPr>
              <a:t> for all HTML elements</a:t>
            </a:r>
            <a:endParaRPr sz="3200"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i="0" lang="en-US" sz="2000">
                <a:solidFill>
                  <a:srgbClr val="000000"/>
                </a:solidFill>
              </a:rPr>
              <a:t>Methods</a:t>
            </a:r>
            <a:r>
              <a:rPr i="0" lang="en-US" sz="2000">
                <a:solidFill>
                  <a:srgbClr val="000000"/>
                </a:solidFill>
              </a:rPr>
              <a:t> for all HTML elements</a:t>
            </a:r>
            <a:endParaRPr sz="3200"/>
          </a:p>
          <a:p>
            <a:pPr indent="-3683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b="1" i="0" lang="en-US" sz="2000">
                <a:solidFill>
                  <a:srgbClr val="000000"/>
                </a:solidFill>
              </a:rPr>
              <a:t>Events</a:t>
            </a:r>
            <a:r>
              <a:rPr i="0" lang="en-US" sz="2000">
                <a:solidFill>
                  <a:srgbClr val="000000"/>
                </a:solidFill>
              </a:rPr>
              <a:t> for all HTML elements</a:t>
            </a:r>
            <a:endParaRPr sz="3200"/>
          </a:p>
        </p:txBody>
      </p:sp>
      <p:sp>
        <p:nvSpPr>
          <p:cNvPr id="117" name="Google Shape;117;p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8146" y="2523115"/>
            <a:ext cx="739768" cy="1045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is the HTML DOM?</a:t>
            </a:r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The </a:t>
            </a:r>
            <a:r>
              <a:rPr b="1" i="0" lang="en-US" sz="2000">
                <a:solidFill>
                  <a:srgbClr val="000000"/>
                </a:solidFill>
              </a:rPr>
              <a:t>HTML DOM</a:t>
            </a:r>
            <a:r>
              <a:rPr i="0" lang="en-US" sz="2000">
                <a:solidFill>
                  <a:srgbClr val="000000"/>
                </a:solidFill>
              </a:rPr>
              <a:t> is an </a:t>
            </a:r>
            <a:r>
              <a:rPr b="1" i="0" lang="en-US" sz="2000">
                <a:solidFill>
                  <a:srgbClr val="000000"/>
                </a:solidFill>
              </a:rPr>
              <a:t>API</a:t>
            </a:r>
            <a:r>
              <a:rPr i="0" lang="en-US" sz="2000">
                <a:solidFill>
                  <a:srgbClr val="000000"/>
                </a:solidFill>
              </a:rPr>
              <a:t> (Programming Interface) for </a:t>
            </a:r>
            <a:r>
              <a:rPr b="1" i="0" lang="en-US" sz="2000">
                <a:solidFill>
                  <a:srgbClr val="000000"/>
                </a:solidFill>
              </a:rPr>
              <a:t>JavaScript</a:t>
            </a:r>
            <a:r>
              <a:rPr i="0" lang="en-US" sz="2000">
                <a:solidFill>
                  <a:srgbClr val="000000"/>
                </a:solidFill>
              </a:rPr>
              <a:t>: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JavaScript can add/change/remove HTML elements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JavaScript can add/change/remove HTML attributes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JavaScript can add/change/remove CSS styles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JavaScript can react to HTML events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JavaScript can add/change/remove HTML events</a:t>
            </a:r>
            <a:endParaRPr sz="2000"/>
          </a:p>
        </p:txBody>
      </p:sp>
      <p:sp>
        <p:nvSpPr>
          <p:cNvPr id="126" name="Google Shape;126;p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128" name="Google Shape;128;p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8900" y="2584182"/>
            <a:ext cx="677666" cy="76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Node</a:t>
            </a:r>
            <a:br>
              <a:rPr lang="en-US"/>
            </a:br>
            <a:endParaRPr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en-US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According to W3C's HTML DOM standard, all content in an HTML document is nodes: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entire document is a document node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Each HTML element is an element node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text within HTML elements is a text node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Each HTML attribute is a property node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Annotations are annotation nodes</a:t>
            </a:r>
            <a:endParaRPr sz="2000"/>
          </a:p>
        </p:txBody>
      </p:sp>
      <p:sp>
        <p:nvSpPr>
          <p:cNvPr id="136" name="Google Shape;136;p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138" name="Google Shape;138;p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Node?</a:t>
            </a:r>
            <a:endParaRPr/>
          </a:p>
        </p:txBody>
      </p:sp>
      <p:sp>
        <p:nvSpPr>
          <p:cNvPr id="144" name="Google Shape;144;p7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When a web page is loaded, the browser creates a Document Object Model of the page.</a:t>
            </a:r>
            <a:endParaRPr sz="32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HTML DOM model is constructed as a tree of Objects:</a:t>
            </a:r>
            <a:endParaRPr sz="3200"/>
          </a:p>
        </p:txBody>
      </p:sp>
      <p:sp>
        <p:nvSpPr>
          <p:cNvPr id="145" name="Google Shape;145;p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147" name="Google Shape;147;p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8587" y="2651383"/>
            <a:ext cx="462915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Node?</a:t>
            </a:r>
            <a:endParaRPr/>
          </a:p>
        </p:txBody>
      </p:sp>
      <p:sp>
        <p:nvSpPr>
          <p:cNvPr id="154" name="Google Shape;154;p8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The nodes in the node tree have hierarchical relationships with each other.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In the node tree, the top node is called the root.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Each node has a parent node, except for the root (which has no parent node).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A node can have any number of child nodes.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Siblings are nodes with the same parent node.</a:t>
            </a:r>
            <a:endParaRPr sz="2000"/>
          </a:p>
        </p:txBody>
      </p:sp>
      <p:sp>
        <p:nvSpPr>
          <p:cNvPr id="155" name="Google Shape;155;p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157" name="Google Shape;157;p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Node</a:t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531502" y="2231115"/>
            <a:ext cx="386138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&lt;html&gt;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&lt;head&gt;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&lt;meta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charset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1" i="0" lang="en-US" sz="1800" u="none" cap="none" strike="noStrike">
                <a:solidFill>
                  <a:srgbClr val="8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"utf-8"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&lt;title&gt;</a:t>
            </a:r>
            <a:r>
              <a:rPr b="1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DOM Node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&lt;/title&gt;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&lt;/head&gt;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&lt;body&gt;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&lt;h1&gt;</a:t>
            </a:r>
            <a:r>
              <a:rPr b="1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DOM Node1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&lt;/h1&gt;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&lt;p&gt;</a:t>
            </a:r>
            <a:r>
              <a:rPr b="1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Hello world!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&lt;/p&gt;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&lt;/body&gt;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&lt;/html&gt;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 txBox="1"/>
          <p:nvPr>
            <p:ph idx="1" type="body"/>
          </p:nvPr>
        </p:nvSpPr>
        <p:spPr>
          <a:xfrm>
            <a:off x="4155225" y="1663475"/>
            <a:ext cx="7581300" cy="3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From the HTML on the left: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&lt;html&gt;Node has no parent node; It is the root node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The parent node of&lt;head&gt;and&lt;body&gt;is the&lt;HTML&gt;node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The parent node of the text node "Hello world!" is the&lt;p&gt;node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&lt;html&gt;The node has two child nodes:&lt;head&gt;and&lt;body&gt;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The&lt;head&gt;node has two child nodes:&lt;meta&gt;and&lt;title&gt;nodes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The node also has a child node: the text node "DOM Tutorial“</a:t>
            </a:r>
            <a:endParaRPr sz="20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i="0" lang="en-US" sz="2000">
                <a:solidFill>
                  <a:srgbClr val="000000"/>
                </a:solidFill>
              </a:rPr>
              <a:t>&lt;h1&gt;The&lt;p&gt;node is a sibling node and also a child node of the&lt;body&gt;</a:t>
            </a:r>
            <a:br>
              <a:rPr b="0" i="0" lang="en-US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531502" y="1663465"/>
            <a:ext cx="2004308" cy="32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highlight>
                  <a:srgbClr val="93C47D"/>
                </a:highlight>
                <a:latin typeface="Consolas"/>
                <a:ea typeface="Consolas"/>
                <a:cs typeface="Consolas"/>
                <a:sym typeface="Consolas"/>
              </a:rPr>
              <a:t>HTML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Function</a:t>
            </a:r>
            <a:endParaRPr/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952075" y="1562025"/>
            <a:ext cx="10606800" cy="3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The HTML DOM method is an action that we can execute on a node (HTML element).</a:t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The HTML DOM attribute is a value that we can set and modify in nodes (HTML elements).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HTML DOM can be accessed through JavaScript (as well as other programming languages).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All HTML elements are defined as objects, while programming interfaces are object methods and object properties.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A method is an action that you can perform (such as adding or modifying elements).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Properties are values that you can obtain or set (such as the name or content of a node)</a:t>
            </a:r>
            <a:endParaRPr sz="2000"/>
          </a:p>
        </p:txBody>
      </p:sp>
      <p:sp>
        <p:nvSpPr>
          <p:cNvPr id="173" name="Google Shape;173;p1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175" name="Google Shape;175;p10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Function</a:t>
            </a:r>
            <a:endParaRPr/>
          </a:p>
        </p:txBody>
      </p:sp>
      <p:sp>
        <p:nvSpPr>
          <p:cNvPr id="181" name="Google Shape;181;p11"/>
          <p:cNvSpPr txBox="1"/>
          <p:nvPr>
            <p:ph idx="1" type="body"/>
          </p:nvPr>
        </p:nvSpPr>
        <p:spPr>
          <a:xfrm>
            <a:off x="981850" y="1459250"/>
            <a:ext cx="105297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1700">
                <a:solidFill>
                  <a:srgbClr val="000000"/>
                </a:solidFill>
              </a:rPr>
              <a:t>Some commonly used HTML DOM methods::</a:t>
            </a:r>
            <a:endParaRPr sz="2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700">
                <a:solidFill>
                  <a:srgbClr val="000000"/>
                </a:solidFill>
              </a:rPr>
              <a:t>GetElementById (id) - Get the node (element) with the specified id</a:t>
            </a:r>
            <a:endParaRPr sz="2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700">
                <a:solidFill>
                  <a:srgbClr val="000000"/>
                </a:solidFill>
              </a:rPr>
              <a:t>AppendChild (node) - Insert a new child node (element)</a:t>
            </a:r>
            <a:endParaRPr sz="2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700">
                <a:solidFill>
                  <a:srgbClr val="000000"/>
                </a:solidFill>
              </a:rPr>
              <a:t>RemoveChild (node) - Remove child nodes (elements)</a:t>
            </a:r>
            <a:endParaRPr sz="17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1700">
                <a:solidFill>
                  <a:srgbClr val="000000"/>
                </a:solidFill>
              </a:rPr>
              <a:t>Some commonly used HTML DOM attributes:</a:t>
            </a:r>
            <a:endParaRPr sz="2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700">
                <a:solidFill>
                  <a:srgbClr val="000000"/>
                </a:solidFill>
              </a:rPr>
              <a:t>InnerHTML - Text value of node (element)</a:t>
            </a:r>
            <a:endParaRPr sz="2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700">
                <a:solidFill>
                  <a:srgbClr val="000000"/>
                </a:solidFill>
              </a:rPr>
              <a:t>ParentNode - The parent node of a node (element)</a:t>
            </a:r>
            <a:endParaRPr sz="2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700">
                <a:solidFill>
                  <a:srgbClr val="000000"/>
                </a:solidFill>
              </a:rPr>
              <a:t>ChildNodes - Child nodes of nodes (elements)</a:t>
            </a:r>
            <a:endParaRPr sz="2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700">
                <a:solidFill>
                  <a:srgbClr val="000000"/>
                </a:solidFill>
              </a:rPr>
              <a:t>Attributes - Attribute nodes of nodes (elements)</a:t>
            </a:r>
            <a:endParaRPr sz="2900"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2" name="Google Shape;182;p11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184" name="Google Shape;184;p1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Access</a:t>
            </a:r>
            <a:endParaRPr/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1230449" y="1459246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When you want to access HTML elements with JavaScript, you have to find the elements first.</a:t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There are a couple of ways to do this: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Finding HTML elements by id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Finding HTML elements by tag name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Finding HTML elements by class name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Finding HTML elements by CSS selectors</a:t>
            </a:r>
            <a:endParaRPr sz="2000"/>
          </a:p>
        </p:txBody>
      </p:sp>
      <p:sp>
        <p:nvSpPr>
          <p:cNvPr id="191" name="Google Shape;191;p1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193" name="Google Shape;193;p1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Finding HTML Element by Id</a:t>
            </a:r>
            <a:endParaRPr/>
          </a:p>
        </p:txBody>
      </p:sp>
      <p:sp>
        <p:nvSpPr>
          <p:cNvPr id="199" name="Google Shape;199;p13"/>
          <p:cNvSpPr txBox="1"/>
          <p:nvPr>
            <p:ph idx="1" type="body"/>
          </p:nvPr>
        </p:nvSpPr>
        <p:spPr>
          <a:xfrm>
            <a:off x="1072662" y="16113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The easiest way to find an HTML element in the DOM, is by using the element id.</a:t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This example finds the element with id="intro":</a:t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Example：</a:t>
            </a:r>
            <a:endParaRPr i="0"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	</a:t>
            </a:r>
            <a:r>
              <a:rPr b="1" lang="en-US" sz="2000">
                <a:solidFill>
                  <a:srgbClr val="0000FF"/>
                </a:solidFill>
                <a:highlight>
                  <a:srgbClr val="FFFFFF"/>
                </a:highlight>
              </a:rPr>
              <a:t> var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</a:rPr>
              <a:t> myElement 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b="1" lang="en-US" sz="2000">
                <a:solidFill>
                  <a:srgbClr val="804000"/>
                </a:solidFill>
                <a:highlight>
                  <a:srgbClr val="FFFFFF"/>
                </a:highlight>
              </a:rPr>
              <a:t>document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</a:rPr>
              <a:t>getElementById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"intro"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0" sz="20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If the element is found, the method will return the element as an object (in myElement).</a:t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If the element is not found, myElement will contain null.</a:t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0" name="Google Shape;200;p1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202" name="Google Shape;202;p1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Finding HTML Element by Id</a:t>
            </a:r>
            <a:endParaRPr/>
          </a:p>
        </p:txBody>
      </p:sp>
      <p:sp>
        <p:nvSpPr>
          <p:cNvPr id="208" name="Google Shape;208;p14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210" name="Google Shape;210;p1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4556" y="1690825"/>
            <a:ext cx="9127688" cy="27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Finding HTML Elements by Tag Name</a:t>
            </a:r>
            <a:endParaRPr/>
          </a:p>
        </p:txBody>
      </p:sp>
      <p:sp>
        <p:nvSpPr>
          <p:cNvPr id="217" name="Google Shape;217;p15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1800">
                <a:solidFill>
                  <a:srgbClr val="000000"/>
                </a:solidFill>
              </a:rPr>
              <a:t>This example finds all &lt;p&gt; elements:</a:t>
            </a:r>
            <a:endParaRPr sz="18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1800">
                <a:solidFill>
                  <a:srgbClr val="000000"/>
                </a:solidFill>
              </a:rPr>
              <a:t>Example：</a:t>
            </a:r>
            <a:endParaRPr i="0" sz="18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</a:rPr>
              <a:t>	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</a:rPr>
              <a:t> 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x 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b="1" lang="en-US" sz="1800">
                <a:solidFill>
                  <a:srgbClr val="804000"/>
                </a:solidFill>
                <a:highlight>
                  <a:srgbClr val="FFFFFF"/>
                </a:highlight>
              </a:rPr>
              <a:t>document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getElementsByTagName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"p"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sz="18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0" sz="18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1800">
                <a:solidFill>
                  <a:srgbClr val="000000"/>
                </a:solidFill>
              </a:rPr>
              <a:t>This example finds the element with id="main", and then finds all &lt;p&gt; elements inside "main":</a:t>
            </a:r>
            <a:endParaRPr sz="18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1800">
                <a:solidFill>
                  <a:srgbClr val="000000"/>
                </a:solidFill>
              </a:rPr>
              <a:t>Example：</a:t>
            </a:r>
            <a:endParaRPr i="0" sz="18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</a:rPr>
              <a:t>	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</a:rPr>
              <a:t>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x 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b="1" lang="en-US" sz="1800">
                <a:solidFill>
                  <a:srgbClr val="804000"/>
                </a:solidFill>
                <a:highlight>
                  <a:srgbClr val="FFFFFF"/>
                </a:highlight>
              </a:rPr>
              <a:t>document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getElementById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"main"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sz="18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</a:rPr>
              <a:t>           </a:t>
            </a:r>
            <a:r>
              <a:rPr b="1" lang="en-US" sz="1800">
                <a:solidFill>
                  <a:srgbClr val="0000FF"/>
                </a:solidFill>
                <a:highlight>
                  <a:srgbClr val="FFFFFF"/>
                </a:highlight>
              </a:rPr>
              <a:t> var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y 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x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getElementsByTagName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800">
                <a:solidFill>
                  <a:srgbClr val="808080"/>
                </a:solidFill>
                <a:highlight>
                  <a:srgbClr val="FFFFFF"/>
                </a:highlight>
              </a:rPr>
              <a:t>"p"</a:t>
            </a:r>
            <a:r>
              <a:rPr b="1" lang="en-US" sz="180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sz="18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8" name="Google Shape;218;p1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220" name="Google Shape;220;p1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Finding HTML Element by Tag Name</a:t>
            </a:r>
            <a:endParaRPr/>
          </a:p>
        </p:txBody>
      </p:sp>
      <p:sp>
        <p:nvSpPr>
          <p:cNvPr id="226" name="Google Shape;226;p1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228" name="Google Shape;228;p1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05" y="1978427"/>
            <a:ext cx="9960990" cy="290114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6"/>
          <p:cNvSpPr txBox="1"/>
          <p:nvPr/>
        </p:nvSpPr>
        <p:spPr>
          <a:xfrm>
            <a:off x="1072662" y="1526849"/>
            <a:ext cx="60944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Finding HTML Elements by Class Name</a:t>
            </a:r>
            <a:endParaRPr/>
          </a:p>
        </p:txBody>
      </p:sp>
      <p:sp>
        <p:nvSpPr>
          <p:cNvPr id="236" name="Google Shape;236;p17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If you want to find all HTML elements with the same class name, use getElementsByClassName().</a:t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This example returns a list of all elements with class="intro".</a:t>
            </a:r>
            <a:endParaRPr sz="20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Example：</a:t>
            </a:r>
            <a:endParaRPr i="0" sz="20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</a:rPr>
              <a:t>	</a:t>
            </a:r>
            <a:r>
              <a:rPr b="1" lang="en-US" sz="2000">
                <a:solidFill>
                  <a:srgbClr val="0000FF"/>
                </a:solidFill>
                <a:highlight>
                  <a:srgbClr val="FFFFFF"/>
                </a:highlight>
              </a:rPr>
              <a:t> var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</a:rPr>
              <a:t> x 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b="1" lang="en-US" sz="2000">
                <a:solidFill>
                  <a:srgbClr val="804000"/>
                </a:solidFill>
                <a:highlight>
                  <a:srgbClr val="FFFFFF"/>
                </a:highlight>
              </a:rPr>
              <a:t>document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</a:rPr>
              <a:t>getElementsByClassName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"intro"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7" name="Google Shape;237;p1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239" name="Google Shape;239;p1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Finding HTML Element by Class Name</a:t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247" name="Google Shape;247;p1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1505" y="1699377"/>
            <a:ext cx="10055258" cy="296282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8"/>
          <p:cNvSpPr txBox="1"/>
          <p:nvPr/>
        </p:nvSpPr>
        <p:spPr>
          <a:xfrm>
            <a:off x="1336613" y="1383048"/>
            <a:ext cx="60944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/>
          <p:nvPr>
            <p:ph type="title"/>
          </p:nvPr>
        </p:nvSpPr>
        <p:spPr>
          <a:xfrm>
            <a:off x="422031" y="365125"/>
            <a:ext cx="10931631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Finding HTML Elements by CSS Selectors</a:t>
            </a:r>
            <a:endParaRPr/>
          </a:p>
        </p:txBody>
      </p:sp>
      <p:sp>
        <p:nvSpPr>
          <p:cNvPr id="255" name="Google Shape;255;p19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If you want to find all HTML elements that matches a specified CSS selector (id, class names, types, attributes, values of attributes, etc), use the querySelectorAll() method.</a:t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0" sz="20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</a:rPr>
              <a:t>This example returns a list of all &lt;p&gt; elements with class="intro" </a:t>
            </a:r>
            <a:endParaRPr sz="2000">
              <a:solidFill>
                <a:srgbClr val="000000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</a:rPr>
              <a:t>	</a:t>
            </a:r>
            <a:r>
              <a:rPr b="1" lang="en-US" sz="2000">
                <a:solidFill>
                  <a:srgbClr val="0000FF"/>
                </a:solidFill>
                <a:highlight>
                  <a:srgbClr val="FFFFFF"/>
                </a:highlight>
              </a:rPr>
              <a:t> var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</a:rPr>
              <a:t> x 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b="1" lang="en-US" sz="2000">
                <a:solidFill>
                  <a:srgbClr val="804000"/>
                </a:solidFill>
                <a:highlight>
                  <a:srgbClr val="FFFFFF"/>
                </a:highlight>
              </a:rPr>
              <a:t>document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</a:rPr>
              <a:t>querySelectorAll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2000">
                <a:solidFill>
                  <a:srgbClr val="808080"/>
                </a:solidFill>
                <a:highlight>
                  <a:srgbClr val="FFFFFF"/>
                </a:highlight>
              </a:rPr>
              <a:t>"p.intro"</a:t>
            </a:r>
            <a:r>
              <a:rPr b="1" lang="en-US" sz="200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6" name="Google Shape;256;p1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258" name="Google Shape;258;p1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/>
          <p:nvPr>
            <p:ph type="title"/>
          </p:nvPr>
        </p:nvSpPr>
        <p:spPr>
          <a:xfrm>
            <a:off x="422031" y="365125"/>
            <a:ext cx="10931631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Finding HTML Element by CSS Selectors</a:t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266" name="Google Shape;266;p20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8404" y="1842328"/>
            <a:ext cx="10055258" cy="286854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1185783" y="1453099"/>
            <a:ext cx="60944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Modify</a:t>
            </a:r>
            <a:endParaRPr/>
          </a:p>
        </p:txBody>
      </p:sp>
      <p:sp>
        <p:nvSpPr>
          <p:cNvPr id="274" name="Google Shape;274;p21"/>
          <p:cNvSpPr txBox="1"/>
          <p:nvPr>
            <p:ph idx="1" type="body"/>
          </p:nvPr>
        </p:nvSpPr>
        <p:spPr>
          <a:xfrm>
            <a:off x="1230449" y="1459246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Modifying HTML means changing elements, attributes, styles, and events.</a:t>
            </a:r>
            <a:endParaRPr sz="20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Modifying the HTML DOM means many different aspects::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Change </a:t>
            </a:r>
            <a:r>
              <a:rPr i="0" lang="en-US" sz="2000">
                <a:solidFill>
                  <a:srgbClr val="000000"/>
                </a:solidFill>
              </a:rPr>
              <a:t>HTML content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Change CSS style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Change HTML properties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Create new HTML elements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Delete existing HTML elements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Change event (handler)</a:t>
            </a:r>
            <a:endParaRPr sz="2000"/>
          </a:p>
        </p:txBody>
      </p:sp>
      <p:sp>
        <p:nvSpPr>
          <p:cNvPr id="275" name="Google Shape;275;p21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277" name="Google Shape;277;p2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Create HTML Content</a:t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285" name="Google Shape;285;p2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940" y="1690825"/>
            <a:ext cx="10851029" cy="3081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 txBox="1"/>
          <p:nvPr>
            <p:ph type="title"/>
          </p:nvPr>
        </p:nvSpPr>
        <p:spPr>
          <a:xfrm>
            <a:off x="1107900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Change HTML Style</a:t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294" name="Google Shape;294;p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2156" y="1703116"/>
            <a:ext cx="9127688" cy="287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"/>
          <p:cNvSpPr txBox="1"/>
          <p:nvPr>
            <p:ph type="title"/>
          </p:nvPr>
        </p:nvSpPr>
        <p:spPr>
          <a:xfrm>
            <a:off x="1107900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Create new HTML elements</a:t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303" name="Google Shape;303;p2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1856" y="1690825"/>
            <a:ext cx="9433088" cy="3411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 txBox="1"/>
          <p:nvPr>
            <p:ph type="title"/>
          </p:nvPr>
        </p:nvSpPr>
        <p:spPr>
          <a:xfrm>
            <a:off x="1107900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Delete existing HTML elements</a:t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312" name="Google Shape;312;p2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5618" y="1531420"/>
            <a:ext cx="9923282" cy="3438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Event</a:t>
            </a:r>
            <a:endParaRPr/>
          </a:p>
        </p:txBody>
      </p:sp>
      <p:sp>
        <p:nvSpPr>
          <p:cNvPr id="319" name="Google Shape;319;p26"/>
          <p:cNvSpPr txBox="1"/>
          <p:nvPr>
            <p:ph idx="1" type="body"/>
          </p:nvPr>
        </p:nvSpPr>
        <p:spPr>
          <a:xfrm>
            <a:off x="1230449" y="1459246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1900">
                <a:solidFill>
                  <a:srgbClr val="000000"/>
                </a:solidFill>
              </a:rPr>
              <a:t>HTML DOM allows JavaScript to react to HTML events. When an event occurs, JavaScript can be executed, such as when a user clicks on an HTML element.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900">
                <a:solidFill>
                  <a:srgbClr val="000000"/>
                </a:solidFill>
              </a:rPr>
              <a:t>When the user clicks the mouse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900">
                <a:solidFill>
                  <a:srgbClr val="000000"/>
                </a:solidFill>
              </a:rPr>
              <a:t>When the webpage is loaded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900">
                <a:solidFill>
                  <a:srgbClr val="000000"/>
                </a:solidFill>
              </a:rPr>
              <a:t>When the image is already loaded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900">
                <a:solidFill>
                  <a:srgbClr val="000000"/>
                </a:solidFill>
              </a:rPr>
              <a:t>When the mouse moves over an element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900">
                <a:solidFill>
                  <a:srgbClr val="000000"/>
                </a:solidFill>
              </a:rPr>
              <a:t>When the input field is changed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900">
                <a:solidFill>
                  <a:srgbClr val="000000"/>
                </a:solidFill>
              </a:rPr>
              <a:t>When an HTML form is submitted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i="0" lang="en-US" sz="1900">
                <a:solidFill>
                  <a:srgbClr val="000000"/>
                </a:solidFill>
              </a:rPr>
              <a:t>When the user triggers a button</a:t>
            </a:r>
            <a:endParaRPr sz="1900"/>
          </a:p>
        </p:txBody>
      </p:sp>
      <p:sp>
        <p:nvSpPr>
          <p:cNvPr id="320" name="Google Shape;320;p2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322" name="Google Shape;322;p2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Event</a:t>
            </a:r>
            <a:endParaRPr/>
          </a:p>
        </p:txBody>
      </p:sp>
      <p:sp>
        <p:nvSpPr>
          <p:cNvPr id="328" name="Google Shape;328;p2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330" name="Google Shape;330;p2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783" y="1847850"/>
            <a:ext cx="61912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0559" y="2093732"/>
            <a:ext cx="280035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0559" y="3511052"/>
            <a:ext cx="271462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/>
          <p:nvPr/>
        </p:nvSpPr>
        <p:spPr>
          <a:xfrm>
            <a:off x="7268270" y="3083993"/>
            <a:ext cx="848208" cy="34500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136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838338" y="1461560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the user clicks the mouse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Event</a:t>
            </a:r>
            <a:endParaRPr/>
          </a:p>
        </p:txBody>
      </p:sp>
      <p:sp>
        <p:nvSpPr>
          <p:cNvPr id="341" name="Google Shape;341;p28"/>
          <p:cNvSpPr txBox="1"/>
          <p:nvPr>
            <p:ph idx="1" type="body"/>
          </p:nvPr>
        </p:nvSpPr>
        <p:spPr>
          <a:xfrm>
            <a:off x="1230449" y="1459246"/>
            <a:ext cx="10281000" cy="1481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0" lang="en-US" sz="2000">
                <a:solidFill>
                  <a:srgbClr val="000000"/>
                </a:solidFill>
              </a:rPr>
              <a:t>When the user enters or leaves the page, the </a:t>
            </a:r>
            <a:r>
              <a:rPr b="1" i="0" lang="en-US" sz="2000">
                <a:solidFill>
                  <a:srgbClr val="000000"/>
                </a:solidFill>
              </a:rPr>
              <a:t>onload</a:t>
            </a:r>
            <a:r>
              <a:rPr i="0" lang="en-US" sz="2000">
                <a:solidFill>
                  <a:srgbClr val="000000"/>
                </a:solidFill>
              </a:rPr>
              <a:t> and </a:t>
            </a:r>
            <a:r>
              <a:rPr b="1" i="0" lang="en-US" sz="2000">
                <a:solidFill>
                  <a:srgbClr val="000000"/>
                </a:solidFill>
              </a:rPr>
              <a:t>onload</a:t>
            </a:r>
            <a:r>
              <a:rPr i="0" lang="en-US" sz="2000">
                <a:solidFill>
                  <a:srgbClr val="000000"/>
                </a:solidFill>
              </a:rPr>
              <a:t> events are triggered.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The onload event can be used to check the browser type and version of visitors, in order to load different versions of web pages based on this information.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The onload and onload events can be used to handle cookies.</a:t>
            </a:r>
            <a:endParaRPr sz="2000"/>
          </a:p>
        </p:txBody>
      </p:sp>
      <p:sp>
        <p:nvSpPr>
          <p:cNvPr id="342" name="Google Shape;342;p2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344" name="Google Shape;344;p2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8"/>
          <p:cNvSpPr txBox="1"/>
          <p:nvPr/>
        </p:nvSpPr>
        <p:spPr>
          <a:xfrm>
            <a:off x="1326289" y="3093561"/>
            <a:ext cx="10281000" cy="1481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onchange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Events are commonly used for validating input fields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onmouseover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onmouseout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events can be used to trigger functions when the mouse pointer moves to or from an element.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HTML DOM Summary</a:t>
            </a:r>
            <a:endParaRPr/>
          </a:p>
        </p:txBody>
      </p:sp>
      <p:sp>
        <p:nvSpPr>
          <p:cNvPr id="351" name="Google Shape;351;p29"/>
          <p:cNvSpPr txBox="1"/>
          <p:nvPr>
            <p:ph idx="1" type="body"/>
          </p:nvPr>
        </p:nvSpPr>
        <p:spPr>
          <a:xfrm>
            <a:off x="1230450" y="1459253"/>
            <a:ext cx="10281000" cy="25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0"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This chapter has already explained how to use HTML DOM to enhance the dynamic interactivity of a website.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 sz="2000">
                <a:solidFill>
                  <a:srgbClr val="000000"/>
                </a:solidFill>
              </a:rPr>
              <a:t>You have learned how to manipulate HTML elements to respond to different scenarios.</a:t>
            </a:r>
            <a:endParaRPr sz="2000"/>
          </a:p>
        </p:txBody>
      </p:sp>
      <p:sp>
        <p:nvSpPr>
          <p:cNvPr id="352" name="Google Shape;352;p2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descr="HTML" id="354" name="Google Shape;354;p2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