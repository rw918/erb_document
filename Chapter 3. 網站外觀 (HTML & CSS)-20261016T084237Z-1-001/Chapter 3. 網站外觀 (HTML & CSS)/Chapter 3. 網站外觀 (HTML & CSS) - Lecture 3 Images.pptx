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iUkvf55iqJyYYSuiOb0n5BmcgM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444FE41-F0C5-4A6D-8C08-A44FB6551B14}">
  <a:tblStyle styleId="{9444FE41-F0C5-4A6D-8C08-A44FB6551B1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Welcome to this M1 in SQL Course. In this first chapter of the course, we are going to do an introduction of databases and relational databases.</a:t>
            </a:r>
            <a:endParaRPr/>
          </a:p>
        </p:txBody>
      </p:sp>
      <p:sp>
        <p:nvSpPr>
          <p:cNvPr id="97" name="Google Shape;9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Without further adieu, Let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’</a:t>
            </a:r>
            <a:r>
              <a:rPr lang="en-US" sz="1800"/>
              <a:t>s look at the course introduction so that you will know what you are going to learn.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" name="Google Shape;17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9" name="Google Shape;18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2" name="Google Shape;24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5" name="Google Shape;25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Without further adieu, Let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’</a:t>
            </a:r>
            <a:r>
              <a:rPr lang="en-US" sz="1800"/>
              <a:t>s look at the course introduction so that you will know what you are going to learn.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9" name="Google Shape;26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9" name="Google Shape;32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0" name="Google Shape;35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3" name="Google Shape;36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2f864c99cea_1_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2f864c99cea_1_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g2f864c99cea_1_4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2f864c99cea_1_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2f864c99cea_1_8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g2f864c99cea_1_8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g2f864c99cea_1_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g2f864c99cea_1_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g2f864c99cea_1_8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2f864c99cea_1_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g2f864c99cea_1_15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" name="Google Shape;27;g2f864c99cea_1_15"/>
          <p:cNvSpPr txBox="1"/>
          <p:nvPr>
            <p:ph idx="1" type="body"/>
          </p:nvPr>
        </p:nvSpPr>
        <p:spPr>
          <a:xfrm>
            <a:off x="664581" y="1825625"/>
            <a:ext cx="3517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g2f864c99cea_1_15"/>
          <p:cNvSpPr txBox="1"/>
          <p:nvPr>
            <p:ph idx="2" type="body"/>
          </p:nvPr>
        </p:nvSpPr>
        <p:spPr>
          <a:xfrm>
            <a:off x="4320251" y="1825625"/>
            <a:ext cx="3517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g2f864c99cea_1_15"/>
          <p:cNvSpPr txBox="1"/>
          <p:nvPr>
            <p:ph idx="3" type="body"/>
          </p:nvPr>
        </p:nvSpPr>
        <p:spPr>
          <a:xfrm>
            <a:off x="7975921" y="1825625"/>
            <a:ext cx="3517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2f864c99cea_1_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g2f864c99cea_1_21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g2f864c99cea_1_21"/>
          <p:cNvSpPr txBox="1"/>
          <p:nvPr>
            <p:ph idx="1" type="body"/>
          </p:nvPr>
        </p:nvSpPr>
        <p:spPr>
          <a:xfrm>
            <a:off x="1193171" y="1954477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g2f864c99cea_1_21"/>
          <p:cNvSpPr txBox="1"/>
          <p:nvPr>
            <p:ph idx="2" type="body"/>
          </p:nvPr>
        </p:nvSpPr>
        <p:spPr>
          <a:xfrm>
            <a:off x="4848841" y="1954477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g2f864c99cea_1_21"/>
          <p:cNvSpPr txBox="1"/>
          <p:nvPr>
            <p:ph idx="3" type="body"/>
          </p:nvPr>
        </p:nvSpPr>
        <p:spPr>
          <a:xfrm>
            <a:off x="8504511" y="1954477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g2f864c99cea_1_21"/>
          <p:cNvSpPr txBox="1"/>
          <p:nvPr>
            <p:ph idx="4" type="body"/>
          </p:nvPr>
        </p:nvSpPr>
        <p:spPr>
          <a:xfrm>
            <a:off x="1193171" y="4117413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g2f864c99cea_1_21"/>
          <p:cNvSpPr txBox="1"/>
          <p:nvPr>
            <p:ph idx="5" type="body"/>
          </p:nvPr>
        </p:nvSpPr>
        <p:spPr>
          <a:xfrm>
            <a:off x="4848841" y="4117413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g2f864c99cea_1_21"/>
          <p:cNvSpPr txBox="1"/>
          <p:nvPr>
            <p:ph idx="6" type="body"/>
          </p:nvPr>
        </p:nvSpPr>
        <p:spPr>
          <a:xfrm>
            <a:off x="8504511" y="4117413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2f864c99cea_1_3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g2f864c99cea_1_3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g2f864c99cea_1_3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g2f864c99cea_1_3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1_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2f864c99cea_1_36"/>
          <p:cNvSpPr txBox="1"/>
          <p:nvPr>
            <p:ph idx="12" type="sldNum"/>
          </p:nvPr>
        </p:nvSpPr>
        <p:spPr>
          <a:xfrm>
            <a:off x="145433" y="194699"/>
            <a:ext cx="2409600" cy="16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color">
  <p:cSld name="Blank color">
    <p:bg>
      <p:bgPr>
        <a:solidFill>
          <a:schemeClr val="accen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2f864c99cea_1_38"/>
          <p:cNvSpPr txBox="1"/>
          <p:nvPr>
            <p:ph idx="12" type="sldNum"/>
          </p:nvPr>
        </p:nvSpPr>
        <p:spPr>
          <a:xfrm>
            <a:off x="145433" y="194699"/>
            <a:ext cx="2409600" cy="16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l Slide">
  <p:cSld name="General Slide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864c99cea_1_41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g2f864c99cea_1_41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3" name="Google Shape;53;g2f864c99cea_1_41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f864c99cea_1_45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2f864c99cea_1_45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09297"/>
              </a:buClr>
              <a:buSzPts val="2400"/>
              <a:buNone/>
              <a:defRPr sz="2400">
                <a:solidFill>
                  <a:srgbClr val="909297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2000"/>
              <a:buNone/>
              <a:defRPr sz="2000">
                <a:solidFill>
                  <a:srgbClr val="909297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800"/>
              <a:buNone/>
              <a:defRPr sz="1800">
                <a:solidFill>
                  <a:srgbClr val="909297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9pPr>
          </a:lstStyle>
          <a:p/>
        </p:txBody>
      </p:sp>
      <p:sp>
        <p:nvSpPr>
          <p:cNvPr id="57" name="Google Shape;57;g2f864c99cea_1_4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g2f864c99cea_1_4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g2f864c99cea_1_45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f864c99cea_1_51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g2f864c99cea_1_51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3" name="Google Shape;63;g2f864c99cea_1_51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g2f864c99cea_1_51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5" name="Google Shape;65;g2f864c99cea_1_51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g2f864c99cea_1_5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g2f864c99cea_1_5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g2f864c99cea_1_51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f864c99cea_1_60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g2f864c99cea_1_60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2" name="Google Shape;72;g2f864c99cea_1_60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3" name="Google Shape;73;g2f864c99cea_1_6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g2f864c99cea_1_6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g2f864c99cea_1_6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f864c99cea_1_67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g2f864c99cea_1_67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g2f864c99cea_1_67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0" name="Google Shape;80;g2f864c99cea_1_6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g2f864c99cea_1_6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g2f864c99cea_1_67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f864c99cea_1_7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g2f864c99cea_1_74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g2f864c99cea_1_7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g2f864c99cea_1_7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g2f864c99cea_1_74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f864c99cea_1_80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g2f864c99cea_1_80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g2f864c99cea_1_8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3" name="Google Shape;93;g2f864c99cea_1_8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4" name="Google Shape;94;g2f864c99cea_1_8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2f864c99cea_1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g2f864c99cea_1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g2f864c99cea_1_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4801" y="1641414"/>
            <a:ext cx="6027751" cy="3773784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"/>
          <p:cNvSpPr txBox="1"/>
          <p:nvPr>
            <p:ph type="title"/>
          </p:nvPr>
        </p:nvSpPr>
        <p:spPr>
          <a:xfrm>
            <a:off x="6872875" y="2344575"/>
            <a:ext cx="44721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Lecture 3</a:t>
            </a:r>
            <a:endParaRPr b="1"/>
          </a:p>
        </p:txBody>
      </p:sp>
      <p:sp>
        <p:nvSpPr>
          <p:cNvPr id="101" name="Google Shape;101;p1"/>
          <p:cNvSpPr/>
          <p:nvPr/>
        </p:nvSpPr>
        <p:spPr>
          <a:xfrm>
            <a:off x="10310420" y="6331352"/>
            <a:ext cx="1704000" cy="416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"/>
          <p:cNvSpPr txBox="1"/>
          <p:nvPr>
            <p:ph idx="1" type="body"/>
          </p:nvPr>
        </p:nvSpPr>
        <p:spPr>
          <a:xfrm>
            <a:off x="7725075" y="3774200"/>
            <a:ext cx="3619500" cy="5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Images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" name="Google Shape;103;p1"/>
          <p:cNvCxnSpPr/>
          <p:nvPr/>
        </p:nvCxnSpPr>
        <p:spPr>
          <a:xfrm>
            <a:off x="7707700" y="3532925"/>
            <a:ext cx="3619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5625" y="920325"/>
            <a:ext cx="4887676" cy="4887676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 txBox="1"/>
          <p:nvPr>
            <p:ph type="title"/>
          </p:nvPr>
        </p:nvSpPr>
        <p:spPr>
          <a:xfrm>
            <a:off x="7498700" y="1552500"/>
            <a:ext cx="3445200" cy="7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 G E N D A</a:t>
            </a:r>
            <a:endParaRPr b="1" sz="4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 txBox="1"/>
          <p:nvPr>
            <p:ph idx="1" type="body"/>
          </p:nvPr>
        </p:nvSpPr>
        <p:spPr>
          <a:xfrm>
            <a:off x="7212525" y="2861600"/>
            <a:ext cx="3731400" cy="18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lang="en-US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Displaying Images in HTML</a:t>
            </a:r>
            <a:endParaRPr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lang="en-US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Image Tag Variations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1" name="Google Shape;111;p2"/>
          <p:cNvCxnSpPr/>
          <p:nvPr/>
        </p:nvCxnSpPr>
        <p:spPr>
          <a:xfrm>
            <a:off x="7394800" y="2431075"/>
            <a:ext cx="31518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" name="Google Shape;112;p2"/>
          <p:cNvCxnSpPr/>
          <p:nvPr/>
        </p:nvCxnSpPr>
        <p:spPr>
          <a:xfrm>
            <a:off x="7394800" y="1471625"/>
            <a:ext cx="31518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" name="Google Shape;113;p2"/>
          <p:cNvCxnSpPr/>
          <p:nvPr/>
        </p:nvCxnSpPr>
        <p:spPr>
          <a:xfrm>
            <a:off x="7394800" y="5242200"/>
            <a:ext cx="31518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Displaying Images in HTML</a:t>
            </a:r>
            <a:endParaRPr b="1"/>
          </a:p>
        </p:txBody>
      </p:sp>
      <p:pic>
        <p:nvPicPr>
          <p:cNvPr id="120" name="Google Shape;12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93575" y="6247164"/>
            <a:ext cx="1437025" cy="4064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1" name="Google Shape;121;p3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122" name="Google Shape;122;p3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123" name="Google Shape;123;p3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4" name="Google Shape;124;p3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125" name="Google Shape;125;p3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" name="Google Shape;126;p3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" name="Google Shape;127;p3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" name="Google Shape;128;p3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29" name="Google Shape;129;p3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3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1" name="Google Shape;131;p3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132" name="Google Shape;132;p3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3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4" name="Google Shape;134;p3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135" name="Google Shape;135;p3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" name="Google Shape;136;p3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7" name="Google Shape;137;p3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138" name="Google Shape;138;p3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" name="Google Shape;139;p3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" name="Google Shape;140;p3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1" name="Google Shape;141;p3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142" name="Google Shape;142;p3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43;p3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" name="Google Shape;144;p3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45;p3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p3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" name="Google Shape;147;p3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8" name="Google Shape;148;p3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149" name="Google Shape;149;p3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" name="Google Shape;150;p3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" name="Google Shape;151;p3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" name="Google Shape;152;p3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153;p3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" name="Google Shape;154;p3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" name="Google Shape;155;p3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" name="Google Shape;156;p3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p3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58;p3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" name="Google Shape;159;p3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" name="Google Shape;160;p3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" name="Google Shape;161;p3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" name="Google Shape;162;p3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3" name="Google Shape;163;p3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164" name="Google Shape;164;p3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3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3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p3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68;p3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3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3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3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72;p3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3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3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"/>
          <p:cNvSpPr/>
          <p:nvPr/>
        </p:nvSpPr>
        <p:spPr>
          <a:xfrm>
            <a:off x="0" y="0"/>
            <a:ext cx="12192000" cy="1426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4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4"/>
          <p:cNvSpPr txBox="1"/>
          <p:nvPr>
            <p:ph idx="1" type="body"/>
          </p:nvPr>
        </p:nvSpPr>
        <p:spPr>
          <a:xfrm>
            <a:off x="1480450" y="1550500"/>
            <a:ext cx="9920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An image is denoted by the </a:t>
            </a:r>
            <a:r>
              <a:rPr lang="en-US" sz="2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&lt;img&gt; </a:t>
            </a: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2" name="Google Shape;182;p4"/>
          <p:cNvGraphicFramePr/>
          <p:nvPr/>
        </p:nvGraphicFramePr>
        <p:xfrm>
          <a:off x="1772000" y="3722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{9444FE41-F0C5-4A6D-8C08-A44FB6551B14}</a:tableStyleId>
              </a:tblPr>
              <a:tblGrid>
                <a:gridCol w="4839925"/>
                <a:gridCol w="4788925"/>
              </a:tblGrid>
              <a:tr h="396200">
                <a:tc>
                  <a:txBody>
                    <a:bodyPr/>
                    <a:lstStyle/>
                    <a:p>
                      <a:pPr indent="0" lvl="0" marL="45720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lang="en-US" sz="1650" u="none" cap="none" strike="noStrike">
                          <a:solidFill>
                            <a:srgbClr val="0000C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</a:t>
                      </a:r>
                      <a:r>
                        <a:rPr lang="en-US" sz="1650" u="none" cap="none" strike="noStrike">
                          <a:solidFill>
                            <a:srgbClr val="A52A2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img</a:t>
                      </a:r>
                      <a:r>
                        <a:rPr lang="en-US" sz="1650" u="none" cap="none" strike="noStrike">
                          <a:solidFill>
                            <a:srgbClr val="0000C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&gt;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This is the tag used to define images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/>
                </a:tc>
              </a:tr>
              <a:tr h="609575">
                <a:tc>
                  <a:txBody>
                    <a:bodyPr/>
                    <a:lstStyle/>
                    <a:p>
                      <a:pPr indent="0" lvl="0" marL="45720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lang="en-US" sz="1650" u="none" cap="none" strike="noStrike">
                          <a:solidFill>
                            <a:srgbClr val="FF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src</a:t>
                      </a:r>
                      <a:r>
                        <a:rPr lang="en-US" sz="1650" u="none" cap="none" strike="noStrike">
                          <a:solidFill>
                            <a:srgbClr val="0000C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="</a:t>
                      </a:r>
                      <a:r>
                        <a:rPr i="1" lang="en-US" sz="1650" u="none" cap="none" strike="noStrike">
                          <a:solidFill>
                            <a:srgbClr val="0000C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url</a:t>
                      </a:r>
                      <a:r>
                        <a:rPr lang="en-US" sz="1650" u="none" cap="none" strike="noStrike">
                          <a:solidFill>
                            <a:srgbClr val="0000C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This defines the path/location of the image. This can be a url or a path to the image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/>
                </a:tc>
              </a:tr>
              <a:tr h="1451125">
                <a:tc>
                  <a:txBody>
                    <a:bodyPr/>
                    <a:lstStyle/>
                    <a:p>
                      <a:pPr indent="0" lvl="0" marL="45720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lang="en-US" sz="1650" u="none" cap="none" strike="noStrike">
                          <a:solidFill>
                            <a:srgbClr val="FF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alt</a:t>
                      </a:r>
                      <a:r>
                        <a:rPr lang="en-US" sz="1650" u="none" cap="none" strike="noStrike">
                          <a:solidFill>
                            <a:srgbClr val="0000C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=”Alternate Text”</a:t>
                      </a:r>
                      <a:endParaRPr i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The alt attribute provides alternate text for the image. This is in the case that the image cannot be viewed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83" name="Google Shape;183;p4"/>
          <p:cNvSpPr txBox="1"/>
          <p:nvPr>
            <p:ph type="title"/>
          </p:nvPr>
        </p:nvSpPr>
        <p:spPr>
          <a:xfrm>
            <a:off x="2635675" y="259675"/>
            <a:ext cx="8185800" cy="8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Images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" name="Google Shape;18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8241" y="259713"/>
            <a:ext cx="843226" cy="843226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4"/>
          <p:cNvSpPr txBox="1"/>
          <p:nvPr>
            <p:ph idx="1" type="body"/>
          </p:nvPr>
        </p:nvSpPr>
        <p:spPr>
          <a:xfrm>
            <a:off x="3276075" y="2545825"/>
            <a:ext cx="66207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5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5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img</a:t>
            </a:r>
            <a:r>
              <a:rPr lang="en-US" sz="165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src</a:t>
            </a:r>
            <a:r>
              <a:rPr lang="en-US" sz="165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="</a:t>
            </a:r>
            <a:r>
              <a:rPr i="1" lang="en-US" sz="165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url</a:t>
            </a:r>
            <a:r>
              <a:rPr lang="en-US" sz="165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" </a:t>
            </a:r>
            <a:r>
              <a:rPr lang="en-US" sz="165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alt</a:t>
            </a:r>
            <a:r>
              <a:rPr lang="en-US" sz="165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=”Alternate Text”&gt;</a:t>
            </a:r>
            <a:endParaRPr sz="2400"/>
          </a:p>
        </p:txBody>
      </p:sp>
      <p:pic>
        <p:nvPicPr>
          <p:cNvPr id="186" name="Google Shape;186;p4"/>
          <p:cNvPicPr preferRelativeResize="0"/>
          <p:nvPr/>
        </p:nvPicPr>
        <p:blipFill rotWithShape="1">
          <a:blip r:embed="rId4">
            <a:alphaModFix/>
          </a:blip>
          <a:srcRect b="0" l="0" r="0" t="42709"/>
          <a:stretch/>
        </p:blipFill>
        <p:spPr>
          <a:xfrm>
            <a:off x="3162300" y="5232924"/>
            <a:ext cx="2677744" cy="84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"/>
          <p:cNvSpPr/>
          <p:nvPr/>
        </p:nvSpPr>
        <p:spPr>
          <a:xfrm>
            <a:off x="0" y="0"/>
            <a:ext cx="12192000" cy="1426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5"/>
          <p:cNvSpPr txBox="1"/>
          <p:nvPr>
            <p:ph type="title"/>
          </p:nvPr>
        </p:nvSpPr>
        <p:spPr>
          <a:xfrm>
            <a:off x="2635675" y="259675"/>
            <a:ext cx="8185800" cy="8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Images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8241" y="259713"/>
            <a:ext cx="843226" cy="843226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5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 txBox="1"/>
          <p:nvPr>
            <p:ph idx="1" type="body"/>
          </p:nvPr>
        </p:nvSpPr>
        <p:spPr>
          <a:xfrm>
            <a:off x="1480450" y="1550500"/>
            <a:ext cx="10711500" cy="14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Image in the same folder as HTML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6" name="Google Shape;19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35775" y="3604600"/>
            <a:ext cx="1705750" cy="2117674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5"/>
          <p:cNvSpPr txBox="1"/>
          <p:nvPr>
            <p:ph idx="1" type="body"/>
          </p:nvPr>
        </p:nvSpPr>
        <p:spPr>
          <a:xfrm>
            <a:off x="2135825" y="5859675"/>
            <a:ext cx="17058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 Parrot.jpg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5"/>
          <p:cNvSpPr txBox="1"/>
          <p:nvPr>
            <p:ph idx="1" type="body"/>
          </p:nvPr>
        </p:nvSpPr>
        <p:spPr>
          <a:xfrm>
            <a:off x="1480450" y="2131950"/>
            <a:ext cx="9254700" cy="10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If the image is located in the same folder as the HTML file, we have to just input the image name in “src” in order to display the image </a:t>
            </a:r>
            <a:endParaRPr sz="1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4268600" y="4469825"/>
            <a:ext cx="843300" cy="26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E47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5"/>
          <p:cNvSpPr txBox="1"/>
          <p:nvPr>
            <p:ph idx="1" type="body"/>
          </p:nvPr>
        </p:nvSpPr>
        <p:spPr>
          <a:xfrm>
            <a:off x="5358850" y="4387138"/>
            <a:ext cx="29547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How to display this?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"/>
          <p:cNvSpPr/>
          <p:nvPr/>
        </p:nvSpPr>
        <p:spPr>
          <a:xfrm>
            <a:off x="0" y="0"/>
            <a:ext cx="12192000" cy="1426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6"/>
          <p:cNvSpPr txBox="1"/>
          <p:nvPr>
            <p:ph type="title"/>
          </p:nvPr>
        </p:nvSpPr>
        <p:spPr>
          <a:xfrm>
            <a:off x="2635675" y="259675"/>
            <a:ext cx="8185800" cy="8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Images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7" name="Google Shape;20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8241" y="259713"/>
            <a:ext cx="843226" cy="843226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6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 txBox="1"/>
          <p:nvPr>
            <p:ph idx="1" type="body"/>
          </p:nvPr>
        </p:nvSpPr>
        <p:spPr>
          <a:xfrm>
            <a:off x="1480450" y="1550500"/>
            <a:ext cx="107115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Image in the same folder as HTML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0" name="Google Shape;21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35775" y="3604600"/>
            <a:ext cx="1705750" cy="2117674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6"/>
          <p:cNvSpPr txBox="1"/>
          <p:nvPr>
            <p:ph idx="1" type="body"/>
          </p:nvPr>
        </p:nvSpPr>
        <p:spPr>
          <a:xfrm>
            <a:off x="2135825" y="5859675"/>
            <a:ext cx="17058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 Parrot.jpg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6"/>
          <p:cNvSpPr txBox="1"/>
          <p:nvPr>
            <p:ph idx="1" type="body"/>
          </p:nvPr>
        </p:nvSpPr>
        <p:spPr>
          <a:xfrm>
            <a:off x="5538975" y="4387138"/>
            <a:ext cx="58398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1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21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img</a:t>
            </a:r>
            <a:r>
              <a:rPr lang="en-US" sz="21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src</a:t>
            </a:r>
            <a:r>
              <a:rPr lang="en-US" sz="21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="</a:t>
            </a:r>
            <a:r>
              <a:rPr i="1" lang="en-US" sz="21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parrot.jpg</a:t>
            </a:r>
            <a:r>
              <a:rPr lang="en-US" sz="21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" </a:t>
            </a:r>
            <a:r>
              <a:rPr lang="en-US" sz="21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alt</a:t>
            </a:r>
            <a:r>
              <a:rPr lang="en-US" sz="21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=”parrot”&gt;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6"/>
          <p:cNvSpPr txBox="1"/>
          <p:nvPr>
            <p:ph idx="1" type="body"/>
          </p:nvPr>
        </p:nvSpPr>
        <p:spPr>
          <a:xfrm>
            <a:off x="1480450" y="2131950"/>
            <a:ext cx="9254700" cy="10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If the image is located in the same folder as the HTML file, we have to just input the image name in “src” in order to display the image </a:t>
            </a:r>
            <a:endParaRPr sz="1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4268600" y="4469825"/>
            <a:ext cx="843300" cy="26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E475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7"/>
          <p:cNvSpPr/>
          <p:nvPr/>
        </p:nvSpPr>
        <p:spPr>
          <a:xfrm>
            <a:off x="0" y="0"/>
            <a:ext cx="12192000" cy="1426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7"/>
          <p:cNvSpPr txBox="1"/>
          <p:nvPr>
            <p:ph type="title"/>
          </p:nvPr>
        </p:nvSpPr>
        <p:spPr>
          <a:xfrm>
            <a:off x="2635675" y="259675"/>
            <a:ext cx="8185800" cy="8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Images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8241" y="259713"/>
            <a:ext cx="843226" cy="843226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7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 txBox="1"/>
          <p:nvPr>
            <p:ph idx="1" type="body"/>
          </p:nvPr>
        </p:nvSpPr>
        <p:spPr>
          <a:xfrm>
            <a:off x="1480450" y="1561200"/>
            <a:ext cx="10711500" cy="7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Explanation</a:t>
            </a:r>
            <a:endParaRPr sz="2400"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0">
              <a:solidFill>
                <a:srgbClr val="000000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1400"/>
          </a:p>
        </p:txBody>
      </p:sp>
      <p:pic>
        <p:nvPicPr>
          <p:cNvPr id="224" name="Google Shape;22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0788" y="2512225"/>
            <a:ext cx="6124575" cy="232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7"/>
          <p:cNvSpPr txBox="1"/>
          <p:nvPr>
            <p:ph idx="1" type="body"/>
          </p:nvPr>
        </p:nvSpPr>
        <p:spPr>
          <a:xfrm>
            <a:off x="1750800" y="5004350"/>
            <a:ext cx="6124500" cy="5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(Image in the same directory as html)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8"/>
          <p:cNvSpPr/>
          <p:nvPr/>
        </p:nvSpPr>
        <p:spPr>
          <a:xfrm>
            <a:off x="0" y="0"/>
            <a:ext cx="12192000" cy="1426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8"/>
          <p:cNvSpPr txBox="1"/>
          <p:nvPr>
            <p:ph type="title"/>
          </p:nvPr>
        </p:nvSpPr>
        <p:spPr>
          <a:xfrm>
            <a:off x="2635675" y="259675"/>
            <a:ext cx="8185800" cy="8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Images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2" name="Google Shape;23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8241" y="259713"/>
            <a:ext cx="843226" cy="843226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8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 txBox="1"/>
          <p:nvPr>
            <p:ph idx="1" type="body"/>
          </p:nvPr>
        </p:nvSpPr>
        <p:spPr>
          <a:xfrm>
            <a:off x="1480450" y="2131950"/>
            <a:ext cx="9254700" cy="10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If the image is located in a folder “New Folder” that is in the same directory as the HTML file, what do we write in the src?</a:t>
            </a:r>
            <a:endParaRPr sz="1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8"/>
          <p:cNvSpPr txBox="1"/>
          <p:nvPr>
            <p:ph idx="1" type="body"/>
          </p:nvPr>
        </p:nvSpPr>
        <p:spPr>
          <a:xfrm>
            <a:off x="1480450" y="1550500"/>
            <a:ext cx="107115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Image in different folder relative to HTML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6" name="Google Shape;23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35775" y="3604600"/>
            <a:ext cx="1705750" cy="2117674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8"/>
          <p:cNvSpPr txBox="1"/>
          <p:nvPr>
            <p:ph idx="1" type="body"/>
          </p:nvPr>
        </p:nvSpPr>
        <p:spPr>
          <a:xfrm>
            <a:off x="2135825" y="5859675"/>
            <a:ext cx="17058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 Parrot.jpg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(This image is inside New Folder)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8"/>
          <p:cNvSpPr txBox="1"/>
          <p:nvPr>
            <p:ph idx="1" type="body"/>
          </p:nvPr>
        </p:nvSpPr>
        <p:spPr>
          <a:xfrm>
            <a:off x="5346325" y="4387138"/>
            <a:ext cx="34902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How to display this?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4268600" y="4469825"/>
            <a:ext cx="843300" cy="26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E475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"/>
          <p:cNvSpPr/>
          <p:nvPr/>
        </p:nvSpPr>
        <p:spPr>
          <a:xfrm>
            <a:off x="0" y="0"/>
            <a:ext cx="12192000" cy="1426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9"/>
          <p:cNvSpPr txBox="1"/>
          <p:nvPr>
            <p:ph type="title"/>
          </p:nvPr>
        </p:nvSpPr>
        <p:spPr>
          <a:xfrm>
            <a:off x="2635675" y="259675"/>
            <a:ext cx="8185800" cy="8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Images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6" name="Google Shape;24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8241" y="259713"/>
            <a:ext cx="843226" cy="843226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9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 txBox="1"/>
          <p:nvPr>
            <p:ph idx="1" type="body"/>
          </p:nvPr>
        </p:nvSpPr>
        <p:spPr>
          <a:xfrm>
            <a:off x="1480450" y="1561200"/>
            <a:ext cx="10711500" cy="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Explanation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9" name="Google Shape;24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72438" y="2173475"/>
            <a:ext cx="6238875" cy="176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72450" y="5276725"/>
            <a:ext cx="6438900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9"/>
          <p:cNvSpPr/>
          <p:nvPr/>
        </p:nvSpPr>
        <p:spPr>
          <a:xfrm>
            <a:off x="6184175" y="4066275"/>
            <a:ext cx="342300" cy="1037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9"/>
          <p:cNvSpPr txBox="1"/>
          <p:nvPr/>
        </p:nvSpPr>
        <p:spPr>
          <a:xfrm>
            <a:off x="6772950" y="4382959"/>
            <a:ext cx="3038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After entering New Folder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0"/>
          <p:cNvSpPr/>
          <p:nvPr/>
        </p:nvSpPr>
        <p:spPr>
          <a:xfrm>
            <a:off x="0" y="0"/>
            <a:ext cx="12192000" cy="1426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0"/>
          <p:cNvSpPr txBox="1"/>
          <p:nvPr>
            <p:ph type="title"/>
          </p:nvPr>
        </p:nvSpPr>
        <p:spPr>
          <a:xfrm>
            <a:off x="2635675" y="259675"/>
            <a:ext cx="8185800" cy="8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Images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9" name="Google Shape;25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8241" y="259713"/>
            <a:ext cx="843226" cy="843226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0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 txBox="1"/>
          <p:nvPr>
            <p:ph idx="1" type="body"/>
          </p:nvPr>
        </p:nvSpPr>
        <p:spPr>
          <a:xfrm>
            <a:off x="1480450" y="2131950"/>
            <a:ext cx="9254700" cy="10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If the image is located in a folder “New Folder” that is in the same directory as the HTML file, what do we write in the src?</a:t>
            </a:r>
            <a:endParaRPr sz="1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0"/>
          <p:cNvSpPr txBox="1"/>
          <p:nvPr>
            <p:ph idx="1" type="body"/>
          </p:nvPr>
        </p:nvSpPr>
        <p:spPr>
          <a:xfrm>
            <a:off x="1480450" y="1550500"/>
            <a:ext cx="107115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Image in different folder relative to HTML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3" name="Google Shape;26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35775" y="3604600"/>
            <a:ext cx="1705750" cy="2117674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0"/>
          <p:cNvSpPr txBox="1"/>
          <p:nvPr>
            <p:ph idx="1" type="body"/>
          </p:nvPr>
        </p:nvSpPr>
        <p:spPr>
          <a:xfrm>
            <a:off x="2135825" y="5859675"/>
            <a:ext cx="17058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 Parrot.jpg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(This image is inside New Folder)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0"/>
          <p:cNvSpPr txBox="1"/>
          <p:nvPr>
            <p:ph idx="1" type="body"/>
          </p:nvPr>
        </p:nvSpPr>
        <p:spPr>
          <a:xfrm>
            <a:off x="5357250" y="4387125"/>
            <a:ext cx="63441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5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5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img</a:t>
            </a:r>
            <a:r>
              <a:rPr lang="en-US" sz="165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src</a:t>
            </a:r>
            <a:r>
              <a:rPr lang="en-US" sz="165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="/New Folder/</a:t>
            </a:r>
            <a:r>
              <a:rPr i="1" lang="en-US" sz="165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parrot.jpg</a:t>
            </a:r>
            <a:r>
              <a:rPr lang="en-US" sz="165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" </a:t>
            </a:r>
            <a:r>
              <a:rPr lang="en-US" sz="165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alt</a:t>
            </a:r>
            <a:r>
              <a:rPr lang="en-US" sz="165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=”parrot”&gt;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4268600" y="4469825"/>
            <a:ext cx="843300" cy="26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E475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1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Image Tags Variations</a:t>
            </a:r>
            <a:endParaRPr b="1"/>
          </a:p>
        </p:txBody>
      </p:sp>
      <p:grpSp>
        <p:nvGrpSpPr>
          <p:cNvPr id="273" name="Google Shape;273;p11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274" name="Google Shape;274;p11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275" name="Google Shape;275;p11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76" name="Google Shape;276;p11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277" name="Google Shape;277;p11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8" name="Google Shape;278;p11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9" name="Google Shape;279;p11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0" name="Google Shape;280;p11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281" name="Google Shape;281;p11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11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3" name="Google Shape;283;p11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284" name="Google Shape;284;p11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" name="Google Shape;285;p11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6" name="Google Shape;286;p11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287" name="Google Shape;287;p11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" name="Google Shape;288;p11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9" name="Google Shape;289;p11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290" name="Google Shape;290;p11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p11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" name="Google Shape;292;p11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3" name="Google Shape;293;p11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294" name="Google Shape;294;p11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" name="Google Shape;295;p11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" name="Google Shape;296;p11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" name="Google Shape;297;p11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" name="Google Shape;298;p11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" name="Google Shape;299;p11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0" name="Google Shape;300;p11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301" name="Google Shape;301;p11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" name="Google Shape;302;p11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" name="Google Shape;303;p11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" name="Google Shape;304;p11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" name="Google Shape;305;p11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" name="Google Shape;306;p11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" name="Google Shape;307;p11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" name="Google Shape;308;p11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" name="Google Shape;309;p11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" name="Google Shape;310;p11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1" name="Google Shape;311;p11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2" name="Google Shape;312;p11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" name="Google Shape;313;p11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4" name="Google Shape;314;p11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5" name="Google Shape;315;p11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316" name="Google Shape;316;p11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" name="Google Shape;317;p11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" name="Google Shape;318;p11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" name="Google Shape;319;p11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" name="Google Shape;320;p11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" name="Google Shape;321;p11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" name="Google Shape;322;p11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" name="Google Shape;323;p11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" name="Google Shape;324;p11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" name="Google Shape;325;p11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" name="Google Shape;326;p11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2"/>
          <p:cNvSpPr/>
          <p:nvPr/>
        </p:nvSpPr>
        <p:spPr>
          <a:xfrm>
            <a:off x="1376525" y="1572950"/>
            <a:ext cx="3316500" cy="615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2"/>
          <p:cNvSpPr/>
          <p:nvPr/>
        </p:nvSpPr>
        <p:spPr>
          <a:xfrm>
            <a:off x="0" y="6178175"/>
            <a:ext cx="12192000" cy="694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2"/>
          <p:cNvSpPr/>
          <p:nvPr/>
        </p:nvSpPr>
        <p:spPr>
          <a:xfrm>
            <a:off x="0" y="0"/>
            <a:ext cx="12192000" cy="1426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2"/>
          <p:cNvSpPr txBox="1"/>
          <p:nvPr>
            <p:ph type="title"/>
          </p:nvPr>
        </p:nvSpPr>
        <p:spPr>
          <a:xfrm>
            <a:off x="2635675" y="259675"/>
            <a:ext cx="8185800" cy="8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Images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5" name="Google Shape;33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8241" y="259713"/>
            <a:ext cx="843226" cy="843226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12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2"/>
          <p:cNvSpPr txBox="1"/>
          <p:nvPr>
            <p:ph idx="1" type="body"/>
          </p:nvPr>
        </p:nvSpPr>
        <p:spPr>
          <a:xfrm>
            <a:off x="1428425" y="1655038"/>
            <a:ext cx="3212700" cy="5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Image Dimensions    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2"/>
          <p:cNvSpPr txBox="1"/>
          <p:nvPr/>
        </p:nvSpPr>
        <p:spPr>
          <a:xfrm>
            <a:off x="1480450" y="6283875"/>
            <a:ext cx="9374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Disclaimer: This technically falls under styling and CSS. Here is just a quick introduction only.</a:t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2"/>
          <p:cNvSpPr txBox="1"/>
          <p:nvPr>
            <p:ph idx="1" type="body"/>
          </p:nvPr>
        </p:nvSpPr>
        <p:spPr>
          <a:xfrm>
            <a:off x="1480450" y="2735400"/>
            <a:ext cx="9474600" cy="8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5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5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img</a:t>
            </a:r>
            <a:r>
              <a:rPr lang="en-US" sz="165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src</a:t>
            </a:r>
            <a:r>
              <a:rPr lang="en-US" sz="165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="</a:t>
            </a:r>
            <a:r>
              <a:rPr i="1" lang="en-US" sz="165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url</a:t>
            </a:r>
            <a:r>
              <a:rPr lang="en-US" sz="165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" </a:t>
            </a:r>
            <a:r>
              <a:rPr lang="en-US" sz="165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alt</a:t>
            </a:r>
            <a:r>
              <a:rPr lang="en-US" sz="165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=”alternatetext” width=”500” height=”500”&gt;</a:t>
            </a:r>
            <a:endParaRPr sz="1400"/>
          </a:p>
        </p:txBody>
      </p:sp>
      <p:sp>
        <p:nvSpPr>
          <p:cNvPr id="340" name="Google Shape;340;p12"/>
          <p:cNvSpPr txBox="1"/>
          <p:nvPr>
            <p:ph idx="1" type="body"/>
          </p:nvPr>
        </p:nvSpPr>
        <p:spPr>
          <a:xfrm>
            <a:off x="1480450" y="2339000"/>
            <a:ext cx="9742200" cy="8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we type the following HTML, the image would be displayed as width 500px and height 500px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2"/>
          <p:cNvSpPr/>
          <p:nvPr/>
        </p:nvSpPr>
        <p:spPr>
          <a:xfrm>
            <a:off x="1605125" y="3336650"/>
            <a:ext cx="3810000" cy="5283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 Careful about Ratio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2" name="Google Shape;34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79425" y="4035900"/>
            <a:ext cx="2318206" cy="173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61025" y="4035900"/>
            <a:ext cx="1737360" cy="173865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12"/>
          <p:cNvSpPr/>
          <p:nvPr/>
        </p:nvSpPr>
        <p:spPr>
          <a:xfrm>
            <a:off x="5215075" y="4668600"/>
            <a:ext cx="1657800" cy="528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2"/>
          <p:cNvSpPr txBox="1"/>
          <p:nvPr/>
        </p:nvSpPr>
        <p:spPr>
          <a:xfrm>
            <a:off x="5113050" y="4132975"/>
            <a:ext cx="188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you are putting in a wrong aspect ratio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2"/>
          <p:cNvSpPr txBox="1"/>
          <p:nvPr/>
        </p:nvSpPr>
        <p:spPr>
          <a:xfrm>
            <a:off x="2359325" y="5764725"/>
            <a:ext cx="198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H:500px, W:600px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2"/>
          <p:cNvSpPr txBox="1"/>
          <p:nvPr/>
        </p:nvSpPr>
        <p:spPr>
          <a:xfrm>
            <a:off x="7540925" y="5764725"/>
            <a:ext cx="198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H:500px, W:500px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3"/>
          <p:cNvSpPr/>
          <p:nvPr/>
        </p:nvSpPr>
        <p:spPr>
          <a:xfrm>
            <a:off x="1376525" y="1531550"/>
            <a:ext cx="2610300" cy="657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3"/>
          <p:cNvSpPr/>
          <p:nvPr/>
        </p:nvSpPr>
        <p:spPr>
          <a:xfrm>
            <a:off x="0" y="0"/>
            <a:ext cx="12192000" cy="1426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3"/>
          <p:cNvSpPr txBox="1"/>
          <p:nvPr>
            <p:ph type="title"/>
          </p:nvPr>
        </p:nvSpPr>
        <p:spPr>
          <a:xfrm>
            <a:off x="2635675" y="259675"/>
            <a:ext cx="8185800" cy="8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Images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5" name="Google Shape;35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8241" y="259713"/>
            <a:ext cx="843226" cy="843226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13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3"/>
          <p:cNvSpPr txBox="1"/>
          <p:nvPr>
            <p:ph idx="1" type="body"/>
          </p:nvPr>
        </p:nvSpPr>
        <p:spPr>
          <a:xfrm>
            <a:off x="1480450" y="1550500"/>
            <a:ext cx="2848500" cy="6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Image as Links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3"/>
          <p:cNvSpPr txBox="1"/>
          <p:nvPr>
            <p:ph idx="1" type="body"/>
          </p:nvPr>
        </p:nvSpPr>
        <p:spPr>
          <a:xfrm>
            <a:off x="2037600" y="5263875"/>
            <a:ext cx="10154400" cy="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If this image is clicked, we will be redirected to google.com!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3"/>
          <p:cNvSpPr txBox="1"/>
          <p:nvPr>
            <p:ph idx="1" type="body"/>
          </p:nvPr>
        </p:nvSpPr>
        <p:spPr>
          <a:xfrm>
            <a:off x="1480450" y="2292425"/>
            <a:ext cx="9632100" cy="9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have learnt about </a:t>
            </a:r>
            <a:r>
              <a:rPr lang="en-US" sz="205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&lt;a&gt; </a:t>
            </a:r>
            <a:r>
              <a:rPr lang="en-US" sz="2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tags before which serves as links. Similarly, we can also make an image into a clickable link by wrapping it with  </a:t>
            </a:r>
            <a:r>
              <a:rPr lang="en-US" sz="205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&lt;a&gt;&lt;/a&gt; </a:t>
            </a:r>
            <a:r>
              <a:rPr lang="en-US" sz="2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tags.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3"/>
          <p:cNvSpPr txBox="1"/>
          <p:nvPr>
            <p:ph idx="1" type="body"/>
          </p:nvPr>
        </p:nvSpPr>
        <p:spPr>
          <a:xfrm>
            <a:off x="1480450" y="3550350"/>
            <a:ext cx="9424500" cy="13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4572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5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5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-US" sz="165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href</a:t>
            </a:r>
            <a:r>
              <a:rPr lang="en-US" sz="165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="www.google.com"&gt;</a:t>
            </a:r>
            <a:endParaRPr sz="165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5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5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img</a:t>
            </a:r>
            <a:r>
              <a:rPr lang="en-US" sz="165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src</a:t>
            </a:r>
            <a:r>
              <a:rPr lang="en-US" sz="165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="</a:t>
            </a:r>
            <a:r>
              <a:rPr i="1" lang="en-US" sz="165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url</a:t>
            </a:r>
            <a:r>
              <a:rPr lang="en-US" sz="165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65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alt</a:t>
            </a:r>
            <a:r>
              <a:rPr lang="en-US" sz="165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="HTML tutorial"</a:t>
            </a:r>
            <a:r>
              <a:rPr lang="en-US" sz="165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65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width=”500” height=”500”&gt;</a:t>
            </a:r>
            <a:endParaRPr sz="165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5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5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/a</a:t>
            </a:r>
            <a:r>
              <a:rPr lang="en-US" sz="165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700"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0">
              <a:solidFill>
                <a:srgbClr val="000000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    </a:t>
            </a:r>
            <a:endParaRPr sz="2400"/>
          </a:p>
          <a:p>
            <a:pPr indent="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C4755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4"/>
          <p:cNvSpPr/>
          <p:nvPr/>
        </p:nvSpPr>
        <p:spPr>
          <a:xfrm rot="-5400000">
            <a:off x="6405643" y="1071599"/>
            <a:ext cx="6858000" cy="47148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6" name="Google Shape;36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39968" y="241300"/>
            <a:ext cx="6352032" cy="6352032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14"/>
          <p:cNvSpPr txBox="1"/>
          <p:nvPr>
            <p:ph type="title"/>
          </p:nvPr>
        </p:nvSpPr>
        <p:spPr>
          <a:xfrm>
            <a:off x="1145142" y="641064"/>
            <a:ext cx="5001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t/>
            </a:r>
            <a:endParaRPr sz="5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t/>
            </a:r>
            <a:endParaRPr sz="5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t/>
            </a:r>
            <a:endParaRPr sz="5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t/>
            </a:r>
            <a:endParaRPr sz="5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t/>
            </a:r>
            <a:endParaRPr sz="5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-US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That’s all for this module!</a:t>
            </a:r>
            <a:endParaRPr sz="2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t/>
            </a:r>
            <a:endParaRPr sz="5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-US" sz="54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THANK YOU!</a:t>
            </a:r>
            <a:endParaRPr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alentlabs ERB course Theme">
  <a:themeElements>
    <a:clrScheme name="TalentLabs">
      <a:dk1>
        <a:srgbClr val="3E4754"/>
      </a:dk1>
      <a:lt1>
        <a:srgbClr val="F0EFEE"/>
      </a:lt1>
      <a:dk2>
        <a:srgbClr val="3C607E"/>
      </a:dk2>
      <a:lt2>
        <a:srgbClr val="E6E6E6"/>
      </a:lt2>
      <a:accent1>
        <a:srgbClr val="5080A6"/>
      </a:accent1>
      <a:accent2>
        <a:srgbClr val="FFB182"/>
      </a:accent2>
      <a:accent3>
        <a:srgbClr val="FFBBC6"/>
      </a:accent3>
      <a:accent4>
        <a:srgbClr val="FBD590"/>
      </a:accent4>
      <a:accent5>
        <a:srgbClr val="77A8C9"/>
      </a:accent5>
      <a:accent6>
        <a:srgbClr val="C4E7AA"/>
      </a:accent6>
      <a:hlink>
        <a:srgbClr val="DABAA3"/>
      </a:hlink>
      <a:folHlink>
        <a:srgbClr val="77A8C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