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EB Garamon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sV6dFCet5p0rAtPs6y/q5+uvP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EBGaramond-bold.fntdata"/><Relationship Id="rId23" Type="http://schemas.openxmlformats.org/officeDocument/2006/relationships/font" Target="fonts/EBGaramon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BGaramond-boldItalic.fntdata"/><Relationship Id="rId25" Type="http://schemas.openxmlformats.org/officeDocument/2006/relationships/font" Target="fonts/EBGaramond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039eb4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039eb4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039eb4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039eb4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039eb4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039eb4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039eb4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039eb4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039eb4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039eb4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039eb4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039eb4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039eb4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039eb4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039eb4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039eb4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039eb4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039eb4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039eb4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039eb4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039eb4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039eb4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039eb4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039eb4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039eb4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039eb4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039eb4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039eb4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039eb4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039eb4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039eb4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039eb4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039eb4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039eb4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039eb4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039eb4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039eb4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039eb4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039eb4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039eb4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039eb4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039eb4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039eb4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039eb4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039eb4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039eb4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039eb4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039eb4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039eb4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039eb4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039eb4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039eb4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039eb4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039eb4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039eb4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039eb4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039eb4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039eb4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039eb4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039eb4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039eb4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039eb4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039eb4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039eb4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039eb4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039eb4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039eb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039eb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039eb4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843125" y="2344575"/>
            <a:ext cx="4501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4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7725075" y="3774200"/>
            <a:ext cx="3619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900788"/>
            <a:ext cx="3731400" cy="21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Unordered Lists</a:t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Ordered Lists</a:t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Nested Lists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2"/>
          <p:cNvCxnSpPr/>
          <p:nvPr/>
        </p:nvCxnSpPr>
        <p:spPr>
          <a:xfrm>
            <a:off x="7394800" y="5502000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Unordered Lists</a:t>
            </a:r>
            <a:endParaRPr b="1"/>
          </a:p>
        </p:txBody>
      </p:sp>
      <p:grpSp>
        <p:nvGrpSpPr>
          <p:cNvPr id="120" name="Google Shape;120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1" name="Google Shape;121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" name="Google Shape;123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4" name="Google Shape;124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8" name="Google Shape;128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" name="Google Shape;130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1" name="Google Shape;141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3" name="Google Shape;163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Unordered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>
            <p:ph idx="1" type="body"/>
          </p:nvPr>
        </p:nvSpPr>
        <p:spPr>
          <a:xfrm>
            <a:off x="1480450" y="1550500"/>
            <a:ext cx="99204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 unordered list is denoted by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&lt;ul&gt;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Each list item is denoted by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&lt;li&gt;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</a:t>
            </a:r>
            <a:endParaRPr sz="1800"/>
          </a:p>
        </p:txBody>
      </p:sp>
      <p:sp>
        <p:nvSpPr>
          <p:cNvPr id="182" name="Google Shape;182;p4"/>
          <p:cNvSpPr txBox="1"/>
          <p:nvPr>
            <p:ph idx="1" type="body"/>
          </p:nvPr>
        </p:nvSpPr>
        <p:spPr>
          <a:xfrm>
            <a:off x="3282200" y="2759713"/>
            <a:ext cx="24249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  <p:sp>
        <p:nvSpPr>
          <p:cNvPr id="183" name="Google Shape;183;p4"/>
          <p:cNvSpPr txBox="1"/>
          <p:nvPr>
            <p:ph idx="1" type="body"/>
          </p:nvPr>
        </p:nvSpPr>
        <p:spPr>
          <a:xfrm>
            <a:off x="1480450" y="4871025"/>
            <a:ext cx="9920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But what if we want an unordered lists without bullet points or other separators?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>
            <p:ph idx="1" type="body"/>
          </p:nvPr>
        </p:nvSpPr>
        <p:spPr>
          <a:xfrm>
            <a:off x="8064900" y="3097225"/>
            <a:ext cx="1737300" cy="127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Char char="•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Char char="•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Char char="•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357625" y="3548113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C14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1584800" y="2679050"/>
            <a:ext cx="3452700" cy="556500"/>
          </a:xfrm>
          <a:prstGeom prst="rect">
            <a:avLst/>
          </a:prstGeom>
          <a:solidFill>
            <a:srgbClr val="3E4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Unordered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>
            <p:ph idx="1" type="body"/>
          </p:nvPr>
        </p:nvSpPr>
        <p:spPr>
          <a:xfrm>
            <a:off x="1480450" y="1550500"/>
            <a:ext cx="99204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DC143C"/>
                </a:solidFill>
                <a:latin typeface="Arial"/>
                <a:ea typeface="Arial"/>
                <a:cs typeface="Arial"/>
                <a:sym typeface="Arial"/>
              </a:rPr>
              <a:t>list-style-type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lang="en-US" sz="1800">
                <a:solidFill>
                  <a:srgbClr val="000000"/>
                </a:solidFill>
              </a:rPr>
              <a:t>default list style setting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can be applied to unordered list to style their markers</a:t>
            </a:r>
            <a:endParaRPr sz="1800"/>
          </a:p>
        </p:txBody>
      </p:sp>
      <p:sp>
        <p:nvSpPr>
          <p:cNvPr id="196" name="Google Shape;196;p5"/>
          <p:cNvSpPr/>
          <p:nvPr/>
        </p:nvSpPr>
        <p:spPr>
          <a:xfrm>
            <a:off x="6357625" y="4214825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>
            <p:ph idx="1" type="body"/>
          </p:nvPr>
        </p:nvSpPr>
        <p:spPr>
          <a:xfrm>
            <a:off x="1480450" y="3412925"/>
            <a:ext cx="4335300" cy="18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style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="list-style-type:none;"&gt;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  <p:sp>
        <p:nvSpPr>
          <p:cNvPr id="199" name="Google Shape;199;p5"/>
          <p:cNvSpPr txBox="1"/>
          <p:nvPr>
            <p:ph idx="1" type="body"/>
          </p:nvPr>
        </p:nvSpPr>
        <p:spPr>
          <a:xfrm>
            <a:off x="1674950" y="2632825"/>
            <a:ext cx="3424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CFE2F3"/>
                </a:solidFill>
                <a:latin typeface="Courier New"/>
                <a:ea typeface="Courier New"/>
                <a:cs typeface="Courier New"/>
                <a:sym typeface="Courier New"/>
              </a:rPr>
              <a:t>list-style-type:</a:t>
            </a:r>
            <a:r>
              <a:rPr b="1" lang="en-US" sz="20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1" sz="2400">
              <a:solidFill>
                <a:schemeClr val="accent3"/>
              </a:solidFill>
            </a:endParaRPr>
          </a:p>
        </p:txBody>
      </p:sp>
      <p:sp>
        <p:nvSpPr>
          <p:cNvPr id="200" name="Google Shape;200;p5"/>
          <p:cNvSpPr txBox="1"/>
          <p:nvPr>
            <p:ph idx="1" type="body"/>
          </p:nvPr>
        </p:nvSpPr>
        <p:spPr>
          <a:xfrm>
            <a:off x="8064900" y="3636125"/>
            <a:ext cx="1737300" cy="142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Unordered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>
            <p:ph idx="1" type="body"/>
          </p:nvPr>
        </p:nvSpPr>
        <p:spPr>
          <a:xfrm>
            <a:off x="1480450" y="1550500"/>
            <a:ext cx="99204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DC143C"/>
                </a:solidFill>
                <a:latin typeface="Arial"/>
                <a:ea typeface="Arial"/>
                <a:cs typeface="Arial"/>
                <a:sym typeface="Arial"/>
              </a:rPr>
              <a:t>list-style-type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default list style setting that can be applied to unordered list to style their markers</a:t>
            </a:r>
            <a:endParaRPr sz="2400"/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>
            <p:ph idx="1" type="body"/>
          </p:nvPr>
        </p:nvSpPr>
        <p:spPr>
          <a:xfrm>
            <a:off x="1480450" y="3395550"/>
            <a:ext cx="4594500" cy="18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style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="list-style-type:square;"&gt;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  <p:sp>
        <p:nvSpPr>
          <p:cNvPr id="211" name="Google Shape;211;p6"/>
          <p:cNvSpPr/>
          <p:nvPr/>
        </p:nvSpPr>
        <p:spPr>
          <a:xfrm>
            <a:off x="1584800" y="2679050"/>
            <a:ext cx="3726300" cy="556500"/>
          </a:xfrm>
          <a:prstGeom prst="rect">
            <a:avLst/>
          </a:prstGeom>
          <a:solidFill>
            <a:srgbClr val="3E4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>
            <p:ph idx="1" type="body"/>
          </p:nvPr>
        </p:nvSpPr>
        <p:spPr>
          <a:xfrm>
            <a:off x="1674950" y="2632825"/>
            <a:ext cx="356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CFE2F3"/>
                </a:solidFill>
                <a:latin typeface="Courier New"/>
                <a:ea typeface="Courier New"/>
                <a:cs typeface="Courier New"/>
                <a:sym typeface="Courier New"/>
              </a:rPr>
              <a:t>list-style-type:</a:t>
            </a:r>
            <a:r>
              <a:rPr b="1" lang="en-US" sz="2000">
                <a:solidFill>
                  <a:schemeClr val="accent4"/>
                </a:solidFill>
                <a:latin typeface="Courier New"/>
                <a:ea typeface="Courier New"/>
                <a:cs typeface="Courier New"/>
                <a:sym typeface="Courier New"/>
              </a:rPr>
              <a:t>square</a:t>
            </a:r>
            <a:endParaRPr b="1" sz="2400">
              <a:solidFill>
                <a:schemeClr val="accent4"/>
              </a:solidFill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357625" y="4214825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>
            <p:ph idx="1" type="body"/>
          </p:nvPr>
        </p:nvSpPr>
        <p:spPr>
          <a:xfrm>
            <a:off x="8064900" y="3636125"/>
            <a:ext cx="1737300" cy="142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8278100" y="3879275"/>
            <a:ext cx="115500" cy="11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8278100" y="4291475"/>
            <a:ext cx="115500" cy="11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278100" y="4703675"/>
            <a:ext cx="115500" cy="11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Unordered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>
            <p:ph idx="1" type="body"/>
          </p:nvPr>
        </p:nvSpPr>
        <p:spPr>
          <a:xfrm>
            <a:off x="1480450" y="1550500"/>
            <a:ext cx="9920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DC143C"/>
                </a:solidFill>
                <a:latin typeface="Arial"/>
                <a:ea typeface="Arial"/>
                <a:cs typeface="Arial"/>
                <a:sym typeface="Arial"/>
              </a:rPr>
              <a:t>list-style-type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default list style setting that can be applied to unordered list to style their markers</a:t>
            </a:r>
            <a:endParaRPr sz="2400"/>
          </a:p>
        </p:txBody>
      </p:sp>
      <p:pic>
        <p:nvPicPr>
          <p:cNvPr id="226" name="Google Shape;2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7"/>
          <p:cNvSpPr txBox="1"/>
          <p:nvPr>
            <p:ph idx="1" type="body"/>
          </p:nvPr>
        </p:nvSpPr>
        <p:spPr>
          <a:xfrm>
            <a:off x="1480450" y="3405400"/>
            <a:ext cx="46794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style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="list-style-type:circle;"&gt;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  <p:sp>
        <p:nvSpPr>
          <p:cNvPr id="228" name="Google Shape;228;p7"/>
          <p:cNvSpPr/>
          <p:nvPr/>
        </p:nvSpPr>
        <p:spPr>
          <a:xfrm>
            <a:off x="1584800" y="2679050"/>
            <a:ext cx="3726300" cy="556500"/>
          </a:xfrm>
          <a:prstGeom prst="rect">
            <a:avLst/>
          </a:prstGeom>
          <a:solidFill>
            <a:srgbClr val="3E4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>
            <p:ph idx="1" type="body"/>
          </p:nvPr>
        </p:nvSpPr>
        <p:spPr>
          <a:xfrm>
            <a:off x="1674950" y="2632825"/>
            <a:ext cx="356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CFE2F3"/>
                </a:solidFill>
                <a:latin typeface="Courier New"/>
                <a:ea typeface="Courier New"/>
                <a:cs typeface="Courier New"/>
                <a:sym typeface="Courier New"/>
              </a:rPr>
              <a:t>list-style-type:</a:t>
            </a:r>
            <a:r>
              <a:rPr b="1" lang="en-US" sz="2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circle</a:t>
            </a:r>
            <a:endParaRPr b="1" sz="2400">
              <a:solidFill>
                <a:schemeClr val="accent6"/>
              </a:solidFill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357625" y="4214825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 txBox="1"/>
          <p:nvPr>
            <p:ph idx="1" type="body"/>
          </p:nvPr>
        </p:nvSpPr>
        <p:spPr>
          <a:xfrm>
            <a:off x="8064900" y="3636125"/>
            <a:ext cx="1737300" cy="142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278100" y="3879275"/>
            <a:ext cx="115500" cy="115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278100" y="4311775"/>
            <a:ext cx="115500" cy="115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278100" y="4744275"/>
            <a:ext cx="115500" cy="115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Ordered Lists</a:t>
            </a:r>
            <a:endParaRPr b="1"/>
          </a:p>
        </p:txBody>
      </p:sp>
      <p:grpSp>
        <p:nvGrpSpPr>
          <p:cNvPr id="241" name="Google Shape;241;p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42" name="Google Shape;242;p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43" name="Google Shape;243;p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4" name="Google Shape;244;p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45" name="Google Shape;245;p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49" name="Google Shape;249;p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1" name="Google Shape;251;p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52" name="Google Shape;252;p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55" name="Google Shape;255;p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" name="Google Shape;261;p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62" name="Google Shape;262;p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69" name="Google Shape;269;p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3" name="Google Shape;283;p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84" name="Google Shape;284;p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>
            <p:ph idx="1" type="body"/>
          </p:nvPr>
        </p:nvSpPr>
        <p:spPr>
          <a:xfrm>
            <a:off x="1480450" y="1550500"/>
            <a:ext cx="99204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 ordered list is denoted by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&lt;ol&gt;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Each list item is denoted by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&lt;li&gt;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9"/>
          <p:cNvSpPr txBox="1"/>
          <p:nvPr>
            <p:ph idx="1" type="body"/>
          </p:nvPr>
        </p:nvSpPr>
        <p:spPr>
          <a:xfrm>
            <a:off x="2574700" y="2617425"/>
            <a:ext cx="3424800" cy="18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  <p:sp>
        <p:nvSpPr>
          <p:cNvPr id="305" name="Google Shape;305;p9"/>
          <p:cNvSpPr txBox="1"/>
          <p:nvPr>
            <p:ph idx="1" type="body"/>
          </p:nvPr>
        </p:nvSpPr>
        <p:spPr>
          <a:xfrm>
            <a:off x="1480450" y="5672850"/>
            <a:ext cx="9920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But what if we want an ordered list without numbers or other separators?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357625" y="3415125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 txBox="1"/>
          <p:nvPr>
            <p:ph idx="1" type="body"/>
          </p:nvPr>
        </p:nvSpPr>
        <p:spPr>
          <a:xfrm>
            <a:off x="8064900" y="2836425"/>
            <a:ext cx="1737300" cy="142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rabi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rabi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rabi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>
            <p:ph idx="1" type="body"/>
          </p:nvPr>
        </p:nvSpPr>
        <p:spPr>
          <a:xfrm>
            <a:off x="1480450" y="1550500"/>
            <a:ext cx="9920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DC143C"/>
                </a:solidFill>
                <a:latin typeface="Arial"/>
                <a:ea typeface="Arial"/>
                <a:cs typeface="Arial"/>
                <a:sym typeface="Arial"/>
              </a:rPr>
              <a:t>type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default list style that can be applied to ordered list to style their markers</a:t>
            </a:r>
            <a:endParaRPr sz="2400"/>
          </a:p>
        </p:txBody>
      </p:sp>
      <p:pic>
        <p:nvPicPr>
          <p:cNvPr id="316" name="Google Shape;3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/>
          <p:nvPr/>
        </p:nvSpPr>
        <p:spPr>
          <a:xfrm>
            <a:off x="1584800" y="2679050"/>
            <a:ext cx="1594200" cy="556500"/>
          </a:xfrm>
          <a:prstGeom prst="rect">
            <a:avLst/>
          </a:prstGeom>
          <a:solidFill>
            <a:srgbClr val="3E4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 txBox="1"/>
          <p:nvPr>
            <p:ph idx="1" type="body"/>
          </p:nvPr>
        </p:nvSpPr>
        <p:spPr>
          <a:xfrm>
            <a:off x="1674950" y="2632825"/>
            <a:ext cx="144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CFE2F3"/>
                </a:solidFill>
                <a:latin typeface="Courier New"/>
                <a:ea typeface="Courier New"/>
                <a:cs typeface="Courier New"/>
                <a:sym typeface="Courier New"/>
              </a:rPr>
              <a:t>type=</a:t>
            </a:r>
            <a:r>
              <a:rPr b="1" lang="en-US" sz="20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”A”</a:t>
            </a:r>
            <a:endParaRPr b="1" sz="2400">
              <a:solidFill>
                <a:schemeClr val="accent2"/>
              </a:solidFill>
            </a:endParaRPr>
          </a:p>
        </p:txBody>
      </p:sp>
      <p:sp>
        <p:nvSpPr>
          <p:cNvPr id="319" name="Google Shape;319;p10"/>
          <p:cNvSpPr txBox="1"/>
          <p:nvPr>
            <p:ph idx="1" type="body"/>
          </p:nvPr>
        </p:nvSpPr>
        <p:spPr>
          <a:xfrm>
            <a:off x="8064900" y="3667000"/>
            <a:ext cx="1737300" cy="142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lphaU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lphaU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lphaU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357625" y="4245700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 txBox="1"/>
          <p:nvPr>
            <p:ph idx="1" type="body"/>
          </p:nvPr>
        </p:nvSpPr>
        <p:spPr>
          <a:xfrm>
            <a:off x="2455425" y="3437175"/>
            <a:ext cx="27174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type="A"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>
            <p:ph idx="1" type="body"/>
          </p:nvPr>
        </p:nvSpPr>
        <p:spPr>
          <a:xfrm>
            <a:off x="1480450" y="1550500"/>
            <a:ext cx="9920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DC143C"/>
                </a:solidFill>
                <a:latin typeface="Arial"/>
                <a:ea typeface="Arial"/>
                <a:cs typeface="Arial"/>
                <a:sym typeface="Arial"/>
              </a:rPr>
              <a:t>type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default list style that can be applied to ordered list to style their markers</a:t>
            </a:r>
            <a:endParaRPr sz="2400"/>
          </a:p>
        </p:txBody>
      </p:sp>
      <p:pic>
        <p:nvPicPr>
          <p:cNvPr id="330" name="Google Shape;3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1584800" y="2679050"/>
            <a:ext cx="1594200" cy="556500"/>
          </a:xfrm>
          <a:prstGeom prst="rect">
            <a:avLst/>
          </a:prstGeom>
          <a:solidFill>
            <a:srgbClr val="3E4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 txBox="1"/>
          <p:nvPr>
            <p:ph idx="1" type="body"/>
          </p:nvPr>
        </p:nvSpPr>
        <p:spPr>
          <a:xfrm>
            <a:off x="1674950" y="2632825"/>
            <a:ext cx="144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CFE2F3"/>
                </a:solidFill>
                <a:latin typeface="Courier New"/>
                <a:ea typeface="Courier New"/>
                <a:cs typeface="Courier New"/>
                <a:sym typeface="Courier New"/>
              </a:rPr>
              <a:t>type=</a:t>
            </a:r>
            <a:r>
              <a:rPr b="1" lang="en-US" sz="2000">
                <a:solidFill>
                  <a:srgbClr val="B4A7D6"/>
                </a:solidFill>
                <a:latin typeface="Courier New"/>
                <a:ea typeface="Courier New"/>
                <a:cs typeface="Courier New"/>
                <a:sym typeface="Courier New"/>
              </a:rPr>
              <a:t>”a”</a:t>
            </a:r>
            <a:endParaRPr b="1" sz="2400">
              <a:solidFill>
                <a:srgbClr val="B4A7D6"/>
              </a:solidFill>
            </a:endParaRPr>
          </a:p>
        </p:txBody>
      </p:sp>
      <p:sp>
        <p:nvSpPr>
          <p:cNvPr id="333" name="Google Shape;333;p11"/>
          <p:cNvSpPr txBox="1"/>
          <p:nvPr>
            <p:ph idx="1" type="body"/>
          </p:nvPr>
        </p:nvSpPr>
        <p:spPr>
          <a:xfrm>
            <a:off x="8064900" y="3667000"/>
            <a:ext cx="1737300" cy="142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lphaL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lphaL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lphaL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357625" y="4245700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>
            <p:ph idx="1" type="body"/>
          </p:nvPr>
        </p:nvSpPr>
        <p:spPr>
          <a:xfrm>
            <a:off x="2455425" y="3437175"/>
            <a:ext cx="27174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type="a"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 txBox="1"/>
          <p:nvPr>
            <p:ph idx="1" type="body"/>
          </p:nvPr>
        </p:nvSpPr>
        <p:spPr>
          <a:xfrm>
            <a:off x="1480450" y="1550500"/>
            <a:ext cx="99204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DC143C"/>
                </a:solidFill>
                <a:latin typeface="Arial"/>
                <a:ea typeface="Arial"/>
                <a:cs typeface="Arial"/>
                <a:sym typeface="Arial"/>
              </a:rPr>
              <a:t>type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default list style that can be applied to ordered list to style their markers</a:t>
            </a:r>
            <a:endParaRPr sz="2400"/>
          </a:p>
        </p:txBody>
      </p:sp>
      <p:pic>
        <p:nvPicPr>
          <p:cNvPr id="344" name="Google Shape;3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2"/>
          <p:cNvSpPr txBox="1"/>
          <p:nvPr>
            <p:ph idx="1" type="body"/>
          </p:nvPr>
        </p:nvSpPr>
        <p:spPr>
          <a:xfrm>
            <a:off x="2455425" y="3437175"/>
            <a:ext cx="27174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type="I"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  <p:sp>
        <p:nvSpPr>
          <p:cNvPr id="346" name="Google Shape;346;p12"/>
          <p:cNvSpPr/>
          <p:nvPr/>
        </p:nvSpPr>
        <p:spPr>
          <a:xfrm>
            <a:off x="1584800" y="2679050"/>
            <a:ext cx="1594200" cy="556500"/>
          </a:xfrm>
          <a:prstGeom prst="rect">
            <a:avLst/>
          </a:prstGeom>
          <a:solidFill>
            <a:srgbClr val="3E4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 txBox="1"/>
          <p:nvPr>
            <p:ph idx="1" type="body"/>
          </p:nvPr>
        </p:nvSpPr>
        <p:spPr>
          <a:xfrm>
            <a:off x="1674950" y="2632825"/>
            <a:ext cx="144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CFE2F3"/>
                </a:solidFill>
                <a:latin typeface="Courier New"/>
                <a:ea typeface="Courier New"/>
                <a:cs typeface="Courier New"/>
                <a:sym typeface="Courier New"/>
              </a:rPr>
              <a:t>type=</a:t>
            </a:r>
            <a:r>
              <a:rPr b="1" lang="en-US" sz="2000">
                <a:solidFill>
                  <a:srgbClr val="FFE599"/>
                </a:solidFill>
                <a:latin typeface="Courier New"/>
                <a:ea typeface="Courier New"/>
                <a:cs typeface="Courier New"/>
                <a:sym typeface="Courier New"/>
              </a:rPr>
              <a:t>”I”</a:t>
            </a:r>
            <a:endParaRPr b="1" sz="2400">
              <a:solidFill>
                <a:srgbClr val="FFE599"/>
              </a:solidFill>
            </a:endParaRPr>
          </a:p>
        </p:txBody>
      </p:sp>
      <p:sp>
        <p:nvSpPr>
          <p:cNvPr id="348" name="Google Shape;348;p12"/>
          <p:cNvSpPr txBox="1"/>
          <p:nvPr>
            <p:ph idx="1" type="body"/>
          </p:nvPr>
        </p:nvSpPr>
        <p:spPr>
          <a:xfrm>
            <a:off x="8064900" y="3667000"/>
            <a:ext cx="1737300" cy="142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romanU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romanU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romanU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357625" y="4245700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Ordered Lists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 txBox="1"/>
          <p:nvPr>
            <p:ph idx="1" type="body"/>
          </p:nvPr>
        </p:nvSpPr>
        <p:spPr>
          <a:xfrm>
            <a:off x="1480450" y="1550500"/>
            <a:ext cx="992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DC143C"/>
                </a:solidFill>
                <a:latin typeface="Arial"/>
                <a:ea typeface="Arial"/>
                <a:cs typeface="Arial"/>
                <a:sym typeface="Arial"/>
              </a:rPr>
              <a:t>type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default list style that can be applied to ordered list to style their markers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 txBox="1"/>
          <p:nvPr>
            <p:ph idx="1" type="body"/>
          </p:nvPr>
        </p:nvSpPr>
        <p:spPr>
          <a:xfrm>
            <a:off x="2455425" y="3437175"/>
            <a:ext cx="27174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type="i"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</p:txBody>
      </p:sp>
      <p:sp>
        <p:nvSpPr>
          <p:cNvPr id="360" name="Google Shape;360;p13"/>
          <p:cNvSpPr txBox="1"/>
          <p:nvPr>
            <p:ph idx="1" type="body"/>
          </p:nvPr>
        </p:nvSpPr>
        <p:spPr>
          <a:xfrm>
            <a:off x="8064900" y="3667000"/>
            <a:ext cx="2070300" cy="169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i.	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ii.	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iii.	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6357625" y="4245700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584800" y="2679050"/>
            <a:ext cx="1594200" cy="556500"/>
          </a:xfrm>
          <a:prstGeom prst="rect">
            <a:avLst/>
          </a:prstGeom>
          <a:solidFill>
            <a:srgbClr val="3E4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 txBox="1"/>
          <p:nvPr>
            <p:ph idx="1" type="body"/>
          </p:nvPr>
        </p:nvSpPr>
        <p:spPr>
          <a:xfrm>
            <a:off x="1674950" y="2632825"/>
            <a:ext cx="1447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CFE2F3"/>
                </a:solidFill>
                <a:latin typeface="Courier New"/>
                <a:ea typeface="Courier New"/>
                <a:cs typeface="Courier New"/>
                <a:sym typeface="Courier New"/>
              </a:rPr>
              <a:t>type=</a:t>
            </a:r>
            <a:r>
              <a:rPr b="1" lang="en-US" sz="2000">
                <a:solidFill>
                  <a:srgbClr val="93C47D"/>
                </a:solidFill>
                <a:latin typeface="Courier New"/>
                <a:ea typeface="Courier New"/>
                <a:cs typeface="Courier New"/>
                <a:sym typeface="Courier New"/>
              </a:rPr>
              <a:t>”i”</a:t>
            </a:r>
            <a:endParaRPr b="1" sz="2400">
              <a:solidFill>
                <a:srgbClr val="93C47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/>
          <p:cNvSpPr/>
          <p:nvPr/>
        </p:nvSpPr>
        <p:spPr>
          <a:xfrm rot="10800000">
            <a:off x="0" y="5555582"/>
            <a:ext cx="12192000" cy="1325565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1584800" y="2360075"/>
            <a:ext cx="818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default, an ordered list will start counting from 1. If you want to start counting from a specified number, you can use the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attribute: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Additional Attribute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975" y="258338"/>
            <a:ext cx="845975" cy="84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4"/>
          <p:cNvSpPr txBox="1"/>
          <p:nvPr/>
        </p:nvSpPr>
        <p:spPr>
          <a:xfrm>
            <a:off x="2325425" y="3473200"/>
            <a:ext cx="24951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start="50"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Milk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6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/ol</a:t>
            </a:r>
            <a:r>
              <a:rPr b="0" i="0" lang="en-US" sz="16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584800" y="1679125"/>
            <a:ext cx="1179300" cy="556500"/>
          </a:xfrm>
          <a:prstGeom prst="rect">
            <a:avLst/>
          </a:prstGeom>
          <a:solidFill>
            <a:srgbClr val="3E4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 txBox="1"/>
          <p:nvPr>
            <p:ph idx="1" type="body"/>
          </p:nvPr>
        </p:nvSpPr>
        <p:spPr>
          <a:xfrm>
            <a:off x="1674950" y="1632900"/>
            <a:ext cx="1013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D9D2E9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endParaRPr b="1" sz="2400">
              <a:solidFill>
                <a:srgbClr val="D9D2E9"/>
              </a:solidFill>
            </a:endParaRPr>
          </a:p>
        </p:txBody>
      </p:sp>
      <p:sp>
        <p:nvSpPr>
          <p:cNvPr id="376" name="Google Shape;376;p14"/>
          <p:cNvSpPr txBox="1"/>
          <p:nvPr>
            <p:ph idx="1" type="body"/>
          </p:nvPr>
        </p:nvSpPr>
        <p:spPr>
          <a:xfrm>
            <a:off x="7055550" y="3540550"/>
            <a:ext cx="2076600" cy="170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50.	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51.	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52.	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5348275" y="4119250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Nested Lists</a:t>
            </a:r>
            <a:endParaRPr b="1"/>
          </a:p>
        </p:txBody>
      </p:sp>
      <p:grpSp>
        <p:nvGrpSpPr>
          <p:cNvPr id="384" name="Google Shape;384;p15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85" name="Google Shape;385;p15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86" name="Google Shape;386;p15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7" name="Google Shape;387;p15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88" name="Google Shape;388;p15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" name="Google Shape;389;p15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" name="Google Shape;390;p15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" name="Google Shape;391;p15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92" name="Google Shape;392;p15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4" name="Google Shape;394;p15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95" name="Google Shape;395;p15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15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7" name="Google Shape;397;p15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98" name="Google Shape;398;p15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5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" name="Google Shape;400;p15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01" name="Google Shape;401;p15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5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5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4" name="Google Shape;404;p15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05" name="Google Shape;405;p15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5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5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5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5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5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1" name="Google Shape;411;p15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12" name="Google Shape;412;p15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5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5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5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5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5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5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5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5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5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5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5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5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5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15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27" name="Google Shape;427;p15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5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5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5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5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Nested Lists (Unordered)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 txBox="1"/>
          <p:nvPr>
            <p:ph idx="1" type="body"/>
          </p:nvPr>
        </p:nvSpPr>
        <p:spPr>
          <a:xfrm>
            <a:off x="1480450" y="1550500"/>
            <a:ext cx="9920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Lists can be nested (list inside list):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6"/>
          <p:cNvSpPr txBox="1"/>
          <p:nvPr>
            <p:ph idx="1" type="body"/>
          </p:nvPr>
        </p:nvSpPr>
        <p:spPr>
          <a:xfrm>
            <a:off x="2320025" y="2443225"/>
            <a:ext cx="32079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Black 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Green 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/ul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400"/>
          </a:p>
        </p:txBody>
      </p:sp>
      <p:sp>
        <p:nvSpPr>
          <p:cNvPr id="448" name="Google Shape;448;p16"/>
          <p:cNvSpPr txBox="1"/>
          <p:nvPr>
            <p:ph idx="1" type="body"/>
          </p:nvPr>
        </p:nvSpPr>
        <p:spPr>
          <a:xfrm>
            <a:off x="7847950" y="3316600"/>
            <a:ext cx="2566500" cy="187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Char char="●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Char char="●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Char char="○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Black 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Char char="○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Green 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Char char="●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6140675" y="4119250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"/>
          <p:cNvSpPr/>
          <p:nvPr/>
        </p:nvSpPr>
        <p:spPr>
          <a:xfrm>
            <a:off x="0" y="0"/>
            <a:ext cx="12192000" cy="1426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7"/>
          <p:cNvSpPr txBox="1"/>
          <p:nvPr/>
        </p:nvSpPr>
        <p:spPr>
          <a:xfrm>
            <a:off x="2635675" y="259675"/>
            <a:ext cx="81858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3E4754"/>
                </a:solidFill>
                <a:latin typeface="Arial"/>
                <a:ea typeface="Arial"/>
                <a:cs typeface="Arial"/>
                <a:sym typeface="Arial"/>
              </a:rPr>
              <a:t>Nested Lists (Unordered)</a:t>
            </a:r>
            <a:endParaRPr b="0" i="0" sz="35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7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 txBox="1"/>
          <p:nvPr>
            <p:ph idx="1" type="body"/>
          </p:nvPr>
        </p:nvSpPr>
        <p:spPr>
          <a:xfrm>
            <a:off x="1480450" y="1550500"/>
            <a:ext cx="99204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Lists can be nested (list inside list):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0688" y="315725"/>
            <a:ext cx="794749" cy="7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7"/>
          <p:cNvSpPr txBox="1"/>
          <p:nvPr>
            <p:ph idx="1" type="body"/>
          </p:nvPr>
        </p:nvSpPr>
        <p:spPr>
          <a:xfrm>
            <a:off x="7847950" y="3138550"/>
            <a:ext cx="2566500" cy="22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rabi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Coffee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rabi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1. Black 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2. Green Tea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EB Garamond"/>
              <a:buAutoNum type="arabicPeriod"/>
            </a:pPr>
            <a:r>
              <a:rPr lang="en-US" sz="21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Milk</a:t>
            </a:r>
            <a:endParaRPr sz="21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6140675" y="4119250"/>
            <a:ext cx="741900" cy="26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7"/>
          <p:cNvSpPr txBox="1"/>
          <p:nvPr>
            <p:ph idx="1" type="body"/>
          </p:nvPr>
        </p:nvSpPr>
        <p:spPr>
          <a:xfrm>
            <a:off x="2320025" y="2443225"/>
            <a:ext cx="32079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Coffee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Black 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Green tea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600"/>
              <a:t>Milk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/li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6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/ol</a:t>
            </a:r>
            <a:r>
              <a:rPr lang="en-US" sz="16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"/>
          <p:cNvSpPr/>
          <p:nvPr/>
        </p:nvSpPr>
        <p:spPr>
          <a:xfrm rot="-5400000">
            <a:off x="6405621" y="1071620"/>
            <a:ext cx="6858001" cy="4714757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7" name="Google Shape;4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8"/>
          <p:cNvSpPr txBox="1"/>
          <p:nvPr>
            <p:ph type="title"/>
          </p:nvPr>
        </p:nvSpPr>
        <p:spPr>
          <a:xfrm>
            <a:off x="1145142" y="641064"/>
            <a:ext cx="500176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That’s all for this module!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