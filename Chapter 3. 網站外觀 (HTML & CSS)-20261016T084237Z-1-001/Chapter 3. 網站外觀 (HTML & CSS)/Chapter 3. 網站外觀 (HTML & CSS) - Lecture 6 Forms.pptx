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uRCGPlPUD1KN6JC8EAvykiKtV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Welcome to this M1 in SQL Course. In this first chapter of the course, we are going to do an introduction of databases and relational databases.</a:t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4" name="Google Shape;44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f869801dc3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f869801dc3_0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2f869801dc3_0_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2f869801dc3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2f869801dc3_0_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2f869801dc3_0_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2f869801dc3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g2f869801dc3_0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2f869801dc3_0_8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f869801dc3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2f869801dc3_0_1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2f869801dc3_0_15"/>
          <p:cNvSpPr txBox="1"/>
          <p:nvPr>
            <p:ph idx="1" type="body"/>
          </p:nvPr>
        </p:nvSpPr>
        <p:spPr>
          <a:xfrm>
            <a:off x="66458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g2f869801dc3_0_15"/>
          <p:cNvSpPr txBox="1"/>
          <p:nvPr>
            <p:ph idx="2" type="body"/>
          </p:nvPr>
        </p:nvSpPr>
        <p:spPr>
          <a:xfrm>
            <a:off x="432025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2f869801dc3_0_15"/>
          <p:cNvSpPr txBox="1"/>
          <p:nvPr>
            <p:ph idx="3" type="body"/>
          </p:nvPr>
        </p:nvSpPr>
        <p:spPr>
          <a:xfrm>
            <a:off x="797592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f869801dc3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2f869801dc3_0_2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2f869801dc3_0_21"/>
          <p:cNvSpPr txBox="1"/>
          <p:nvPr>
            <p:ph idx="1" type="body"/>
          </p:nvPr>
        </p:nvSpPr>
        <p:spPr>
          <a:xfrm>
            <a:off x="119317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2f869801dc3_0_21"/>
          <p:cNvSpPr txBox="1"/>
          <p:nvPr>
            <p:ph idx="2" type="body"/>
          </p:nvPr>
        </p:nvSpPr>
        <p:spPr>
          <a:xfrm>
            <a:off x="484884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2f869801dc3_0_21"/>
          <p:cNvSpPr txBox="1"/>
          <p:nvPr>
            <p:ph idx="3" type="body"/>
          </p:nvPr>
        </p:nvSpPr>
        <p:spPr>
          <a:xfrm>
            <a:off x="850451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2f869801dc3_0_21"/>
          <p:cNvSpPr txBox="1"/>
          <p:nvPr>
            <p:ph idx="4" type="body"/>
          </p:nvPr>
        </p:nvSpPr>
        <p:spPr>
          <a:xfrm>
            <a:off x="119317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2f869801dc3_0_21"/>
          <p:cNvSpPr txBox="1"/>
          <p:nvPr>
            <p:ph idx="5" type="body"/>
          </p:nvPr>
        </p:nvSpPr>
        <p:spPr>
          <a:xfrm>
            <a:off x="484884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2f869801dc3_0_21"/>
          <p:cNvSpPr txBox="1"/>
          <p:nvPr>
            <p:ph idx="6" type="body"/>
          </p:nvPr>
        </p:nvSpPr>
        <p:spPr>
          <a:xfrm>
            <a:off x="850451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f869801dc3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2f869801dc3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g2f869801dc3_0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g2f869801dc3_0_3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f869801dc3_0_36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 color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f869801dc3_0_38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Slide">
  <p:cSld name="General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869801dc3_0_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2f869801dc3_0_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g2f869801dc3_0_4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f869801dc3_0_4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2f869801dc3_0_4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09297"/>
              </a:buClr>
              <a:buSzPts val="2400"/>
              <a:buNone/>
              <a:defRPr sz="2400">
                <a:solidFill>
                  <a:srgbClr val="9092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2000"/>
              <a:buNone/>
              <a:defRPr sz="2000">
                <a:solidFill>
                  <a:srgbClr val="9092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800"/>
              <a:buNone/>
              <a:defRPr sz="1800">
                <a:solidFill>
                  <a:srgbClr val="9092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9pPr>
          </a:lstStyle>
          <a:p/>
        </p:txBody>
      </p:sp>
      <p:sp>
        <p:nvSpPr>
          <p:cNvPr id="57" name="Google Shape;57;g2f869801dc3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2f869801dc3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2f869801dc3_0_4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869801dc3_0_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2f869801dc3_0_5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g2f869801dc3_0_5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g2f869801dc3_0_5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g2f869801dc3_0_5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2f869801dc3_0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2f869801dc3_0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2f869801dc3_0_5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869801dc3_0_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2f869801dc3_0_6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g2f869801dc3_0_6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g2f869801dc3_0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2f869801dc3_0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2f869801dc3_0_6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869801dc3_0_6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2f869801dc3_0_67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2f869801dc3_0_67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g2f869801dc3_0_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2f869801dc3_0_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g2f869801dc3_0_67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869801dc3_0_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2f869801dc3_0_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2f869801dc3_0_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2f869801dc3_0_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2f869801dc3_0_7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869801dc3_0_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2f869801dc3_0_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2f869801dc3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2f869801dc3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2f869801dc3_0_8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f869801dc3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2f869801dc3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2f869801dc3_0_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01" y="1641414"/>
            <a:ext cx="6027751" cy="377378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>
            <p:ph type="title"/>
          </p:nvPr>
        </p:nvSpPr>
        <p:spPr>
          <a:xfrm>
            <a:off x="6872875" y="2344575"/>
            <a:ext cx="4471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Lecture 6</a:t>
            </a:r>
            <a:endParaRPr b="1"/>
          </a:p>
        </p:txBody>
      </p:sp>
      <p:sp>
        <p:nvSpPr>
          <p:cNvPr id="101" name="Google Shape;101;p1"/>
          <p:cNvSpPr/>
          <p:nvPr/>
        </p:nvSpPr>
        <p:spPr>
          <a:xfrm>
            <a:off x="10310420" y="6331352"/>
            <a:ext cx="1704000" cy="41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>
            <p:ph idx="1" type="body"/>
          </p:nvPr>
        </p:nvSpPr>
        <p:spPr>
          <a:xfrm>
            <a:off x="7725075" y="3774200"/>
            <a:ext cx="36195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Forms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"/>
          <p:cNvCxnSpPr/>
          <p:nvPr/>
        </p:nvCxnSpPr>
        <p:spPr>
          <a:xfrm>
            <a:off x="7707700" y="3532925"/>
            <a:ext cx="3619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625" y="920325"/>
            <a:ext cx="4887676" cy="488767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>
            <p:ph type="title"/>
          </p:nvPr>
        </p:nvSpPr>
        <p:spPr>
          <a:xfrm>
            <a:off x="7498700" y="1552500"/>
            <a:ext cx="34452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G E N D A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7212525" y="2635200"/>
            <a:ext cx="4520100" cy="25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 Input Types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 Input Attributes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 &amp; Text Area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2"/>
          <p:cNvCxnSpPr/>
          <p:nvPr/>
        </p:nvCxnSpPr>
        <p:spPr>
          <a:xfrm>
            <a:off x="7394800" y="2431075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2"/>
          <p:cNvCxnSpPr/>
          <p:nvPr/>
        </p:nvCxnSpPr>
        <p:spPr>
          <a:xfrm>
            <a:off x="7394800" y="1471625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2"/>
          <p:cNvCxnSpPr/>
          <p:nvPr/>
        </p:nvCxnSpPr>
        <p:spPr>
          <a:xfrm>
            <a:off x="7394800" y="5544075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Forms Input Types</a:t>
            </a:r>
            <a:endParaRPr b="1"/>
          </a:p>
        </p:txBody>
      </p:sp>
      <p:grpSp>
        <p:nvGrpSpPr>
          <p:cNvPr id="120" name="Google Shape;120;p3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121" name="Google Shape;121;p3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122" name="Google Shape;122;p3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3" name="Google Shape;123;p3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124" name="Google Shape;124;p3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" name="Google Shape;125;p3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" name="Google Shape;126;p3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" name="Google Shape;127;p3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8" name="Google Shape;128;p3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0" name="Google Shape;130;p3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131" name="Google Shape;131;p3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3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" name="Google Shape;133;p3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134" name="Google Shape;134;p3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3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" name="Google Shape;140;p3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141" name="Google Shape;141;p3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3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3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3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3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148" name="Google Shape;148;p3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3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3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3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3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163" name="Google Shape;163;p3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3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3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3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Forms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 txBox="1"/>
          <p:nvPr>
            <p:ph idx="1" type="body"/>
          </p:nvPr>
        </p:nvSpPr>
        <p:spPr>
          <a:xfrm>
            <a:off x="1480450" y="1806400"/>
            <a:ext cx="6720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Nowadays it is extremely difficult to find websites that do not include some type of form element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Forms are HTML elements which are used for user input. They can range from text fields where we write our username/passwords or select boxes where we choose our country, occupation.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There are numerous types of form elements, each suited for different purposes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26" y="346825"/>
            <a:ext cx="668975" cy="66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10825" y="2396975"/>
            <a:ext cx="2436275" cy="243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Forms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26" y="346825"/>
            <a:ext cx="668975" cy="66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5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>
            <p:ph idx="1" type="body"/>
          </p:nvPr>
        </p:nvSpPr>
        <p:spPr>
          <a:xfrm>
            <a:off x="1480450" y="1550500"/>
            <a:ext cx="99204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 Elements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 txBox="1"/>
          <p:nvPr>
            <p:ph idx="1" type="body"/>
          </p:nvPr>
        </p:nvSpPr>
        <p:spPr>
          <a:xfrm>
            <a:off x="1480450" y="2236300"/>
            <a:ext cx="6939600" cy="3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most common type of form element is the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&lt;input&gt;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tag, for allowing users to type in their input.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&lt;label&gt;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tag is a text label to describe the input, so the users know what to type in.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we fill up forms on the internet, we usually have a submit button. Forms can also define their own submit buttons.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376910">
            <a:off x="9173500" y="2670850"/>
            <a:ext cx="2328949" cy="23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Form Input Types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26" y="346825"/>
            <a:ext cx="668975" cy="66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6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>
            <p:ph idx="1" type="body"/>
          </p:nvPr>
        </p:nvSpPr>
        <p:spPr>
          <a:xfrm>
            <a:off x="2033750" y="1550500"/>
            <a:ext cx="7119600" cy="47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&lt;input&gt;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 defines all types of input elements.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type of input element is defined by the “type” attribute.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0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for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="name"&gt;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First Name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/label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type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="text"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id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="name"&gt;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“for” attribute in label matches the “id” of the input.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This is to bind the label and the input element together. </a:t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">
              <a:solidFill>
                <a:srgbClr val="00000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04" name="Google Shape;204;p6"/>
          <p:cNvSpPr/>
          <p:nvPr/>
        </p:nvSpPr>
        <p:spPr>
          <a:xfrm>
            <a:off x="6779300" y="4096250"/>
            <a:ext cx="13785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53338" y="3916325"/>
            <a:ext cx="22002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6"/>
          <p:cNvSpPr txBox="1"/>
          <p:nvPr/>
        </p:nvSpPr>
        <p:spPr>
          <a:xfrm>
            <a:off x="2033750" y="2937675"/>
            <a:ext cx="1788900" cy="434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Input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Form Input Types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26" y="346825"/>
            <a:ext cx="668975" cy="66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7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 txBox="1"/>
          <p:nvPr>
            <p:ph idx="1" type="body"/>
          </p:nvPr>
        </p:nvSpPr>
        <p:spPr>
          <a:xfrm>
            <a:off x="1480450" y="1550500"/>
            <a:ext cx="9920400" cy="3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0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for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="pwd"&gt;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Password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/label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type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="password"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id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="pwd"&gt;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Allows us to create password inputs</a:t>
            </a:r>
            <a:endParaRPr sz="1800"/>
          </a:p>
        </p:txBody>
      </p:sp>
      <p:sp>
        <p:nvSpPr>
          <p:cNvPr id="216" name="Google Shape;216;p7"/>
          <p:cNvSpPr/>
          <p:nvPr/>
        </p:nvSpPr>
        <p:spPr>
          <a:xfrm>
            <a:off x="6361675" y="2882825"/>
            <a:ext cx="13785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8162650" y="1550500"/>
            <a:ext cx="33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29007" y="2801875"/>
            <a:ext cx="221932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 txBox="1"/>
          <p:nvPr/>
        </p:nvSpPr>
        <p:spPr>
          <a:xfrm>
            <a:off x="2033750" y="1872925"/>
            <a:ext cx="2219400" cy="434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Password Input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Form Input Types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26" y="346825"/>
            <a:ext cx="668975" cy="66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8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 txBox="1"/>
          <p:nvPr>
            <p:ph idx="1" type="body"/>
          </p:nvPr>
        </p:nvSpPr>
        <p:spPr>
          <a:xfrm>
            <a:off x="1480450" y="1550500"/>
            <a:ext cx="9920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0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type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="radio" 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="coffee" 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="drink"&gt;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for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="coffee"&gt;</a:t>
            </a:r>
            <a:r>
              <a:rPr b="1"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Coffee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1" lang="en-US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0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type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="radio" 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="milk" 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="drink"&gt;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for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="milk"&gt;</a:t>
            </a:r>
            <a:r>
              <a:rPr b="1"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Milk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1" lang="en-US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0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type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="radio" 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="tea" 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="drink"&gt;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for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="tea"&gt;</a:t>
            </a:r>
            <a:r>
              <a:rPr b="1"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Tea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1" lang="en-US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Radio buttons allow users select ONLY ONE option from the list of choices.</a:t>
            </a:r>
            <a:endParaRPr sz="2400"/>
          </a:p>
        </p:txBody>
      </p:sp>
      <p:sp>
        <p:nvSpPr>
          <p:cNvPr id="229" name="Google Shape;229;p8"/>
          <p:cNvSpPr/>
          <p:nvPr/>
        </p:nvSpPr>
        <p:spPr>
          <a:xfrm>
            <a:off x="7268200" y="3242225"/>
            <a:ext cx="13785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8162650" y="1550500"/>
            <a:ext cx="33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2033750" y="1825650"/>
            <a:ext cx="2005500" cy="434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Radio Buttons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29713" y="2709863"/>
            <a:ext cx="2009775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Form Input Types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26" y="346825"/>
            <a:ext cx="668975" cy="66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9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 txBox="1"/>
          <p:nvPr>
            <p:ph idx="1" type="body"/>
          </p:nvPr>
        </p:nvSpPr>
        <p:spPr>
          <a:xfrm>
            <a:off x="1480450" y="1550500"/>
            <a:ext cx="10577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0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type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="checkbox" 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="coffee"&gt;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for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="coffee"&gt;</a:t>
            </a:r>
            <a:r>
              <a:rPr b="1"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Coffee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1" lang="en-US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0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type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="checkbox" 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="milk"&gt;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for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="milk"&gt;</a:t>
            </a:r>
            <a:r>
              <a:rPr b="1"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Milk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1" lang="en-US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0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type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="checkbox" 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="tea"&gt;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for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="tea"&gt;</a:t>
            </a:r>
            <a:r>
              <a:rPr b="1"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Tea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1" lang="en-US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50">
              <a:solidFill>
                <a:srgbClr val="0000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Checkboxes allow users select MULTIPLE options from the list of choices.</a:t>
            </a:r>
            <a:endParaRPr sz="2400"/>
          </a:p>
        </p:txBody>
      </p:sp>
      <p:sp>
        <p:nvSpPr>
          <p:cNvPr id="242" name="Google Shape;242;p9"/>
          <p:cNvSpPr/>
          <p:nvPr/>
        </p:nvSpPr>
        <p:spPr>
          <a:xfrm>
            <a:off x="6324875" y="3176175"/>
            <a:ext cx="13785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8162650" y="1550500"/>
            <a:ext cx="33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 txBox="1"/>
          <p:nvPr/>
        </p:nvSpPr>
        <p:spPr>
          <a:xfrm>
            <a:off x="2033750" y="1759425"/>
            <a:ext cx="1581300" cy="434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Checkbox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5338" y="2566988"/>
            <a:ext cx="1762125" cy="141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Forms Input Attributes</a:t>
            </a:r>
            <a:endParaRPr b="1"/>
          </a:p>
        </p:txBody>
      </p:sp>
      <p:grpSp>
        <p:nvGrpSpPr>
          <p:cNvPr id="252" name="Google Shape;252;p10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253" name="Google Shape;253;p10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254" name="Google Shape;254;p10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5" name="Google Shape;255;p10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256" name="Google Shape;256;p10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7" name="Google Shape;257;p10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8" name="Google Shape;258;p10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" name="Google Shape;259;p10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60" name="Google Shape;260;p10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0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2" name="Google Shape;262;p10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263" name="Google Shape;263;p10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0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5" name="Google Shape;265;p10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266" name="Google Shape;266;p10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0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8" name="Google Shape;268;p10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269" name="Google Shape;269;p10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0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0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2" name="Google Shape;272;p10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273" name="Google Shape;273;p10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0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0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0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0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0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9" name="Google Shape;279;p10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280" name="Google Shape;280;p10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0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0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0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0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0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0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0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0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0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0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0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4" name="Google Shape;294;p10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295" name="Google Shape;295;p10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0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0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10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10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10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10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0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0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0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10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1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Form Input Attributes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26" y="346825"/>
            <a:ext cx="668975" cy="66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1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 txBox="1"/>
          <p:nvPr>
            <p:ph idx="1" type="body"/>
          </p:nvPr>
        </p:nvSpPr>
        <p:spPr>
          <a:xfrm>
            <a:off x="1480450" y="1550500"/>
            <a:ext cx="9920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fields may have several attributes to enhance their functionality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0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for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="name"&gt;</a:t>
            </a:r>
            <a:r>
              <a:rPr lang="en-US" sz="1500"/>
              <a:t>First Name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/label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type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="text"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id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="name" 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="John"&gt;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input value specifies an initial value for the input field.</a:t>
            </a:r>
            <a:endParaRPr sz="100">
              <a:solidFill>
                <a:srgbClr val="00000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15" name="Google Shape;315;p11"/>
          <p:cNvSpPr/>
          <p:nvPr/>
        </p:nvSpPr>
        <p:spPr>
          <a:xfrm>
            <a:off x="7258375" y="3733450"/>
            <a:ext cx="8865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8832" y="3558275"/>
            <a:ext cx="2152650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1"/>
          <p:cNvSpPr txBox="1"/>
          <p:nvPr/>
        </p:nvSpPr>
        <p:spPr>
          <a:xfrm>
            <a:off x="2033750" y="2629675"/>
            <a:ext cx="2488800" cy="434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Input : value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2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Form Input Attributes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" name="Google Shape;32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26" y="346825"/>
            <a:ext cx="668975" cy="66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2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 txBox="1"/>
          <p:nvPr>
            <p:ph idx="1" type="body"/>
          </p:nvPr>
        </p:nvSpPr>
        <p:spPr>
          <a:xfrm>
            <a:off x="1532400" y="1550500"/>
            <a:ext cx="66651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0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for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="name"&gt;</a:t>
            </a:r>
            <a:r>
              <a:rPr lang="en-US" sz="1500"/>
              <a:t>First Name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/label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type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="text"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id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="name" 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="John" 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readonly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Readonly fields cannot be edited or changed by the user.</a:t>
            </a:r>
            <a:endParaRPr sz="18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">
              <a:solidFill>
                <a:srgbClr val="00000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327" name="Google Shape;32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9832" y="3218175"/>
            <a:ext cx="2152650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2"/>
          <p:cNvSpPr txBox="1"/>
          <p:nvPr/>
        </p:nvSpPr>
        <p:spPr>
          <a:xfrm>
            <a:off x="2033750" y="1958050"/>
            <a:ext cx="2667300" cy="4341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Input : readonly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8197500" y="3393338"/>
            <a:ext cx="8865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3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Form Input Attributes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Google Shape;33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26" y="346825"/>
            <a:ext cx="668975" cy="66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3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 txBox="1"/>
          <p:nvPr>
            <p:ph idx="1" type="body"/>
          </p:nvPr>
        </p:nvSpPr>
        <p:spPr>
          <a:xfrm>
            <a:off x="1588700" y="1550500"/>
            <a:ext cx="7291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0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for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="name"&gt;</a:t>
            </a:r>
            <a:r>
              <a:rPr lang="en-US" sz="1500"/>
              <a:t>First Name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/label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type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="text"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id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="name" 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="1234567890" 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maxlength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="10"&gt;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/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Maxlength sets the size of the input field.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We cannot input more than 10 characters in this instance.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">
              <a:solidFill>
                <a:srgbClr val="00000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39" name="Google Shape;339;p13"/>
          <p:cNvSpPr txBox="1"/>
          <p:nvPr/>
        </p:nvSpPr>
        <p:spPr>
          <a:xfrm>
            <a:off x="2033750" y="1996900"/>
            <a:ext cx="3054000" cy="434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Input : maxlength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8080675" y="3469538"/>
            <a:ext cx="8865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7471" y="3252799"/>
            <a:ext cx="2223004" cy="71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4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Form Input Attributes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26" y="346825"/>
            <a:ext cx="668975" cy="66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4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 txBox="1"/>
          <p:nvPr>
            <p:ph idx="1" type="body"/>
          </p:nvPr>
        </p:nvSpPr>
        <p:spPr>
          <a:xfrm>
            <a:off x="1559075" y="1550500"/>
            <a:ext cx="9839400" cy="45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0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for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="name"&gt;</a:t>
            </a:r>
            <a:r>
              <a:rPr lang="en-US" sz="1500"/>
              <a:t>First Name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/label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type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="text"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id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="name"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placeholder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="Enter your first name"&gt;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/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input placeholder attribute specifies a short hint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that describes the expected value of an input field.</a:t>
            </a:r>
            <a:endParaRPr sz="100">
              <a:solidFill>
                <a:srgbClr val="00000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51" name="Google Shape;351;p14"/>
          <p:cNvSpPr txBox="1"/>
          <p:nvPr/>
        </p:nvSpPr>
        <p:spPr>
          <a:xfrm>
            <a:off x="2033750" y="1939150"/>
            <a:ext cx="3113400" cy="4341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Input : placeholder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6861475" y="3545738"/>
            <a:ext cx="8865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0563" y="3176588"/>
            <a:ext cx="3038475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5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chemeClr val="lt1"/>
                </a:solidFill>
              </a:rPr>
              <a:t>Select &amp; Text Area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360" name="Google Shape;360;p15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361" name="Google Shape;361;p15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362" name="Google Shape;362;p15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3" name="Google Shape;363;p15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364" name="Google Shape;364;p15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" name="Google Shape;365;p15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" name="Google Shape;366;p15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" name="Google Shape;367;p15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68" name="Google Shape;368;p15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5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0" name="Google Shape;370;p15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371" name="Google Shape;371;p15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15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3" name="Google Shape;373;p15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374" name="Google Shape;374;p15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5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6" name="Google Shape;376;p15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377" name="Google Shape;377;p15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5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15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0" name="Google Shape;380;p15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381" name="Google Shape;381;p15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15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15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15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15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15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7" name="Google Shape;387;p15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388" name="Google Shape;388;p15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15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15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15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15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15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p15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15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15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15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15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15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15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15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2" name="Google Shape;402;p15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403" name="Google Shape;403;p15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15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15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15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15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15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15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15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15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15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5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6"/>
          <p:cNvSpPr/>
          <p:nvPr/>
        </p:nvSpPr>
        <p:spPr>
          <a:xfrm>
            <a:off x="2033750" y="1755225"/>
            <a:ext cx="1685400" cy="5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6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Other Form Elements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26" y="346825"/>
            <a:ext cx="668975" cy="669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6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 txBox="1"/>
          <p:nvPr>
            <p:ph idx="1" type="body"/>
          </p:nvPr>
        </p:nvSpPr>
        <p:spPr>
          <a:xfrm>
            <a:off x="1614375" y="1580225"/>
            <a:ext cx="9920400" cy="47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0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for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="name"&gt;</a:t>
            </a:r>
            <a:r>
              <a:rPr lang="en-US" sz="1500"/>
              <a:t>Choose a drink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/label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id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="name"&gt;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value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="coffee"&gt;</a:t>
            </a:r>
            <a:r>
              <a:rPr lang="en-US" sz="1500"/>
              <a:t>Coffee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/option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value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="milk"&gt;</a:t>
            </a:r>
            <a:r>
              <a:rPr lang="en-US" sz="1500"/>
              <a:t>Milk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/option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value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="tea"&gt;</a:t>
            </a:r>
            <a:r>
              <a:rPr lang="en-US" sz="1500"/>
              <a:t>Tea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/option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value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="coke"&gt;</a:t>
            </a:r>
            <a:r>
              <a:rPr lang="en-US" sz="1500"/>
              <a:t>Coke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/option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/select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&lt;label&gt;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tag is asking the user a question.</a:t>
            </a:r>
            <a:endParaRPr sz="1800">
              <a:solidFill>
                <a:srgbClr val="000000"/>
              </a:solidFill>
            </a:endParaRPr>
          </a:p>
          <a:p>
            <a:pPr indent="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&lt;option&gt;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tag defines the options that can be selected. The first one is auto-selected by default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">
              <a:solidFill>
                <a:srgbClr val="00000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24" name="Google Shape;424;p16"/>
          <p:cNvSpPr txBox="1"/>
          <p:nvPr/>
        </p:nvSpPr>
        <p:spPr>
          <a:xfrm>
            <a:off x="7899350" y="1668250"/>
            <a:ext cx="367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tag allows us to create a dropdown list to choose from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6"/>
          <p:cNvSpPr txBox="1"/>
          <p:nvPr/>
        </p:nvSpPr>
        <p:spPr>
          <a:xfrm>
            <a:off x="2033750" y="1755100"/>
            <a:ext cx="1685400" cy="503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&lt;select&gt;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7314650" y="3591700"/>
            <a:ext cx="13785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7" name="Google Shape;4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77775" y="2881323"/>
            <a:ext cx="2657000" cy="158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"/>
          <p:cNvSpPr/>
          <p:nvPr/>
        </p:nvSpPr>
        <p:spPr>
          <a:xfrm>
            <a:off x="2043025" y="1745300"/>
            <a:ext cx="1863900" cy="51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7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Other Form Elements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26" y="346825"/>
            <a:ext cx="668975" cy="669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7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 txBox="1"/>
          <p:nvPr>
            <p:ph idx="1" type="body"/>
          </p:nvPr>
        </p:nvSpPr>
        <p:spPr>
          <a:xfrm>
            <a:off x="1584575" y="1584000"/>
            <a:ext cx="9920400" cy="46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0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textarea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rows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="10" </a:t>
            </a:r>
            <a:r>
              <a:rPr b="1"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cols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="30"&gt;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500"/>
              <a:t>The cat was playing in the garden.</a:t>
            </a:r>
            <a:endParaRPr sz="15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-US" sz="15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/textarea</a:t>
            </a:r>
            <a:r>
              <a:rPr b="1" lang="en-US" sz="15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rows attribute specifies the visible number of lines in a text area.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cols attribute specifies the visible width of a text area.</a:t>
            </a:r>
            <a:endParaRPr sz="1800"/>
          </a:p>
        </p:txBody>
      </p:sp>
      <p:sp>
        <p:nvSpPr>
          <p:cNvPr id="438" name="Google Shape;438;p17"/>
          <p:cNvSpPr/>
          <p:nvPr/>
        </p:nvSpPr>
        <p:spPr>
          <a:xfrm>
            <a:off x="6079875" y="3759450"/>
            <a:ext cx="13785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7"/>
          <p:cNvSpPr txBox="1"/>
          <p:nvPr/>
        </p:nvSpPr>
        <p:spPr>
          <a:xfrm>
            <a:off x="6079875" y="1668250"/>
            <a:ext cx="5494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tag allows us to create a multi-line input field.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usually use this for comments or reviews.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0" name="Google Shape;4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6250" y="2855625"/>
            <a:ext cx="2990850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17"/>
          <p:cNvSpPr txBox="1"/>
          <p:nvPr/>
        </p:nvSpPr>
        <p:spPr>
          <a:xfrm>
            <a:off x="2033750" y="1755100"/>
            <a:ext cx="1863900" cy="50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&lt;textarea&gt;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4755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8"/>
          <p:cNvSpPr/>
          <p:nvPr/>
        </p:nvSpPr>
        <p:spPr>
          <a:xfrm rot="-5400000">
            <a:off x="6405643" y="1071599"/>
            <a:ext cx="6858000" cy="47148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7" name="Google Shape;4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9968" y="241300"/>
            <a:ext cx="6352032" cy="6352032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8"/>
          <p:cNvSpPr txBox="1"/>
          <p:nvPr>
            <p:ph type="title"/>
          </p:nvPr>
        </p:nvSpPr>
        <p:spPr>
          <a:xfrm>
            <a:off x="1145142" y="641064"/>
            <a:ext cx="5001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That’s all for this module!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alentlabs ERB course Theme">
  <a:themeElements>
    <a:clrScheme name="TalentLabs">
      <a:dk1>
        <a:srgbClr val="3E4754"/>
      </a:dk1>
      <a:lt1>
        <a:srgbClr val="F0EFEE"/>
      </a:lt1>
      <a:dk2>
        <a:srgbClr val="3C607E"/>
      </a:dk2>
      <a:lt2>
        <a:srgbClr val="E6E6E6"/>
      </a:lt2>
      <a:accent1>
        <a:srgbClr val="5080A6"/>
      </a:accent1>
      <a:accent2>
        <a:srgbClr val="FFB182"/>
      </a:accent2>
      <a:accent3>
        <a:srgbClr val="FFBBC6"/>
      </a:accent3>
      <a:accent4>
        <a:srgbClr val="FBD590"/>
      </a:accent4>
      <a:accent5>
        <a:srgbClr val="77A8C9"/>
      </a:accent5>
      <a:accent6>
        <a:srgbClr val="C4E7AA"/>
      </a:accent6>
      <a:hlink>
        <a:srgbClr val="DABAA3"/>
      </a:hlink>
      <a:folHlink>
        <a:srgbClr val="77A8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