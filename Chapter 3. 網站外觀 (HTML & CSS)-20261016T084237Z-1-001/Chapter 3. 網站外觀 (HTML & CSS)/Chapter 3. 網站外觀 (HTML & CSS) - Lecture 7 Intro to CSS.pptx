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ZXTF97M6oOAvQr/x8TtDJij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1FE58-3781-4818-91A1-7C49387D6BC0}">
  <a:tblStyle styleId="{9861FE58-3781-4818-91A1-7C49387D6B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a72a84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a72a84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a72a84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a72a84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a72a84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a72a84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a72a84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a72a84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a72a84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a72a84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a72a84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a72a84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a72a84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a72a84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a72a84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a72a84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a72a84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a72a84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a72a84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a72a84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a72a84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a72a84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a72a84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a72a84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a72a84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a72a84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a72a84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a72a84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a72a84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a72a84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a72a84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a72a84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a72a84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a72a84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a72a84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a72a84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a72a84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a72a84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a72a84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a72a84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a72a84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a72a84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a72a84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a72a84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a72a84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a72a84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a72a84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a72a84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a72a84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a72a84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a72a84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a72a84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a72a84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a72a84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a72a84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a72a84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a72a84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a72a84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a72a84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a72a84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a72a84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a72a84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a72a84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a72a84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a72a84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a72a84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a72a8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a72a8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a72a84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13375" y="2344575"/>
            <a:ext cx="453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7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to CSS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</a:rPr>
              <a:t>		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Introduction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Syntax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Specificity</a:t>
            </a:r>
            <a:b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Comments and Units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CSS Introduction</a:t>
            </a:r>
            <a:endParaRPr b="1"/>
          </a:p>
        </p:txBody>
      </p:sp>
      <p:grpSp>
        <p:nvGrpSpPr>
          <p:cNvPr id="119" name="Google Shape;119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0" name="Google Shape;120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" name="Google Shape;122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7" name="Google Shape;127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>
            <a:off x="7504675" y="448488"/>
            <a:ext cx="2098500" cy="2098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987050" y="3632300"/>
            <a:ext cx="2098500" cy="2098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013575" y="4012200"/>
            <a:ext cx="2194500" cy="219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2909525" y="939150"/>
            <a:ext cx="1806600" cy="1806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4"/>
          <p:cNvCxnSpPr/>
          <p:nvPr/>
        </p:nvCxnSpPr>
        <p:spPr>
          <a:xfrm>
            <a:off x="4114800" y="1958075"/>
            <a:ext cx="1523100" cy="870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4"/>
          <p:cNvCxnSpPr>
            <a:endCxn id="183" idx="1"/>
          </p:cNvCxnSpPr>
          <p:nvPr/>
        </p:nvCxnSpPr>
        <p:spPr>
          <a:xfrm flipH="1" rot="10800000">
            <a:off x="4616075" y="3852600"/>
            <a:ext cx="1217100" cy="10758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4"/>
          <p:cNvCxnSpPr/>
          <p:nvPr/>
        </p:nvCxnSpPr>
        <p:spPr>
          <a:xfrm flipH="1" rot="10800000">
            <a:off x="6914750" y="1532275"/>
            <a:ext cx="1286400" cy="1239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4"/>
          <p:cNvCxnSpPr/>
          <p:nvPr/>
        </p:nvCxnSpPr>
        <p:spPr>
          <a:xfrm>
            <a:off x="6735025" y="3282375"/>
            <a:ext cx="1967700" cy="1097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4"/>
          <p:cNvSpPr/>
          <p:nvPr/>
        </p:nvSpPr>
        <p:spPr>
          <a:xfrm>
            <a:off x="3056625" y="3975675"/>
            <a:ext cx="2194500" cy="2194500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491725" y="397200"/>
            <a:ext cx="2098500" cy="2098500"/>
          </a:xfrm>
          <a:prstGeom prst="ellipse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974100" y="3581013"/>
            <a:ext cx="2098500" cy="2098500"/>
          </a:xfrm>
          <a:prstGeom prst="ellipse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952575" y="902625"/>
            <a:ext cx="1806600" cy="18066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297225" y="2213400"/>
            <a:ext cx="2194500" cy="219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>
            <p:ph type="title"/>
          </p:nvPr>
        </p:nvSpPr>
        <p:spPr>
          <a:xfrm>
            <a:off x="5833175" y="3433650"/>
            <a:ext cx="11226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500">
                <a:latin typeface="Arial"/>
                <a:ea typeface="Arial"/>
                <a:cs typeface="Arial"/>
                <a:sym typeface="Arial"/>
              </a:rPr>
              <a:t>CSS</a:t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3400" y="2622675"/>
            <a:ext cx="662148" cy="93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2833326" y="1316775"/>
            <a:ext cx="20451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CSS stands for Cascading Style Sheets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>
            <p:ph idx="1" type="body"/>
          </p:nvPr>
        </p:nvSpPr>
        <p:spPr>
          <a:xfrm>
            <a:off x="8000800" y="3975674"/>
            <a:ext cx="20451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CSS is the language for styling an HTML webpage.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>
            <p:ph idx="1" type="body"/>
          </p:nvPr>
        </p:nvSpPr>
        <p:spPr>
          <a:xfrm>
            <a:off x="7583750" y="781550"/>
            <a:ext cx="19677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CSS describes how the webpage should be displayed.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3222225" y="4407900"/>
            <a:ext cx="18633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CSS can control the layout of multiple web pages in one go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>
            <p:ph type="title"/>
          </p:nvPr>
        </p:nvSpPr>
        <p:spPr>
          <a:xfrm>
            <a:off x="273360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Why CSS?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1731300" y="1299925"/>
            <a:ext cx="10190400" cy="5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was </a:t>
            </a:r>
            <a:r>
              <a:rPr b="1" lang="en-US" sz="1800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NEVER </a:t>
            </a: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intended to contain tags for formatting a web page!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was created to describe the content of a web page, like: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57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a heading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&lt;/h1&gt;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57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57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a paragraph.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&lt;/p&gt;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tags like &lt;font&gt;, and color attributes were added to the HTML 3.2 specification, it makes the code so messy. Development of large websites, where </a:t>
            </a:r>
            <a:r>
              <a:rPr lang="en-US" sz="1800">
                <a:solidFill>
                  <a:srgbClr val="000000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fonts and color information were added to every single page and every HTML elements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became a long and expensive process.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solve this problem, the World Wide Web Consortium (W3C) created CSS, which </a:t>
            </a:r>
            <a:r>
              <a:rPr lang="en-US" sz="1800">
                <a:solidFill>
                  <a:srgbClr val="000000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removed style formatting from the HTML page</a:t>
            </a:r>
            <a:endParaRPr sz="1800"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>
            <p:ph type="title"/>
          </p:nvPr>
        </p:nvSpPr>
        <p:spPr>
          <a:xfrm>
            <a:off x="2667884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Ways to Add CSS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>
            <p:ph idx="1" type="body"/>
          </p:nvPr>
        </p:nvSpPr>
        <p:spPr>
          <a:xfrm>
            <a:off x="5817275" y="1771550"/>
            <a:ext cx="1887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ways: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>
            <p:ph idx="1" type="body"/>
          </p:nvPr>
        </p:nvSpPr>
        <p:spPr>
          <a:xfrm>
            <a:off x="1943950" y="3127400"/>
            <a:ext cx="2814000" cy="2044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Inline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is defined inside an HTML element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5353775" y="3127400"/>
            <a:ext cx="2814000" cy="2044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is defined in the head section of the HTML document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8763600" y="3127400"/>
            <a:ext cx="2814000" cy="204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is created on a separate file, which is referenced in HEAD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6"/>
          <p:cNvCxnSpPr/>
          <p:nvPr/>
        </p:nvCxnSpPr>
        <p:spPr>
          <a:xfrm flipH="1" rot="10800000">
            <a:off x="2017163" y="3585225"/>
            <a:ext cx="2698500" cy="13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6"/>
          <p:cNvCxnSpPr/>
          <p:nvPr/>
        </p:nvCxnSpPr>
        <p:spPr>
          <a:xfrm>
            <a:off x="5360825" y="3599025"/>
            <a:ext cx="2799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6"/>
          <p:cNvCxnSpPr/>
          <p:nvPr/>
        </p:nvCxnSpPr>
        <p:spPr>
          <a:xfrm>
            <a:off x="8763600" y="3599025"/>
            <a:ext cx="2799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6"/>
          <p:cNvCxnSpPr/>
          <p:nvPr/>
        </p:nvCxnSpPr>
        <p:spPr>
          <a:xfrm>
            <a:off x="3358050" y="2762125"/>
            <a:ext cx="68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6"/>
          <p:cNvCxnSpPr>
            <a:stCxn id="210" idx="2"/>
            <a:endCxn id="212" idx="0"/>
          </p:cNvCxnSpPr>
          <p:nvPr/>
        </p:nvCxnSpPr>
        <p:spPr>
          <a:xfrm>
            <a:off x="6760775" y="2437550"/>
            <a:ext cx="0" cy="6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6"/>
          <p:cNvCxnSpPr>
            <a:stCxn id="211" idx="0"/>
          </p:cNvCxnSpPr>
          <p:nvPr/>
        </p:nvCxnSpPr>
        <p:spPr>
          <a:xfrm rot="10800000">
            <a:off x="3350950" y="2762000"/>
            <a:ext cx="0" cy="3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6"/>
          <p:cNvCxnSpPr/>
          <p:nvPr/>
        </p:nvCxnSpPr>
        <p:spPr>
          <a:xfrm rot="10800000">
            <a:off x="10170600" y="2762000"/>
            <a:ext cx="0" cy="3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CSS Syntax</a:t>
            </a:r>
            <a:endParaRPr b="1"/>
          </a:p>
        </p:txBody>
      </p:sp>
      <p:grpSp>
        <p:nvGrpSpPr>
          <p:cNvPr id="227" name="Google Shape;227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28" name="Google Shape;228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29" name="Google Shape;229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" name="Google Shape;230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31" name="Google Shape;231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5" name="Google Shape;235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7" name="Google Shape;237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38" name="Google Shape;238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41" name="Google Shape;241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44" name="Google Shape;244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48" name="Google Shape;248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55" name="Google Shape;255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>
            <p:ph type="title"/>
          </p:nvPr>
        </p:nvSpPr>
        <p:spPr>
          <a:xfrm>
            <a:off x="275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>
            <p:ph idx="1" type="body"/>
          </p:nvPr>
        </p:nvSpPr>
        <p:spPr>
          <a:xfrm>
            <a:off x="1480450" y="1332925"/>
            <a:ext cx="9920400" cy="50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consists of a </a:t>
            </a: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selector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a </a:t>
            </a: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declaration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block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Explanation:</a:t>
            </a:r>
            <a:endParaRPr b="1" sz="1800" u="sng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selector indicates all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tags to be selected for styling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Inside the declaration block, we are setting two properties and their corresponding values.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Colour of all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elements should be red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Margin of all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elements should be 12px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declarations are separated by semicolons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056400" y="2678000"/>
            <a:ext cx="1215300" cy="8301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h1</a:t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049850" y="2277800"/>
            <a:ext cx="12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487275" y="2678000"/>
            <a:ext cx="5004900" cy="830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{color:red; margin:12px;}</a:t>
            </a:r>
            <a:endParaRPr b="0" i="0" sz="3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6084475" y="227780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8651775" y="227780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8"/>
          <p:cNvCxnSpPr/>
          <p:nvPr/>
        </p:nvCxnSpPr>
        <p:spPr>
          <a:xfrm rot="10800000">
            <a:off x="6188200" y="3343715"/>
            <a:ext cx="0" cy="398100"/>
          </a:xfrm>
          <a:prstGeom prst="straightConnector1">
            <a:avLst/>
          </a:prstGeom>
          <a:noFill/>
          <a:ln cap="flat" cmpd="sng" w="9525">
            <a:solidFill>
              <a:srgbClr val="0000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8"/>
          <p:cNvSpPr txBox="1"/>
          <p:nvPr/>
        </p:nvSpPr>
        <p:spPr>
          <a:xfrm>
            <a:off x="5742700" y="3741825"/>
            <a:ext cx="8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8"/>
          <p:cNvCxnSpPr/>
          <p:nvPr/>
        </p:nvCxnSpPr>
        <p:spPr>
          <a:xfrm rot="10800000">
            <a:off x="7161300" y="3343715"/>
            <a:ext cx="0" cy="398100"/>
          </a:xfrm>
          <a:prstGeom prst="straightConnector1">
            <a:avLst/>
          </a:prstGeom>
          <a:noFill/>
          <a:ln cap="flat" cmpd="sng" w="9525">
            <a:solidFill>
              <a:srgbClr val="0000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8"/>
          <p:cNvSpPr txBox="1"/>
          <p:nvPr/>
        </p:nvSpPr>
        <p:spPr>
          <a:xfrm>
            <a:off x="6822000" y="3741825"/>
            <a:ext cx="67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8"/>
          <p:cNvCxnSpPr/>
          <p:nvPr/>
        </p:nvCxnSpPr>
        <p:spPr>
          <a:xfrm rot="10800000">
            <a:off x="8604600" y="3343715"/>
            <a:ext cx="0" cy="398100"/>
          </a:xfrm>
          <a:prstGeom prst="straightConnector1">
            <a:avLst/>
          </a:prstGeom>
          <a:noFill/>
          <a:ln cap="flat" cmpd="sng" w="9525">
            <a:solidFill>
              <a:srgbClr val="0000C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8"/>
          <p:cNvCxnSpPr/>
          <p:nvPr/>
        </p:nvCxnSpPr>
        <p:spPr>
          <a:xfrm rot="10800000">
            <a:off x="9681925" y="3343725"/>
            <a:ext cx="0" cy="398100"/>
          </a:xfrm>
          <a:prstGeom prst="straightConnector1">
            <a:avLst/>
          </a:prstGeom>
          <a:noFill/>
          <a:ln cap="flat" cmpd="sng" w="9525">
            <a:solidFill>
              <a:srgbClr val="0000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8"/>
          <p:cNvSpPr txBox="1"/>
          <p:nvPr/>
        </p:nvSpPr>
        <p:spPr>
          <a:xfrm>
            <a:off x="8178688" y="3741825"/>
            <a:ext cx="8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9359400" y="3741825"/>
            <a:ext cx="81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1480450" y="1550500"/>
            <a:ext cx="9920400" cy="4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HTML snippet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Hello World!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These paragraphs are styled with CSS.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styling applied to it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-U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Explanation: Pick all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&lt;p&gt;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elements and set their color to red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406750" y="4787650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813" y="4254425"/>
            <a:ext cx="305752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1188" y="2113588"/>
            <a:ext cx="315277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 txBox="1"/>
          <p:nvPr>
            <p:ph type="title"/>
          </p:nvPr>
        </p:nvSpPr>
        <p:spPr>
          <a:xfrm>
            <a:off x="275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/>
        </p:nvSpPr>
        <p:spPr>
          <a:xfrm>
            <a:off x="1811575" y="2144375"/>
            <a:ext cx="60600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="color:red;font-style:italic;"&gt;</a:t>
            </a:r>
            <a:endParaRPr b="0" i="0" sz="1600" u="none" cap="none" strike="noStrike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is a paragraph.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>
            <p:ph idx="1" type="body"/>
          </p:nvPr>
        </p:nvSpPr>
        <p:spPr>
          <a:xfrm>
            <a:off x="1480450" y="3836500"/>
            <a:ext cx="99204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inline styles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selectors needed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curly braces needed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declaration is separated by semicolons</a:t>
            </a:r>
            <a:endParaRPr sz="1800"/>
          </a:p>
        </p:txBody>
      </p:sp>
      <p:sp>
        <p:nvSpPr>
          <p:cNvPr id="319" name="Google Shape;319;p10"/>
          <p:cNvSpPr/>
          <p:nvPr/>
        </p:nvSpPr>
        <p:spPr>
          <a:xfrm rot="4363">
            <a:off x="7389649" y="2735860"/>
            <a:ext cx="1654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4113" y="2279463"/>
            <a:ext cx="22764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 txBox="1"/>
          <p:nvPr>
            <p:ph type="title"/>
          </p:nvPr>
        </p:nvSpPr>
        <p:spPr>
          <a:xfrm>
            <a:off x="275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Inline CSS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>
            <p:ph idx="1" type="body"/>
          </p:nvPr>
        </p:nvSpPr>
        <p:spPr>
          <a:xfrm>
            <a:off x="1480450" y="975575"/>
            <a:ext cx="4379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A52A2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/style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heading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paragraph.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 rot="4489">
            <a:off x="6116543" y="3056256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588" y="2609775"/>
            <a:ext cx="29051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 txBox="1"/>
          <p:nvPr/>
        </p:nvSpPr>
        <p:spPr>
          <a:xfrm>
            <a:off x="1843700" y="5375400"/>
            <a:ext cx="818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CSS = CSS Selector + declarations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inside a style tag in the head portion of the HTML document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>
            <p:ph type="title"/>
          </p:nvPr>
        </p:nvSpPr>
        <p:spPr>
          <a:xfrm>
            <a:off x="275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Internal CSS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>
            <p:ph idx="1" type="body"/>
          </p:nvPr>
        </p:nvSpPr>
        <p:spPr>
          <a:xfrm>
            <a:off x="1802050" y="1550500"/>
            <a:ext cx="53010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rel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="stylesheet"</a:t>
            </a:r>
            <a:r>
              <a:rPr lang="en-U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href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="mystyle.css"&gt;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heading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paragraph.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en-US" sz="16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/>
          <p:nvPr/>
        </p:nvSpPr>
        <p:spPr>
          <a:xfrm rot="4489">
            <a:off x="6405118" y="4545581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588" y="4403900"/>
            <a:ext cx="29051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2"/>
          <p:cNvPicPr preferRelativeResize="0"/>
          <p:nvPr/>
        </p:nvPicPr>
        <p:blipFill rotWithShape="1">
          <a:blip r:embed="rId4">
            <a:alphaModFix/>
          </a:blip>
          <a:srcRect b="11771" l="22476" r="20521" t="13344"/>
          <a:stretch/>
        </p:blipFill>
        <p:spPr>
          <a:xfrm>
            <a:off x="8991600" y="1263000"/>
            <a:ext cx="2148000" cy="27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 txBox="1"/>
          <p:nvPr/>
        </p:nvSpPr>
        <p:spPr>
          <a:xfrm>
            <a:off x="9134400" y="1474300"/>
            <a:ext cx="2005200" cy="17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mystyle.css: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70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sng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1554775" y="5298425"/>
            <a:ext cx="6316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are defined in a separate file (mystyle.css)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the file in the head section</a:t>
            </a:r>
            <a:endParaRPr b="0" i="0" sz="1800" u="none" cap="none" strike="noStrike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 txBox="1"/>
          <p:nvPr>
            <p:ph type="title"/>
          </p:nvPr>
        </p:nvSpPr>
        <p:spPr>
          <a:xfrm>
            <a:off x="275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External CSS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CSS Specificity</a:t>
            </a:r>
            <a:endParaRPr b="1"/>
          </a:p>
        </p:txBody>
      </p:sp>
      <p:grpSp>
        <p:nvGrpSpPr>
          <p:cNvPr id="353" name="Google Shape;353;p1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54" name="Google Shape;354;p1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55" name="Google Shape;355;p1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6" name="Google Shape;356;p1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57" name="Google Shape;357;p1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1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1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61" name="Google Shape;361;p1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" name="Google Shape;363;p1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64" name="Google Shape;364;p1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1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67" name="Google Shape;367;p1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1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70" name="Google Shape;370;p1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74" name="Google Shape;374;p1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81" name="Google Shape;381;p1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p1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96" name="Google Shape;396;p1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"/>
          <p:cNvSpPr/>
          <p:nvPr/>
        </p:nvSpPr>
        <p:spPr>
          <a:xfrm>
            <a:off x="7531250" y="2412100"/>
            <a:ext cx="3594600" cy="2260800"/>
          </a:xfrm>
          <a:prstGeom prst="wedgeRoundRectCallout">
            <a:avLst>
              <a:gd fmla="val 42630" name="adj1"/>
              <a:gd fmla="val 69721" name="adj2"/>
              <a:gd fmla="val 0" name="adj3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2646762" y="3662125"/>
            <a:ext cx="3718200" cy="2724300"/>
          </a:xfrm>
          <a:prstGeom prst="wedgeEllipseCallout">
            <a:avLst>
              <a:gd fmla="val -51366" name="adj1"/>
              <a:gd fmla="val 45824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844550" y="1457375"/>
            <a:ext cx="4559400" cy="1851600"/>
          </a:xfrm>
          <a:prstGeom prst="wedgeRectCallout">
            <a:avLst>
              <a:gd fmla="val -41421" name="adj1"/>
              <a:gd fmla="val 68493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1731050" y="1367975"/>
            <a:ext cx="4559400" cy="1851600"/>
          </a:xfrm>
          <a:prstGeom prst="wedgeRectCallout">
            <a:avLst>
              <a:gd fmla="val -41421" name="adj1"/>
              <a:gd fmla="val 68493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 txBox="1"/>
          <p:nvPr>
            <p:ph type="title"/>
          </p:nvPr>
        </p:nvSpPr>
        <p:spPr>
          <a:xfrm>
            <a:off x="21773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9144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Some questions to think about...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 txBox="1"/>
          <p:nvPr>
            <p:ph idx="1" type="body"/>
          </p:nvPr>
        </p:nvSpPr>
        <p:spPr>
          <a:xfrm>
            <a:off x="1958100" y="1457375"/>
            <a:ext cx="43323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What happens when all three of the inline/internal/external CSS are present?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What happens if they reference the same selector?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7652575" y="2317525"/>
            <a:ext cx="3594600" cy="2260800"/>
          </a:xfrm>
          <a:prstGeom prst="wedgeRoundRectCallout">
            <a:avLst>
              <a:gd fmla="val 42630" name="adj1"/>
              <a:gd fmla="val 69721" name="adj2"/>
              <a:gd fmla="val 0" name="adj3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 txBox="1"/>
          <p:nvPr>
            <p:ph idx="1" type="body"/>
          </p:nvPr>
        </p:nvSpPr>
        <p:spPr>
          <a:xfrm>
            <a:off x="7846525" y="2616700"/>
            <a:ext cx="32067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Specificity is the means by which browsers decide which CSS property values are the most relevant to an element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572262" y="3529700"/>
            <a:ext cx="3718200" cy="2724300"/>
          </a:xfrm>
          <a:prstGeom prst="wedgeEllipseCallout">
            <a:avLst>
              <a:gd fmla="val -51366" name="adj1"/>
              <a:gd fmla="val 45824" name="adj2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3086988" y="3890438"/>
            <a:ext cx="2837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multiple declarations have equal specificity, the last declaration found in the CSS is applied to the element.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>
            <p:ph type="title"/>
          </p:nvPr>
        </p:nvSpPr>
        <p:spPr>
          <a:xfrm>
            <a:off x="2347759" y="988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Which style would get applied?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 txBox="1"/>
          <p:nvPr>
            <p:ph idx="1" type="body"/>
          </p:nvPr>
        </p:nvSpPr>
        <p:spPr>
          <a:xfrm>
            <a:off x="1480450" y="1647675"/>
            <a:ext cx="9920400" cy="4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CSS</a:t>
            </a:r>
            <a:r>
              <a:rPr i="1" lang="en-US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en-US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			</a:t>
            </a:r>
            <a:r>
              <a:rPr i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CSS	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paragraph.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external and internal CSS are targeting the paragraph. Which styling will be applied?</a:t>
            </a:r>
            <a:endParaRPr sz="2300"/>
          </a:p>
        </p:txBody>
      </p:sp>
      <p:sp>
        <p:nvSpPr>
          <p:cNvPr id="429" name="Google Shape;429;p15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 rot="4489">
            <a:off x="6098643" y="4162381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1599450" y="1424525"/>
            <a:ext cx="46182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mystyle.</a:t>
            </a:r>
            <a:r>
              <a:rPr b="0" i="0" lang="en-US" sz="1400" u="sng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7057000" y="1424525"/>
            <a:ext cx="46182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mystyle.</a:t>
            </a:r>
            <a:r>
              <a:rPr b="0" i="0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5950" y="3576775"/>
            <a:ext cx="1767600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>
            <p:ph idx="1" type="body"/>
          </p:nvPr>
        </p:nvSpPr>
        <p:spPr>
          <a:xfrm>
            <a:off x="1480450" y="1669500"/>
            <a:ext cx="9920400" cy="46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CSS</a:t>
            </a:r>
            <a:r>
              <a:rPr i="1" lang="en-US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			</a:t>
            </a:r>
            <a:r>
              <a:rPr i="1" lang="en-US" sz="1450">
                <a:solidFill>
                  <a:srgbClr val="000000"/>
                </a:solidFill>
              </a:rPr>
              <a:t>        </a:t>
            </a:r>
            <a:r>
              <a:rPr i="1" lang="en-US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CSS</a:t>
            </a:r>
            <a:r>
              <a:rPr i="1" lang="en-US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i="1"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paragraph.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4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1" lang="en-US" sz="14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CSS has a </a:t>
            </a:r>
            <a:r>
              <a:rPr i="1" lang="en-US" sz="1800">
                <a:solidFill>
                  <a:srgbClr val="000000"/>
                </a:solidFill>
                <a:highlight>
                  <a:srgbClr val="F4CCCC"/>
                </a:highlight>
                <a:latin typeface="Arial"/>
                <a:ea typeface="Arial"/>
                <a:cs typeface="Arial"/>
                <a:sym typeface="Arial"/>
              </a:rPr>
              <a:t>higher specificity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external CSS</a:t>
            </a:r>
            <a:endParaRPr sz="180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40" name="Google Shape;440;p16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 rot="4489">
            <a:off x="6098643" y="4162381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6963" y="3730175"/>
            <a:ext cx="286702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6"/>
          <p:cNvSpPr txBox="1"/>
          <p:nvPr>
            <p:ph type="title"/>
          </p:nvPr>
        </p:nvSpPr>
        <p:spPr>
          <a:xfrm>
            <a:off x="2347759" y="988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Which style would get applied?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1599475" y="1424525"/>
            <a:ext cx="46182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mystyle.</a:t>
            </a:r>
            <a:r>
              <a:rPr b="0" i="0" lang="en-US" sz="1400" u="sng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7057000" y="1424525"/>
            <a:ext cx="46182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mystyle.</a:t>
            </a:r>
            <a:r>
              <a:rPr b="0" i="0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 txBox="1"/>
          <p:nvPr>
            <p:ph type="title"/>
          </p:nvPr>
        </p:nvSpPr>
        <p:spPr>
          <a:xfrm>
            <a:off x="2347759" y="11735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What about Internal CSS vs Inline CSS?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7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internal and inline CSS are targeting the paragraph. Which styling will be applied?</a:t>
            </a:r>
            <a:endParaRPr sz="2300"/>
          </a:p>
        </p:txBody>
      </p:sp>
      <p:sp>
        <p:nvSpPr>
          <p:cNvPr id="453" name="Google Shape;453;p17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 rot="4489">
            <a:off x="7341143" y="3171781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5650" y="2567325"/>
            <a:ext cx="1767600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7"/>
          <p:cNvSpPr txBox="1"/>
          <p:nvPr/>
        </p:nvSpPr>
        <p:spPr>
          <a:xfrm>
            <a:off x="1653900" y="1896250"/>
            <a:ext cx="5176200" cy="258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index.html: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1450" u="none" cap="none" strike="noStrike">
                <a:solidFill>
                  <a:srgbClr val="A52A2A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1400" u="sng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450" u="none" cap="none" strike="noStrike">
                <a:solidFill>
                  <a:srgbClr val="0000FF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"color:red"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paragraph.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Inline CSS has a </a:t>
            </a:r>
            <a:r>
              <a:rPr lang="en-US" sz="1900">
                <a:solidFill>
                  <a:srgbClr val="000000"/>
                </a:solidFill>
                <a:highlight>
                  <a:srgbClr val="F4CCCC"/>
                </a:highlight>
                <a:latin typeface="Arial"/>
                <a:ea typeface="Arial"/>
                <a:cs typeface="Arial"/>
                <a:sym typeface="Arial"/>
              </a:rPr>
              <a:t> higher specificity 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Internal CSS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Google Shape;4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1725" y="2739575"/>
            <a:ext cx="285750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/>
          <p:nvPr/>
        </p:nvSpPr>
        <p:spPr>
          <a:xfrm rot="4489">
            <a:off x="7096656" y="3171769"/>
            <a:ext cx="13785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8"/>
          <p:cNvSpPr txBox="1"/>
          <p:nvPr/>
        </p:nvSpPr>
        <p:spPr>
          <a:xfrm>
            <a:off x="1653900" y="1896250"/>
            <a:ext cx="5176200" cy="258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index.html: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1450" u="none" cap="none" strike="noStrike">
                <a:solidFill>
                  <a:srgbClr val="A52A2A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1400" u="sng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450" u="none" cap="none" strike="noStrike">
                <a:solidFill>
                  <a:srgbClr val="0000FF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"color:red"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paragraph.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8"/>
          <p:cNvSpPr txBox="1"/>
          <p:nvPr>
            <p:ph type="title"/>
          </p:nvPr>
        </p:nvSpPr>
        <p:spPr>
          <a:xfrm>
            <a:off x="2347759" y="11735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What about Internal CSS vs Inline CSS?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/>
          <p:nvPr/>
        </p:nvSpPr>
        <p:spPr>
          <a:xfrm>
            <a:off x="2873750" y="3168850"/>
            <a:ext cx="7406700" cy="1437900"/>
          </a:xfrm>
          <a:prstGeom prst="roundRect">
            <a:avLst>
              <a:gd fmla="val 855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2484209" y="117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Specificity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 txBox="1"/>
          <p:nvPr>
            <p:ph idx="1" type="body"/>
          </p:nvPr>
        </p:nvSpPr>
        <p:spPr>
          <a:xfrm>
            <a:off x="3363350" y="2070750"/>
            <a:ext cx="64275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terms of specificity,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5016200" y="3399650"/>
            <a:ext cx="535800" cy="7680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9"/>
          <p:cNvSpPr txBox="1"/>
          <p:nvPr>
            <p:ph idx="1" type="body"/>
          </p:nvPr>
        </p:nvSpPr>
        <p:spPr>
          <a:xfrm>
            <a:off x="3316525" y="3450650"/>
            <a:ext cx="1564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Inline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7469768" y="3399650"/>
            <a:ext cx="535800" cy="7680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9"/>
          <p:cNvSpPr txBox="1"/>
          <p:nvPr>
            <p:ph idx="1" type="body"/>
          </p:nvPr>
        </p:nvSpPr>
        <p:spPr>
          <a:xfrm>
            <a:off x="5794850" y="3450650"/>
            <a:ext cx="1564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 txBox="1"/>
          <p:nvPr>
            <p:ph idx="1" type="body"/>
          </p:nvPr>
        </p:nvSpPr>
        <p:spPr>
          <a:xfrm>
            <a:off x="8273175" y="3450650"/>
            <a:ext cx="1564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2989150" y="3064800"/>
            <a:ext cx="7406700" cy="1437900"/>
          </a:xfrm>
          <a:prstGeom prst="roundRect">
            <a:avLst>
              <a:gd fmla="val 8552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CSS Comments and Units</a:t>
            </a:r>
            <a:endParaRPr b="1"/>
          </a:p>
        </p:txBody>
      </p:sp>
      <p:grpSp>
        <p:nvGrpSpPr>
          <p:cNvPr id="488" name="Google Shape;488;p20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89" name="Google Shape;489;p20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90" name="Google Shape;490;p20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1" name="Google Shape;491;p20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92" name="Google Shape;492;p20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20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20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20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96" name="Google Shape;496;p20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0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8" name="Google Shape;498;p20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99" name="Google Shape;499;p2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20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02" name="Google Shape;502;p20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0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4" name="Google Shape;504;p20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05" name="Google Shape;505;p20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20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0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20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09" name="Google Shape;509;p20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20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20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20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20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0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20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16" name="Google Shape;516;p20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0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20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20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0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20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20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0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0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0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0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0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0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0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20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31" name="Google Shape;531;p20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0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0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0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0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0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0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0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0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0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0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 txBox="1"/>
          <p:nvPr>
            <p:ph type="title"/>
          </p:nvPr>
        </p:nvSpPr>
        <p:spPr>
          <a:xfrm>
            <a:off x="2484209" y="117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Comments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1"/>
          <p:cNvSpPr txBox="1"/>
          <p:nvPr>
            <p:ph idx="1" type="body"/>
          </p:nvPr>
        </p:nvSpPr>
        <p:spPr>
          <a:xfrm>
            <a:off x="2005375" y="1782150"/>
            <a:ext cx="100527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want to make some notes in the css file, 	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add comments by using /*..... */</a:t>
            </a:r>
            <a:endParaRPr sz="2400"/>
          </a:p>
        </p:txBody>
      </p:sp>
      <p:sp>
        <p:nvSpPr>
          <p:cNvPr id="549" name="Google Shape;549;p21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1"/>
          <p:cNvSpPr txBox="1"/>
          <p:nvPr/>
        </p:nvSpPr>
        <p:spPr>
          <a:xfrm>
            <a:off x="4605250" y="3152400"/>
            <a:ext cx="3557400" cy="222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 This is a comment */</a:t>
            </a:r>
            <a:endParaRPr b="0" i="0" sz="180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2250" u="none" cap="none" strike="noStrike">
                <a:solidFill>
                  <a:srgbClr val="A52A2A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22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22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margin: </a:t>
            </a:r>
            <a:r>
              <a:rPr b="0" i="0" lang="en-US" sz="2250" u="none" cap="none" strike="noStrike">
                <a:solidFill>
                  <a:srgbClr val="1155CC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12px</a:t>
            </a:r>
            <a:r>
              <a:rPr b="0" i="0" lang="en-US" sz="22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2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5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 txBox="1"/>
          <p:nvPr>
            <p:ph type="title"/>
          </p:nvPr>
        </p:nvSpPr>
        <p:spPr>
          <a:xfrm>
            <a:off x="2484209" y="117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Units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2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1811750" y="1664025"/>
            <a:ext cx="9094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Units for expressing length,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example, cm is a unit for length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types of lengths: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Absolute length units are fixed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units and displayed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exactly the same length regardless of the screen size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e.g. 5cm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Relative length units is a length unit relative to other reference length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e.g. half of the screen size. Relative length units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are usually better for building websites that could be fit in different devices and screen sizes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 txBox="1"/>
          <p:nvPr>
            <p:ph type="title"/>
          </p:nvPr>
        </p:nvSpPr>
        <p:spPr>
          <a:xfrm>
            <a:off x="2484209" y="117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Absolute Length Units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6" name="Google Shape;566;p23"/>
          <p:cNvGraphicFramePr/>
          <p:nvPr/>
        </p:nvGraphicFramePr>
        <p:xfrm>
          <a:off x="2076200" y="2042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{9861FE58-3781-4818-91A1-7C49387D6BC0}</a:tableStyleId>
              </a:tblPr>
              <a:tblGrid>
                <a:gridCol w="2665150"/>
                <a:gridCol w="5928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centimetres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millimetres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inches (1in = 96px)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px</a:t>
                      </a:r>
                      <a:endParaRPr sz="1400" u="none" cap="none" strike="noStrike"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pixels (1px = 1/96th of in)</a:t>
                      </a:r>
                      <a:endParaRPr sz="1400" u="none" cap="none" strike="noStrike"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points (1pt = 1/72 of in)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1pc = 12pt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7" name="Google Shape;567;p23"/>
          <p:cNvSpPr txBox="1"/>
          <p:nvPr/>
        </p:nvSpPr>
        <p:spPr>
          <a:xfrm>
            <a:off x="1811200" y="5273200"/>
            <a:ext cx="84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mainly be using pixels when dealing with absolute lengths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 txBox="1"/>
          <p:nvPr>
            <p:ph type="title"/>
          </p:nvPr>
        </p:nvSpPr>
        <p:spPr>
          <a:xfrm>
            <a:off x="2484209" y="117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Relative Length Units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5" name="Google Shape;575;p24"/>
          <p:cNvGraphicFramePr/>
          <p:nvPr/>
        </p:nvGraphicFramePr>
        <p:xfrm>
          <a:off x="2095400" y="203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{9861FE58-3781-4818-91A1-7C49387D6BC0}</a:tableStyleId>
              </a:tblPr>
              <a:tblGrid>
                <a:gridCol w="2646250"/>
                <a:gridCol w="6051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Relative to font-size (3 em means 3 times the size of current font)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Relative to browser or view width. 1 vw means 1 percent of the width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Relative to browser or view height. 1 vh means 1 percent of the height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400" u="none" cap="none" strike="noStrike"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Relative to parent element. 50% means take 50% size of the parent element</a:t>
                      </a:r>
                      <a:endParaRPr sz="1400" u="none" cap="none" strike="noStrike"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6" name="Google Shape;576;p24"/>
          <p:cNvSpPr txBox="1"/>
          <p:nvPr/>
        </p:nvSpPr>
        <p:spPr>
          <a:xfrm>
            <a:off x="1811200" y="5273200"/>
            <a:ext cx="79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mainly be using percentages when using relative lengths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5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5"/>
          <p:cNvSpPr txBox="1"/>
          <p:nvPr>
            <p:ph type="title"/>
          </p:nvPr>
        </p:nvSpPr>
        <p:spPr>
          <a:xfrm>
            <a:off x="1145150" y="2116732"/>
            <a:ext cx="50019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That’s all for this module!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