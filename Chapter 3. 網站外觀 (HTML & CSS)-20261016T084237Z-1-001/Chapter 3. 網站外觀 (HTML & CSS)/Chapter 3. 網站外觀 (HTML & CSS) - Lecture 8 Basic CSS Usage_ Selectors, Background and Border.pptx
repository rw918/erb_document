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8" roundtripDataSignature="AMtx7mgamFg3kKwkXbncavJQ/udDy0wE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5578B8A-8B9F-488B-829A-1A56B100610C}">
  <a:tblStyle styleId="{75578B8A-8B9F-488B-829A-1A56B100610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Welcome to this M1 in SQL Course. In this first chapter of the course, we are going to do an introduction of databases and relational databases.</a:t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Without further adieu, Let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lang="en-US" sz="1800"/>
              <a:t>s look at the course introduction so that you will know what you are going to learn.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Without further adieu, Let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lang="en-US" sz="1800"/>
              <a:t>s look at the course introduction so that you will know what you are going to learn.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8" name="Google Shape;35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" name="Google Shape;38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7" name="Google Shape;40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9" name="Google Shape;42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5" name="Google Shape;44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2" name="Google Shape;46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7" name="Google Shape;47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0" name="Google Shape;49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5" name="Google Shape;50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Without further adieu, Let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lang="en-US" sz="1800"/>
              <a:t>s look at the course introduction so that you will know what you are going to learn.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1" name="Google Shape;52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1" name="Google Shape;58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8" name="Google Shape;58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8" name="Google Shape;59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0" name="Google Shape;61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Without further adieu, Let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lang="en-US" sz="1800"/>
              <a:t>s look at the course introduction so that you will know what you are going to learn.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3" name="Google Shape;62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Reference: https://www.w3schools.com/css/css_border.asp</a:t>
            </a:r>
            <a:endParaRPr/>
          </a:p>
        </p:txBody>
      </p:sp>
      <p:sp>
        <p:nvSpPr>
          <p:cNvPr id="683" name="Google Shape;68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2" name="Google Shape;69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5" name="Google Shape;705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1" name="Google Shape;72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4" name="Google Shape;73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2f869ea6eef_0_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2f869ea6eef_0_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g2f869ea6eef_0_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2f869ea6eef_0_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2f869ea6eef_0_8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g2f869ea6eef_0_8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g2f869ea6eef_0_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g2f869ea6eef_0_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g2f869ea6eef_0_8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2f869ea6eef_0_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g2f869ea6eef_0_1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g2f869ea6eef_0_15"/>
          <p:cNvSpPr txBox="1"/>
          <p:nvPr>
            <p:ph idx="1" type="body"/>
          </p:nvPr>
        </p:nvSpPr>
        <p:spPr>
          <a:xfrm>
            <a:off x="66458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g2f869ea6eef_0_15"/>
          <p:cNvSpPr txBox="1"/>
          <p:nvPr>
            <p:ph idx="2" type="body"/>
          </p:nvPr>
        </p:nvSpPr>
        <p:spPr>
          <a:xfrm>
            <a:off x="432025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g2f869ea6eef_0_15"/>
          <p:cNvSpPr txBox="1"/>
          <p:nvPr>
            <p:ph idx="3" type="body"/>
          </p:nvPr>
        </p:nvSpPr>
        <p:spPr>
          <a:xfrm>
            <a:off x="797592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2f869ea6eef_0_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2f869ea6eef_0_2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g2f869ea6eef_0_21"/>
          <p:cNvSpPr txBox="1"/>
          <p:nvPr>
            <p:ph idx="1" type="body"/>
          </p:nvPr>
        </p:nvSpPr>
        <p:spPr>
          <a:xfrm>
            <a:off x="119317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g2f869ea6eef_0_21"/>
          <p:cNvSpPr txBox="1"/>
          <p:nvPr>
            <p:ph idx="2" type="body"/>
          </p:nvPr>
        </p:nvSpPr>
        <p:spPr>
          <a:xfrm>
            <a:off x="484884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g2f869ea6eef_0_21"/>
          <p:cNvSpPr txBox="1"/>
          <p:nvPr>
            <p:ph idx="3" type="body"/>
          </p:nvPr>
        </p:nvSpPr>
        <p:spPr>
          <a:xfrm>
            <a:off x="850451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g2f869ea6eef_0_21"/>
          <p:cNvSpPr txBox="1"/>
          <p:nvPr>
            <p:ph idx="4" type="body"/>
          </p:nvPr>
        </p:nvSpPr>
        <p:spPr>
          <a:xfrm>
            <a:off x="119317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g2f869ea6eef_0_21"/>
          <p:cNvSpPr txBox="1"/>
          <p:nvPr>
            <p:ph idx="5" type="body"/>
          </p:nvPr>
        </p:nvSpPr>
        <p:spPr>
          <a:xfrm>
            <a:off x="484884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g2f869ea6eef_0_21"/>
          <p:cNvSpPr txBox="1"/>
          <p:nvPr>
            <p:ph idx="6" type="body"/>
          </p:nvPr>
        </p:nvSpPr>
        <p:spPr>
          <a:xfrm>
            <a:off x="850451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2f869ea6eef_0_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2f869ea6eef_0_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g2f869ea6eef_0_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g2f869ea6eef_0_3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1_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f869ea6eef_0_36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">
  <p:cSld name="Blank color">
    <p:bg>
      <p:bgPr>
        <a:solidFill>
          <a:schemeClr val="accen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f869ea6eef_0_38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l Slide">
  <p:cSld name="General Slid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869ea6eef_0_4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2f869ea6eef_0_4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3" name="Google Shape;53;g2f869ea6eef_0_4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f869ea6eef_0_45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2f869ea6eef_0_45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09297"/>
              </a:buClr>
              <a:buSzPts val="2400"/>
              <a:buNone/>
              <a:defRPr sz="2400">
                <a:solidFill>
                  <a:srgbClr val="909297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2000"/>
              <a:buNone/>
              <a:defRPr sz="2000">
                <a:solidFill>
                  <a:srgbClr val="909297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800"/>
              <a:buNone/>
              <a:defRPr sz="1800">
                <a:solidFill>
                  <a:srgbClr val="909297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9pPr>
          </a:lstStyle>
          <a:p/>
        </p:txBody>
      </p:sp>
      <p:sp>
        <p:nvSpPr>
          <p:cNvPr id="57" name="Google Shape;57;g2f869ea6eef_0_4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g2f869ea6eef_0_4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g2f869ea6eef_0_4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f869ea6eef_0_51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2f869ea6eef_0_51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g2f869ea6eef_0_51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g2f869ea6eef_0_51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g2f869ea6eef_0_51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g2f869ea6eef_0_5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g2f869ea6eef_0_5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g2f869ea6eef_0_5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f869ea6eef_0_6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2f869ea6eef_0_60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2" name="Google Shape;72;g2f869ea6eef_0_60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g2f869ea6eef_0_6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g2f869ea6eef_0_6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g2f869ea6eef_0_6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869ea6eef_0_67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2f869ea6eef_0_67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g2f869ea6eef_0_67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g2f869ea6eef_0_6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g2f869ea6eef_0_6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g2f869ea6eef_0_67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f869ea6eef_0_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2f869ea6eef_0_74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g2f869ea6eef_0_7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g2f869ea6eef_0_7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g2f869ea6eef_0_7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869ea6eef_0_80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2f869ea6eef_0_80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g2f869ea6eef_0_8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g2f869ea6eef_0_8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g2f869ea6eef_0_8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f869ea6eef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g2f869ea6eef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2f869ea6eef_0_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801" y="1641414"/>
            <a:ext cx="6027751" cy="377378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 txBox="1"/>
          <p:nvPr>
            <p:ph type="title"/>
          </p:nvPr>
        </p:nvSpPr>
        <p:spPr>
          <a:xfrm>
            <a:off x="6828250" y="2344575"/>
            <a:ext cx="4516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Lecture 8</a:t>
            </a:r>
            <a:endParaRPr b="1"/>
          </a:p>
        </p:txBody>
      </p:sp>
      <p:sp>
        <p:nvSpPr>
          <p:cNvPr id="101" name="Google Shape;101;p1"/>
          <p:cNvSpPr/>
          <p:nvPr/>
        </p:nvSpPr>
        <p:spPr>
          <a:xfrm>
            <a:off x="10310420" y="6331352"/>
            <a:ext cx="1704000" cy="41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/>
          <p:nvPr>
            <p:ph idx="1" type="body"/>
          </p:nvPr>
        </p:nvSpPr>
        <p:spPr>
          <a:xfrm>
            <a:off x="7213075" y="3774200"/>
            <a:ext cx="4131600" cy="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Basic CSS Usage: Selectors, Background and Border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1"/>
          <p:cNvCxnSpPr/>
          <p:nvPr/>
        </p:nvCxnSpPr>
        <p:spPr>
          <a:xfrm>
            <a:off x="7707700" y="3532925"/>
            <a:ext cx="3619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5625" y="920325"/>
            <a:ext cx="4887676" cy="488767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>
            <p:ph type="title"/>
          </p:nvPr>
        </p:nvSpPr>
        <p:spPr>
          <a:xfrm>
            <a:off x="7498700" y="1552500"/>
            <a:ext cx="3445200" cy="7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G E N D A</a:t>
            </a:r>
            <a:endParaRPr b="1"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>
            <p:ph idx="1" type="body"/>
          </p:nvPr>
        </p:nvSpPr>
        <p:spPr>
          <a:xfrm>
            <a:off x="7212525" y="2635200"/>
            <a:ext cx="4520100" cy="3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Simple Selectors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Combinator Selectors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CSS Background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CSS Borders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" name="Google Shape;111;p2"/>
          <p:cNvCxnSpPr/>
          <p:nvPr/>
        </p:nvCxnSpPr>
        <p:spPr>
          <a:xfrm>
            <a:off x="7394800" y="2431075"/>
            <a:ext cx="3151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p2"/>
          <p:cNvCxnSpPr/>
          <p:nvPr/>
        </p:nvCxnSpPr>
        <p:spPr>
          <a:xfrm>
            <a:off x="7394800" y="1471625"/>
            <a:ext cx="3151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solidFill>
                  <a:schemeClr val="lt1"/>
                </a:solidFill>
              </a:rPr>
              <a:t>Simple Selectors</a:t>
            </a:r>
            <a:endParaRPr b="1">
              <a:solidFill>
                <a:schemeClr val="lt1"/>
              </a:solidFill>
            </a:endParaRPr>
          </a:p>
        </p:txBody>
      </p:sp>
      <p:grpSp>
        <p:nvGrpSpPr>
          <p:cNvPr id="119" name="Google Shape;119;p3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120" name="Google Shape;120;p3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121" name="Google Shape;121;p3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2" name="Google Shape;122;p3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123" name="Google Shape;123;p3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" name="Google Shape;124;p3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" name="Google Shape;125;p3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" name="Google Shape;126;p3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27" name="Google Shape;127;p3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3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9" name="Google Shape;129;p3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130" name="Google Shape;130;p3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3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2" name="Google Shape;132;p3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133" name="Google Shape;133;p3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3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" name="Google Shape;135;p3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136" name="Google Shape;136;p3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3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3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9" name="Google Shape;139;p3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140" name="Google Shape;140;p3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3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3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3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3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6" name="Google Shape;146;p3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147" name="Google Shape;147;p3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3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3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3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3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3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3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3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3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3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3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3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3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3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1" name="Google Shape;161;p3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162" name="Google Shape;162;p3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3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3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3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3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3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3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3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3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3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3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 txBox="1"/>
          <p:nvPr>
            <p:ph type="title"/>
          </p:nvPr>
        </p:nvSpPr>
        <p:spPr>
          <a:xfrm>
            <a:off x="2347759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CSS Selectors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4"/>
          <p:cNvSpPr txBox="1"/>
          <p:nvPr>
            <p:ph idx="1" type="body"/>
          </p:nvPr>
        </p:nvSpPr>
        <p:spPr>
          <a:xfrm>
            <a:off x="4951375" y="2110675"/>
            <a:ext cx="6096300" cy="30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Often times in HTML documents, we will have the same tag repeating multiple times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We will need a more specific method to select the HTML element for styling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In this chapter, we learn about how we can pinpoint HTML elements that we want to style.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314968">
            <a:off x="2062514" y="2333440"/>
            <a:ext cx="2306795" cy="2306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"/>
          <p:cNvSpPr/>
          <p:nvPr/>
        </p:nvSpPr>
        <p:spPr>
          <a:xfrm>
            <a:off x="6030850" y="3055350"/>
            <a:ext cx="1772700" cy="1166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8106438" y="3055350"/>
            <a:ext cx="1772700" cy="1166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10191350" y="3055350"/>
            <a:ext cx="1772700" cy="1166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4004200" y="3055350"/>
            <a:ext cx="1772700" cy="1166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1560775" y="3055350"/>
            <a:ext cx="2210700" cy="3566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5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 txBox="1"/>
          <p:nvPr>
            <p:ph type="title"/>
          </p:nvPr>
        </p:nvSpPr>
        <p:spPr>
          <a:xfrm>
            <a:off x="2347759" y="116225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CSS Selectors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 txBox="1"/>
          <p:nvPr>
            <p:ph idx="1" type="body"/>
          </p:nvPr>
        </p:nvSpPr>
        <p:spPr>
          <a:xfrm>
            <a:off x="1957000" y="1339250"/>
            <a:ext cx="99204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Different types of selectors: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5"/>
          <p:cNvSpPr txBox="1"/>
          <p:nvPr>
            <p:ph idx="1" type="body"/>
          </p:nvPr>
        </p:nvSpPr>
        <p:spPr>
          <a:xfrm>
            <a:off x="1678650" y="4325250"/>
            <a:ext cx="1887000" cy="1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(HTML tag, class, id)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One of the most common and basic selectors.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They use classes and ids in order to pinpoint HTML elements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5"/>
          <p:cNvSpPr txBox="1"/>
          <p:nvPr>
            <p:ph idx="1" type="body"/>
          </p:nvPr>
        </p:nvSpPr>
        <p:spPr>
          <a:xfrm>
            <a:off x="1968025" y="3133375"/>
            <a:ext cx="1396200" cy="8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Simple selectors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5"/>
          <p:cNvSpPr txBox="1"/>
          <p:nvPr>
            <p:ph idx="1" type="body"/>
          </p:nvPr>
        </p:nvSpPr>
        <p:spPr>
          <a:xfrm>
            <a:off x="4096550" y="3133375"/>
            <a:ext cx="1565400" cy="10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Combinator selectors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"/>
          <p:cNvSpPr txBox="1"/>
          <p:nvPr>
            <p:ph idx="1" type="body"/>
          </p:nvPr>
        </p:nvSpPr>
        <p:spPr>
          <a:xfrm>
            <a:off x="6134500" y="3133375"/>
            <a:ext cx="1565400" cy="10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Pseudo-class selectors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"/>
          <p:cNvSpPr txBox="1"/>
          <p:nvPr>
            <p:ph idx="1" type="body"/>
          </p:nvPr>
        </p:nvSpPr>
        <p:spPr>
          <a:xfrm>
            <a:off x="8049288" y="3133375"/>
            <a:ext cx="1887000" cy="10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Pseudo-elements selectors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 txBox="1"/>
          <p:nvPr>
            <p:ph idx="1" type="body"/>
          </p:nvPr>
        </p:nvSpPr>
        <p:spPr>
          <a:xfrm>
            <a:off x="10134200" y="3133375"/>
            <a:ext cx="1887000" cy="10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Attribute selectors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" name="Google Shape;199;p5"/>
          <p:cNvCxnSpPr/>
          <p:nvPr/>
        </p:nvCxnSpPr>
        <p:spPr>
          <a:xfrm>
            <a:off x="1608075" y="4209375"/>
            <a:ext cx="21285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" name="Google Shape;200;p5"/>
          <p:cNvCxnSpPr>
            <a:stCxn id="189" idx="0"/>
          </p:cNvCxnSpPr>
          <p:nvPr/>
        </p:nvCxnSpPr>
        <p:spPr>
          <a:xfrm rot="10800000">
            <a:off x="2666125" y="2705250"/>
            <a:ext cx="0" cy="35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p5"/>
          <p:cNvCxnSpPr/>
          <p:nvPr/>
        </p:nvCxnSpPr>
        <p:spPr>
          <a:xfrm rot="10800000">
            <a:off x="11077700" y="2705250"/>
            <a:ext cx="0" cy="35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" name="Google Shape;202;p5"/>
          <p:cNvCxnSpPr/>
          <p:nvPr/>
        </p:nvCxnSpPr>
        <p:spPr>
          <a:xfrm>
            <a:off x="2676975" y="2714800"/>
            <a:ext cx="8409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" name="Google Shape;203;p5"/>
          <p:cNvCxnSpPr/>
          <p:nvPr/>
        </p:nvCxnSpPr>
        <p:spPr>
          <a:xfrm rot="10800000">
            <a:off x="4890550" y="2705250"/>
            <a:ext cx="0" cy="35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" name="Google Shape;204;p5"/>
          <p:cNvCxnSpPr/>
          <p:nvPr/>
        </p:nvCxnSpPr>
        <p:spPr>
          <a:xfrm rot="10800000">
            <a:off x="8992800" y="2705250"/>
            <a:ext cx="0" cy="35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" name="Google Shape;205;p5"/>
          <p:cNvCxnSpPr>
            <a:stCxn id="185" idx="0"/>
            <a:endCxn id="192" idx="2"/>
          </p:cNvCxnSpPr>
          <p:nvPr/>
        </p:nvCxnSpPr>
        <p:spPr>
          <a:xfrm rot="10800000">
            <a:off x="6917200" y="1904550"/>
            <a:ext cx="0" cy="115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5"/>
          <p:cNvSpPr txBox="1"/>
          <p:nvPr/>
        </p:nvSpPr>
        <p:spPr>
          <a:xfrm>
            <a:off x="2840175" y="1816763"/>
            <a:ext cx="1887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will be covered in this course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5"/>
          <p:cNvSpPr/>
          <p:nvPr/>
        </p:nvSpPr>
        <p:spPr>
          <a:xfrm rot="-5400000">
            <a:off x="3649575" y="1373200"/>
            <a:ext cx="268200" cy="2213400"/>
          </a:xfrm>
          <a:prstGeom prst="rightBrace">
            <a:avLst>
              <a:gd fmla="val 50000" name="adj1"/>
              <a:gd fmla="val 50429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 txBox="1"/>
          <p:nvPr>
            <p:ph type="title"/>
          </p:nvPr>
        </p:nvSpPr>
        <p:spPr>
          <a:xfrm>
            <a:off x="2621321" y="108088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ID Selector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 txBox="1"/>
          <p:nvPr>
            <p:ph idx="1" type="body"/>
          </p:nvPr>
        </p:nvSpPr>
        <p:spPr>
          <a:xfrm>
            <a:off x="1480450" y="1453175"/>
            <a:ext cx="9920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ID selector pinpoints HTML elements by locating their id attribute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 different HTML elements cannot have the same id. 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6"/>
          <p:cNvSpPr txBox="1"/>
          <p:nvPr/>
        </p:nvSpPr>
        <p:spPr>
          <a:xfrm>
            <a:off x="2501750" y="4440175"/>
            <a:ext cx="3966600" cy="106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A52A2A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para 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red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6"/>
          <p:cNvSpPr txBox="1"/>
          <p:nvPr/>
        </p:nvSpPr>
        <p:spPr>
          <a:xfrm>
            <a:off x="2464325" y="2752100"/>
            <a:ext cx="4004100" cy="126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This is a heading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/h1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5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 </a:t>
            </a:r>
            <a:r>
              <a:rPr b="0" i="0" lang="en-US" sz="1500" u="none" cap="none" strike="noStrike">
                <a:solidFill>
                  <a:srgbClr val="A52A2A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0" i="0" lang="en-US" sz="15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="para"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a paragraph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-US" sz="15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5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another paragraph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-US" sz="15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7" name="Google Shape;217;p6"/>
          <p:cNvSpPr txBox="1"/>
          <p:nvPr/>
        </p:nvSpPr>
        <p:spPr>
          <a:xfrm>
            <a:off x="2501750" y="5785650"/>
            <a:ext cx="4716600" cy="6465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Warning: ID Selectors should not begin with a numerical!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p6"/>
          <p:cNvCxnSpPr/>
          <p:nvPr/>
        </p:nvCxnSpPr>
        <p:spPr>
          <a:xfrm rot="10800000">
            <a:off x="2194625" y="4625050"/>
            <a:ext cx="416100" cy="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9" name="Google Shape;219;p6"/>
          <p:cNvSpPr txBox="1"/>
          <p:nvPr/>
        </p:nvSpPr>
        <p:spPr>
          <a:xfrm>
            <a:off x="748925" y="4424500"/>
            <a:ext cx="149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is the ID selector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1438" y="3509013"/>
            <a:ext cx="2600325" cy="1295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1" name="Google Shape;221;p6"/>
          <p:cNvCxnSpPr/>
          <p:nvPr/>
        </p:nvCxnSpPr>
        <p:spPr>
          <a:xfrm>
            <a:off x="8964475" y="4236663"/>
            <a:ext cx="1573200" cy="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2" name="Google Shape;222;p6"/>
          <p:cNvSpPr txBox="1"/>
          <p:nvPr/>
        </p:nvSpPr>
        <p:spPr>
          <a:xfrm>
            <a:off x="10613025" y="3724475"/>
            <a:ext cx="1195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only the first &lt;p&gt; is styled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 txBox="1"/>
          <p:nvPr/>
        </p:nvSpPr>
        <p:spPr>
          <a:xfrm>
            <a:off x="2464325" y="2391525"/>
            <a:ext cx="70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"/>
          <p:cNvSpPr txBox="1"/>
          <p:nvPr/>
        </p:nvSpPr>
        <p:spPr>
          <a:xfrm>
            <a:off x="2474825" y="4100500"/>
            <a:ext cx="70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6"/>
          <p:cNvSpPr/>
          <p:nvPr/>
        </p:nvSpPr>
        <p:spPr>
          <a:xfrm rot="5214">
            <a:off x="6776593" y="4100959"/>
            <a:ext cx="593401" cy="26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FA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 txBox="1"/>
          <p:nvPr>
            <p:ph type="title"/>
          </p:nvPr>
        </p:nvSpPr>
        <p:spPr>
          <a:xfrm>
            <a:off x="2453059" y="108088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Class Selector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 txBox="1"/>
          <p:nvPr>
            <p:ph idx="1" type="body"/>
          </p:nvPr>
        </p:nvSpPr>
        <p:spPr>
          <a:xfrm>
            <a:off x="1480450" y="1433800"/>
            <a:ext cx="99204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class selector pinpoints HTML elements by comparing class attributes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"/>
          <p:cNvSpPr txBox="1"/>
          <p:nvPr/>
        </p:nvSpPr>
        <p:spPr>
          <a:xfrm>
            <a:off x="2478850" y="4313625"/>
            <a:ext cx="3969600" cy="106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A52A2A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para 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red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"/>
          <p:cNvSpPr txBox="1"/>
          <p:nvPr/>
        </p:nvSpPr>
        <p:spPr>
          <a:xfrm>
            <a:off x="2444300" y="2520775"/>
            <a:ext cx="4004100" cy="1137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h1 </a:t>
            </a:r>
            <a:r>
              <a:rPr b="0" i="0" lang="en-US" sz="1500" u="none" cap="none" strike="noStrike">
                <a:solidFill>
                  <a:srgbClr val="A52A2A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15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="para"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This is a heading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/h1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5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 </a:t>
            </a:r>
            <a:r>
              <a:rPr b="0" i="0" lang="en-US" sz="1500" u="none" cap="none" strike="noStrike">
                <a:solidFill>
                  <a:srgbClr val="A52A2A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15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="para"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paragraphs are styled with CSS.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-US" sz="15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3875" y="3496175"/>
            <a:ext cx="3067050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7"/>
          <p:cNvSpPr txBox="1"/>
          <p:nvPr/>
        </p:nvSpPr>
        <p:spPr>
          <a:xfrm>
            <a:off x="2341175" y="2155050"/>
            <a:ext cx="70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"/>
          <p:cNvSpPr txBox="1"/>
          <p:nvPr/>
        </p:nvSpPr>
        <p:spPr>
          <a:xfrm>
            <a:off x="2404075" y="3907650"/>
            <a:ext cx="70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8" name="Google Shape;238;p7"/>
          <p:cNvCxnSpPr/>
          <p:nvPr/>
        </p:nvCxnSpPr>
        <p:spPr>
          <a:xfrm flipH="1">
            <a:off x="2203825" y="4518200"/>
            <a:ext cx="346200" cy="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9" name="Google Shape;239;p7"/>
          <p:cNvSpPr txBox="1"/>
          <p:nvPr/>
        </p:nvSpPr>
        <p:spPr>
          <a:xfrm>
            <a:off x="952075" y="4313625"/>
            <a:ext cx="1251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is the class selector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7"/>
          <p:cNvSpPr/>
          <p:nvPr/>
        </p:nvSpPr>
        <p:spPr>
          <a:xfrm rot="5214">
            <a:off x="6897743" y="3936509"/>
            <a:ext cx="593401" cy="26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FA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7"/>
          <p:cNvSpPr txBox="1"/>
          <p:nvPr/>
        </p:nvSpPr>
        <p:spPr>
          <a:xfrm>
            <a:off x="2501750" y="5785650"/>
            <a:ext cx="5029500" cy="6465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Warning: Class Selectors should not begin with a numerical!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8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 txBox="1"/>
          <p:nvPr>
            <p:ph type="title"/>
          </p:nvPr>
        </p:nvSpPr>
        <p:spPr>
          <a:xfrm>
            <a:off x="2478884" y="116188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Challenge Question 1 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8"/>
          <p:cNvSpPr txBox="1"/>
          <p:nvPr>
            <p:ph idx="1" type="body"/>
          </p:nvPr>
        </p:nvSpPr>
        <p:spPr>
          <a:xfrm>
            <a:off x="1480450" y="1550500"/>
            <a:ext cx="99204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if we only want the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&lt;p&gt;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 with class "para" to be styled red? 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8"/>
          <p:cNvSpPr txBox="1"/>
          <p:nvPr/>
        </p:nvSpPr>
        <p:spPr>
          <a:xfrm>
            <a:off x="2980025" y="5812025"/>
            <a:ext cx="7183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"/>
          <p:cNvSpPr txBox="1"/>
          <p:nvPr/>
        </p:nvSpPr>
        <p:spPr>
          <a:xfrm>
            <a:off x="3369675" y="3094613"/>
            <a:ext cx="6273600" cy="106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h1 </a:t>
            </a:r>
            <a:r>
              <a:rPr b="0" i="0" lang="en-US" sz="15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15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="para"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This is a heading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/h1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5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 class</a:t>
            </a:r>
            <a:r>
              <a:rPr b="0" i="0" lang="en-US" sz="15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="para"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paragraphs are styled with CSS.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-US" sz="15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5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paragraphs is not styled with CSS.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-US" sz="15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1" name="Google Shape;251;p8"/>
          <p:cNvSpPr txBox="1"/>
          <p:nvPr/>
        </p:nvSpPr>
        <p:spPr>
          <a:xfrm>
            <a:off x="3373475" y="2612250"/>
            <a:ext cx="70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 txBox="1"/>
          <p:nvPr>
            <p:ph type="title"/>
          </p:nvPr>
        </p:nvSpPr>
        <p:spPr>
          <a:xfrm>
            <a:off x="2478884" y="116188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Challenge Question 1 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9"/>
          <p:cNvSpPr txBox="1"/>
          <p:nvPr/>
        </p:nvSpPr>
        <p:spPr>
          <a:xfrm>
            <a:off x="2980025" y="5812025"/>
            <a:ext cx="7183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9"/>
          <p:cNvSpPr txBox="1"/>
          <p:nvPr/>
        </p:nvSpPr>
        <p:spPr>
          <a:xfrm>
            <a:off x="1952600" y="4354925"/>
            <a:ext cx="4647600" cy="106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A52A2A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p.para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red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9"/>
          <p:cNvSpPr txBox="1"/>
          <p:nvPr/>
        </p:nvSpPr>
        <p:spPr>
          <a:xfrm>
            <a:off x="1952600" y="2596975"/>
            <a:ext cx="4647600" cy="1106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2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h1 </a:t>
            </a:r>
            <a:r>
              <a:rPr b="0" i="0" lang="en-US" sz="1200" u="none" cap="none" strike="noStrike">
                <a:solidFill>
                  <a:srgbClr val="A52A2A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1200" u="none" cap="none" strike="noStrike">
                <a:solidFill>
                  <a:srgbClr val="0000FF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="para"</a:t>
            </a:r>
            <a:r>
              <a:rPr b="0" i="0" lang="en-US" sz="12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This is a heading</a:t>
            </a:r>
            <a:r>
              <a:rPr b="0" i="0" lang="en-US" sz="12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2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/h1</a:t>
            </a:r>
            <a:r>
              <a:rPr b="0" i="0" lang="en-US" sz="12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2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200" u="none" cap="none" strike="noStrike">
                <a:solidFill>
                  <a:srgbClr val="A52A2A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2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A52A2A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1200" u="none" cap="none" strike="noStrike">
                <a:solidFill>
                  <a:srgbClr val="0000FF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="para"</a:t>
            </a:r>
            <a:r>
              <a:rPr b="0" i="0" lang="en-US" sz="12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These paragraphs are styled with CSS.</a:t>
            </a:r>
            <a:r>
              <a:rPr b="0" i="0" lang="en-US" sz="12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-US" sz="12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2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2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200" u="none" cap="none" strike="noStrike">
                <a:solidFill>
                  <a:srgbClr val="A52A2A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2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These paragraphs is not styled with CSS.</a:t>
            </a:r>
            <a:r>
              <a:rPr b="0" i="0" lang="en-US" sz="12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-US" sz="12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2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2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61" name="Google Shape;26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7475" y="3492463"/>
            <a:ext cx="3105150" cy="111442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9"/>
          <p:cNvSpPr txBox="1"/>
          <p:nvPr/>
        </p:nvSpPr>
        <p:spPr>
          <a:xfrm>
            <a:off x="1849475" y="2307450"/>
            <a:ext cx="70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9"/>
          <p:cNvSpPr txBox="1"/>
          <p:nvPr/>
        </p:nvSpPr>
        <p:spPr>
          <a:xfrm>
            <a:off x="1849475" y="4050150"/>
            <a:ext cx="70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9"/>
          <p:cNvSpPr txBox="1"/>
          <p:nvPr>
            <p:ph idx="1" type="body"/>
          </p:nvPr>
        </p:nvSpPr>
        <p:spPr>
          <a:xfrm>
            <a:off x="1480450" y="1550500"/>
            <a:ext cx="99204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if we only want the </a:t>
            </a:r>
            <a:r>
              <a:rPr b="1" lang="en-US" sz="2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&lt;p&gt;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 with class "para" to be styled red? 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5" name="Google Shape;265;p9"/>
          <p:cNvCxnSpPr/>
          <p:nvPr/>
        </p:nvCxnSpPr>
        <p:spPr>
          <a:xfrm>
            <a:off x="2346925" y="4687075"/>
            <a:ext cx="8400" cy="120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6" name="Google Shape;266;p9"/>
          <p:cNvSpPr txBox="1"/>
          <p:nvPr/>
        </p:nvSpPr>
        <p:spPr>
          <a:xfrm>
            <a:off x="2188850" y="5806500"/>
            <a:ext cx="457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means 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p tag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</a:t>
            </a:r>
            <a:r>
              <a:rPr b="0" i="0" lang="en-US" sz="1800" u="none" cap="none" strike="noStrike">
                <a:solidFill>
                  <a:srgbClr val="000000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para class</a:t>
            </a:r>
            <a:endParaRPr b="0" i="0" sz="1800" u="none" cap="none" strike="noStrike">
              <a:solidFill>
                <a:srgbClr val="000000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7" name="Google Shape;267;p9"/>
          <p:cNvSpPr/>
          <p:nvPr/>
        </p:nvSpPr>
        <p:spPr>
          <a:xfrm rot="5214">
            <a:off x="7183343" y="3936509"/>
            <a:ext cx="593401" cy="26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FA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0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 txBox="1"/>
          <p:nvPr>
            <p:ph type="title"/>
          </p:nvPr>
        </p:nvSpPr>
        <p:spPr>
          <a:xfrm>
            <a:off x="2605459" y="108088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Multiple Classes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0"/>
          <p:cNvSpPr txBox="1"/>
          <p:nvPr>
            <p:ph idx="1" type="body"/>
          </p:nvPr>
        </p:nvSpPr>
        <p:spPr>
          <a:xfrm>
            <a:off x="1480450" y="1550500"/>
            <a:ext cx="9920400" cy="8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HTML tag can be attached to multiple classes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Multiple classes are separated by spaces.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0"/>
          <p:cNvSpPr txBox="1"/>
          <p:nvPr/>
        </p:nvSpPr>
        <p:spPr>
          <a:xfrm>
            <a:off x="2243900" y="4324975"/>
            <a:ext cx="4726500" cy="160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.para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2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blue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.italic {</a:t>
            </a:r>
            <a:br>
              <a:rPr b="0" i="0" lang="en-US" sz="12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font-style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0" i="0" lang="en-US" sz="12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italic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br>
              <a:rPr b="0" i="0" lang="en-US" sz="12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2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 u="none" cap="none" strike="noStrike">
              <a:solidFill>
                <a:srgbClr val="A52A2A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6" name="Google Shape;276;p10"/>
          <p:cNvSpPr txBox="1"/>
          <p:nvPr/>
        </p:nvSpPr>
        <p:spPr>
          <a:xfrm>
            <a:off x="2252600" y="2928850"/>
            <a:ext cx="4717800" cy="86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2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h1 class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="para"</a:t>
            </a:r>
            <a:r>
              <a:rPr b="0" i="0" lang="en-US" sz="12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This is a heading</a:t>
            </a:r>
            <a:r>
              <a:rPr b="0" i="0" lang="en-US" sz="12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2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/h1</a:t>
            </a:r>
            <a:r>
              <a:rPr b="0" i="0" lang="en-US" sz="12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2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2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 class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b="0" i="0" lang="en-US" sz="1200" u="none" cap="none" strike="noStrike">
                <a:solidFill>
                  <a:srgbClr val="0000FF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para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200" u="none" cap="none" strike="noStrike">
                <a:solidFill>
                  <a:srgbClr val="0000FF"/>
                </a:solidFill>
                <a:highlight>
                  <a:srgbClr val="FFF2CC"/>
                </a:highlight>
                <a:latin typeface="Courier New"/>
                <a:ea typeface="Courier New"/>
                <a:cs typeface="Courier New"/>
                <a:sym typeface="Courier New"/>
              </a:rPr>
              <a:t>italic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0" i="0" lang="en-US" sz="12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These paragraphs are styled with CSS.</a:t>
            </a:r>
            <a:r>
              <a:rPr b="0" i="0" lang="en-US" sz="12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-US" sz="12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2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77" name="Google Shape;27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6925" y="3597088"/>
            <a:ext cx="3095625" cy="111442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0"/>
          <p:cNvSpPr txBox="1"/>
          <p:nvPr/>
        </p:nvSpPr>
        <p:spPr>
          <a:xfrm>
            <a:off x="2154275" y="2612250"/>
            <a:ext cx="70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0"/>
          <p:cNvSpPr txBox="1"/>
          <p:nvPr/>
        </p:nvSpPr>
        <p:spPr>
          <a:xfrm>
            <a:off x="2154275" y="4022825"/>
            <a:ext cx="70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0"/>
          <p:cNvSpPr/>
          <p:nvPr/>
        </p:nvSpPr>
        <p:spPr>
          <a:xfrm rot="4837">
            <a:off x="7338859" y="4088900"/>
            <a:ext cx="639601" cy="26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FA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1" name="Google Shape;281;p10"/>
          <p:cNvCxnSpPr/>
          <p:nvPr/>
        </p:nvCxnSpPr>
        <p:spPr>
          <a:xfrm>
            <a:off x="9894738" y="4739125"/>
            <a:ext cx="0" cy="35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2" name="Google Shape;282;p10"/>
          <p:cNvSpPr txBox="1"/>
          <p:nvPr/>
        </p:nvSpPr>
        <p:spPr>
          <a:xfrm>
            <a:off x="8568775" y="5179625"/>
            <a:ext cx="283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Both “blue” and “italic”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 txBox="1"/>
          <p:nvPr>
            <p:ph type="title"/>
          </p:nvPr>
        </p:nvSpPr>
        <p:spPr>
          <a:xfrm>
            <a:off x="2605459" y="108088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Universal Selector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1"/>
          <p:cNvSpPr txBox="1"/>
          <p:nvPr>
            <p:ph idx="1" type="body"/>
          </p:nvPr>
        </p:nvSpPr>
        <p:spPr>
          <a:xfrm>
            <a:off x="1480450" y="1550500"/>
            <a:ext cx="11090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universal selector (*) pinpoints all the HTML elements defined in the body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1"/>
          <p:cNvSpPr txBox="1"/>
          <p:nvPr/>
        </p:nvSpPr>
        <p:spPr>
          <a:xfrm>
            <a:off x="2075250" y="4409325"/>
            <a:ext cx="4004100" cy="106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* 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blue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50" u="none" cap="none" strike="noStrike">
              <a:solidFill>
                <a:srgbClr val="A52A2A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1" name="Google Shape;291;p11"/>
          <p:cNvSpPr txBox="1"/>
          <p:nvPr/>
        </p:nvSpPr>
        <p:spPr>
          <a:xfrm>
            <a:off x="2075250" y="2964300"/>
            <a:ext cx="4004100" cy="92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This is a heading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/h1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5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paragraphs are styled with CSS.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-US" sz="15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1113" y="3671050"/>
            <a:ext cx="3000375" cy="107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1"/>
          <p:cNvSpPr txBox="1"/>
          <p:nvPr/>
        </p:nvSpPr>
        <p:spPr>
          <a:xfrm>
            <a:off x="2001875" y="2612250"/>
            <a:ext cx="70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1"/>
          <p:cNvSpPr txBox="1"/>
          <p:nvPr/>
        </p:nvSpPr>
        <p:spPr>
          <a:xfrm>
            <a:off x="2001875" y="4009125"/>
            <a:ext cx="70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1"/>
          <p:cNvSpPr/>
          <p:nvPr/>
        </p:nvSpPr>
        <p:spPr>
          <a:xfrm rot="4768">
            <a:off x="6913699" y="4074800"/>
            <a:ext cx="648901" cy="26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FA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2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solidFill>
                  <a:schemeClr val="lt1"/>
                </a:solidFill>
              </a:rPr>
              <a:t>Combinator Selectors</a:t>
            </a:r>
            <a:endParaRPr b="1">
              <a:solidFill>
                <a:schemeClr val="lt1"/>
              </a:solidFill>
            </a:endParaRPr>
          </a:p>
        </p:txBody>
      </p:sp>
      <p:grpSp>
        <p:nvGrpSpPr>
          <p:cNvPr id="302" name="Google Shape;302;p12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303" name="Google Shape;303;p12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304" name="Google Shape;304;p12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05" name="Google Shape;305;p12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306" name="Google Shape;306;p12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7" name="Google Shape;307;p12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8" name="Google Shape;308;p12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9" name="Google Shape;309;p12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10" name="Google Shape;310;p12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12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2" name="Google Shape;312;p12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313" name="Google Shape;313;p12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" name="Google Shape;314;p12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5" name="Google Shape;315;p12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316" name="Google Shape;316;p12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" name="Google Shape;317;p12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8" name="Google Shape;318;p12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319" name="Google Shape;319;p12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12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12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2" name="Google Shape;322;p12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323" name="Google Shape;323;p12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12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12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12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12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12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9" name="Google Shape;329;p12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330" name="Google Shape;330;p12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" name="Google Shape;331;p12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12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12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12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12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12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12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" name="Google Shape;338;p12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" name="Google Shape;339;p12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" name="Google Shape;340;p12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" name="Google Shape;341;p12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" name="Google Shape;342;p12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" name="Google Shape;343;p12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4" name="Google Shape;344;p12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345" name="Google Shape;345;p12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12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12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12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12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" name="Google Shape;350;p12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" name="Google Shape;351;p12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12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12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" name="Google Shape;354;p12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" name="Google Shape;355;p12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3"/>
          <p:cNvSpPr/>
          <p:nvPr/>
        </p:nvSpPr>
        <p:spPr>
          <a:xfrm>
            <a:off x="6030850" y="3055350"/>
            <a:ext cx="1772700" cy="1166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8106438" y="3055350"/>
            <a:ext cx="1772700" cy="1166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10191350" y="3055350"/>
            <a:ext cx="1772700" cy="1166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4004200" y="3055350"/>
            <a:ext cx="1772700" cy="2364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1560775" y="3055350"/>
            <a:ext cx="2210700" cy="1166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3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 txBox="1"/>
          <p:nvPr>
            <p:ph type="title"/>
          </p:nvPr>
        </p:nvSpPr>
        <p:spPr>
          <a:xfrm>
            <a:off x="2347759" y="116225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CSS Selectors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3"/>
          <p:cNvSpPr txBox="1"/>
          <p:nvPr>
            <p:ph idx="1" type="body"/>
          </p:nvPr>
        </p:nvSpPr>
        <p:spPr>
          <a:xfrm>
            <a:off x="1957000" y="1339250"/>
            <a:ext cx="99204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Different types of selectors: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3"/>
          <p:cNvSpPr txBox="1"/>
          <p:nvPr>
            <p:ph idx="1" type="body"/>
          </p:nvPr>
        </p:nvSpPr>
        <p:spPr>
          <a:xfrm>
            <a:off x="4040850" y="4249050"/>
            <a:ext cx="1679700" cy="10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Uses relationship between elements to pinpoint an element in HTML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3"/>
          <p:cNvSpPr txBox="1"/>
          <p:nvPr>
            <p:ph idx="1" type="body"/>
          </p:nvPr>
        </p:nvSpPr>
        <p:spPr>
          <a:xfrm>
            <a:off x="1968025" y="3133375"/>
            <a:ext cx="1396200" cy="8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Simple Selectors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3"/>
          <p:cNvSpPr txBox="1"/>
          <p:nvPr>
            <p:ph idx="1" type="body"/>
          </p:nvPr>
        </p:nvSpPr>
        <p:spPr>
          <a:xfrm>
            <a:off x="4096550" y="3133375"/>
            <a:ext cx="1565400" cy="10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Combinator Selectors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3"/>
          <p:cNvSpPr txBox="1"/>
          <p:nvPr>
            <p:ph idx="1" type="body"/>
          </p:nvPr>
        </p:nvSpPr>
        <p:spPr>
          <a:xfrm>
            <a:off x="6134500" y="3133375"/>
            <a:ext cx="1565400" cy="10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Pseudo-class Selectors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3"/>
          <p:cNvSpPr txBox="1"/>
          <p:nvPr>
            <p:ph idx="1" type="body"/>
          </p:nvPr>
        </p:nvSpPr>
        <p:spPr>
          <a:xfrm>
            <a:off x="8049288" y="3133375"/>
            <a:ext cx="1887000" cy="10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Pseudo-elements Selectors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3"/>
          <p:cNvSpPr txBox="1"/>
          <p:nvPr>
            <p:ph idx="1" type="body"/>
          </p:nvPr>
        </p:nvSpPr>
        <p:spPr>
          <a:xfrm>
            <a:off x="10134200" y="3133375"/>
            <a:ext cx="1887000" cy="10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Attribute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Selectors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4" name="Google Shape;374;p13"/>
          <p:cNvCxnSpPr>
            <a:stCxn id="364" idx="0"/>
          </p:cNvCxnSpPr>
          <p:nvPr/>
        </p:nvCxnSpPr>
        <p:spPr>
          <a:xfrm rot="10800000">
            <a:off x="2666125" y="2705250"/>
            <a:ext cx="0" cy="35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5" name="Google Shape;375;p13"/>
          <p:cNvCxnSpPr/>
          <p:nvPr/>
        </p:nvCxnSpPr>
        <p:spPr>
          <a:xfrm rot="10800000">
            <a:off x="11077700" y="2705250"/>
            <a:ext cx="0" cy="35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6" name="Google Shape;376;p13"/>
          <p:cNvCxnSpPr/>
          <p:nvPr/>
        </p:nvCxnSpPr>
        <p:spPr>
          <a:xfrm>
            <a:off x="2676975" y="2714800"/>
            <a:ext cx="8409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7" name="Google Shape;377;p13"/>
          <p:cNvCxnSpPr/>
          <p:nvPr/>
        </p:nvCxnSpPr>
        <p:spPr>
          <a:xfrm rot="10800000">
            <a:off x="4890550" y="2705250"/>
            <a:ext cx="0" cy="35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8" name="Google Shape;378;p13"/>
          <p:cNvCxnSpPr/>
          <p:nvPr/>
        </p:nvCxnSpPr>
        <p:spPr>
          <a:xfrm rot="10800000">
            <a:off x="8992800" y="2705250"/>
            <a:ext cx="0" cy="35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9" name="Google Shape;379;p13"/>
          <p:cNvCxnSpPr>
            <a:stCxn id="360" idx="0"/>
            <a:endCxn id="367" idx="2"/>
          </p:cNvCxnSpPr>
          <p:nvPr/>
        </p:nvCxnSpPr>
        <p:spPr>
          <a:xfrm rot="10800000">
            <a:off x="6917200" y="1904550"/>
            <a:ext cx="0" cy="115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0" name="Google Shape;380;p13"/>
          <p:cNvSpPr txBox="1"/>
          <p:nvPr/>
        </p:nvSpPr>
        <p:spPr>
          <a:xfrm>
            <a:off x="2840175" y="1816750"/>
            <a:ext cx="1887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will be covered in this course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3"/>
          <p:cNvSpPr/>
          <p:nvPr/>
        </p:nvSpPr>
        <p:spPr>
          <a:xfrm rot="-5400000">
            <a:off x="3649575" y="1373200"/>
            <a:ext cx="268200" cy="2213400"/>
          </a:xfrm>
          <a:prstGeom prst="rightBrace">
            <a:avLst>
              <a:gd fmla="val 50000" name="adj1"/>
              <a:gd fmla="val 50429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2" name="Google Shape;382;p13"/>
          <p:cNvCxnSpPr/>
          <p:nvPr/>
        </p:nvCxnSpPr>
        <p:spPr>
          <a:xfrm flipH="1" rot="10800000">
            <a:off x="4046475" y="4208475"/>
            <a:ext cx="1679700" cy="9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4"/>
          <p:cNvSpPr/>
          <p:nvPr/>
        </p:nvSpPr>
        <p:spPr>
          <a:xfrm>
            <a:off x="8202350" y="3973125"/>
            <a:ext cx="3234000" cy="6660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3138663" y="4940200"/>
            <a:ext cx="3234000" cy="6660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6606638" y="4940200"/>
            <a:ext cx="3234000" cy="6660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2001950" y="3973125"/>
            <a:ext cx="3234000" cy="6660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4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4"/>
          <p:cNvSpPr txBox="1"/>
          <p:nvPr>
            <p:ph type="title"/>
          </p:nvPr>
        </p:nvSpPr>
        <p:spPr>
          <a:xfrm>
            <a:off x="2396759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CSS Combinators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4"/>
          <p:cNvSpPr txBox="1"/>
          <p:nvPr>
            <p:ph idx="1" type="body"/>
          </p:nvPr>
        </p:nvSpPr>
        <p:spPr>
          <a:xfrm>
            <a:off x="3531950" y="1611175"/>
            <a:ext cx="5915400" cy="9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 combinator is something that explains the relationship between the selectors.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4"/>
          <p:cNvSpPr txBox="1"/>
          <p:nvPr/>
        </p:nvSpPr>
        <p:spPr>
          <a:xfrm>
            <a:off x="2001950" y="4047725"/>
            <a:ext cx="323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descendant selector (space)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4"/>
          <p:cNvSpPr txBox="1"/>
          <p:nvPr/>
        </p:nvSpPr>
        <p:spPr>
          <a:xfrm>
            <a:off x="4227800" y="2733325"/>
            <a:ext cx="452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Four different combinators in CSS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4"/>
          <p:cNvSpPr txBox="1"/>
          <p:nvPr/>
        </p:nvSpPr>
        <p:spPr>
          <a:xfrm>
            <a:off x="3138675" y="5042350"/>
            <a:ext cx="323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adjacent sibling selector (+)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4"/>
          <p:cNvSpPr txBox="1"/>
          <p:nvPr/>
        </p:nvSpPr>
        <p:spPr>
          <a:xfrm>
            <a:off x="8394650" y="4047725"/>
            <a:ext cx="284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child selector (&gt;)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4"/>
          <p:cNvSpPr txBox="1"/>
          <p:nvPr/>
        </p:nvSpPr>
        <p:spPr>
          <a:xfrm>
            <a:off x="6753875" y="5042350"/>
            <a:ext cx="297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general sibling selector (~)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9" name="Google Shape;399;p14"/>
          <p:cNvCxnSpPr/>
          <p:nvPr/>
        </p:nvCxnSpPr>
        <p:spPr>
          <a:xfrm rot="10800000">
            <a:off x="5862150" y="3562425"/>
            <a:ext cx="0" cy="138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0" name="Google Shape;400;p14"/>
          <p:cNvCxnSpPr/>
          <p:nvPr/>
        </p:nvCxnSpPr>
        <p:spPr>
          <a:xfrm rot="10800000">
            <a:off x="7114675" y="3562425"/>
            <a:ext cx="0" cy="138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1" name="Google Shape;401;p14"/>
          <p:cNvCxnSpPr>
            <a:stCxn id="390" idx="0"/>
          </p:cNvCxnSpPr>
          <p:nvPr/>
        </p:nvCxnSpPr>
        <p:spPr>
          <a:xfrm rot="10800000">
            <a:off x="3618950" y="3562425"/>
            <a:ext cx="0" cy="41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" name="Google Shape;402;p14"/>
          <p:cNvCxnSpPr/>
          <p:nvPr/>
        </p:nvCxnSpPr>
        <p:spPr>
          <a:xfrm rot="10800000">
            <a:off x="9724550" y="3562425"/>
            <a:ext cx="0" cy="41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3" name="Google Shape;403;p14"/>
          <p:cNvCxnSpPr/>
          <p:nvPr/>
        </p:nvCxnSpPr>
        <p:spPr>
          <a:xfrm>
            <a:off x="3608150" y="3552200"/>
            <a:ext cx="611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4" name="Google Shape;404;p14"/>
          <p:cNvCxnSpPr>
            <a:stCxn id="395" idx="2"/>
          </p:cNvCxnSpPr>
          <p:nvPr/>
        </p:nvCxnSpPr>
        <p:spPr>
          <a:xfrm>
            <a:off x="6489650" y="3225925"/>
            <a:ext cx="0" cy="36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5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5"/>
          <p:cNvSpPr txBox="1"/>
          <p:nvPr>
            <p:ph type="title"/>
          </p:nvPr>
        </p:nvSpPr>
        <p:spPr>
          <a:xfrm>
            <a:off x="2519221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Descendent Selector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5"/>
          <p:cNvSpPr txBox="1"/>
          <p:nvPr/>
        </p:nvSpPr>
        <p:spPr>
          <a:xfrm>
            <a:off x="2225500" y="1930775"/>
            <a:ext cx="4004100" cy="170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ul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Item 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Item 2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Item 3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/ul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12" name="Google Shape;412;p15"/>
          <p:cNvCxnSpPr>
            <a:endCxn id="413" idx="1"/>
          </p:cNvCxnSpPr>
          <p:nvPr/>
        </p:nvCxnSpPr>
        <p:spPr>
          <a:xfrm>
            <a:off x="4931150" y="2453625"/>
            <a:ext cx="3090600" cy="10143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4" name="Google Shape;414;p15"/>
          <p:cNvSpPr txBox="1"/>
          <p:nvPr/>
        </p:nvSpPr>
        <p:spPr>
          <a:xfrm>
            <a:off x="1974125" y="1116850"/>
            <a:ext cx="927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descendant selector selects  </a:t>
            </a:r>
            <a:r>
              <a:rPr b="1" i="0" lang="en-US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descendants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a particular element.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5" name="Google Shape;415;p15"/>
          <p:cNvCxnSpPr>
            <a:endCxn id="413" idx="1"/>
          </p:cNvCxnSpPr>
          <p:nvPr/>
        </p:nvCxnSpPr>
        <p:spPr>
          <a:xfrm>
            <a:off x="4931150" y="2859225"/>
            <a:ext cx="3090600" cy="6087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6" name="Google Shape;416;p15"/>
          <p:cNvCxnSpPr>
            <a:endCxn id="413" idx="1"/>
          </p:cNvCxnSpPr>
          <p:nvPr/>
        </p:nvCxnSpPr>
        <p:spPr>
          <a:xfrm>
            <a:off x="4933850" y="3139425"/>
            <a:ext cx="3087900" cy="3285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3" name="Google Shape;413;p15"/>
          <p:cNvSpPr/>
          <p:nvPr/>
        </p:nvSpPr>
        <p:spPr>
          <a:xfrm>
            <a:off x="8021750" y="3134925"/>
            <a:ext cx="3234000" cy="6660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Child Elements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7" name="Google Shape;417;p15"/>
          <p:cNvCxnSpPr>
            <a:endCxn id="418" idx="1"/>
          </p:cNvCxnSpPr>
          <p:nvPr/>
        </p:nvCxnSpPr>
        <p:spPr>
          <a:xfrm>
            <a:off x="3237650" y="2133525"/>
            <a:ext cx="4355100" cy="267600"/>
          </a:xfrm>
          <a:prstGeom prst="straightConnector1">
            <a:avLst/>
          </a:prstGeom>
          <a:noFill/>
          <a:ln cap="flat" cmpd="sng" w="19050">
            <a:solidFill>
              <a:srgbClr val="99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8" name="Google Shape;418;p15"/>
          <p:cNvSpPr/>
          <p:nvPr/>
        </p:nvSpPr>
        <p:spPr>
          <a:xfrm>
            <a:off x="7592750" y="2068125"/>
            <a:ext cx="3234000" cy="6660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Parent Element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5"/>
          <p:cNvSpPr txBox="1"/>
          <p:nvPr/>
        </p:nvSpPr>
        <p:spPr>
          <a:xfrm>
            <a:off x="2225500" y="4064375"/>
            <a:ext cx="4004100" cy="2689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table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	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Value 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/td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/tr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	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Value 2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/td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/tr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/table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20" name="Google Shape;420;p15"/>
          <p:cNvCxnSpPr/>
          <p:nvPr/>
        </p:nvCxnSpPr>
        <p:spPr>
          <a:xfrm>
            <a:off x="3711175" y="4578375"/>
            <a:ext cx="4310700" cy="10233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1" name="Google Shape;421;p15"/>
          <p:cNvCxnSpPr/>
          <p:nvPr/>
        </p:nvCxnSpPr>
        <p:spPr>
          <a:xfrm>
            <a:off x="3736675" y="5547625"/>
            <a:ext cx="4285200" cy="540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2" name="Google Shape;422;p15"/>
          <p:cNvSpPr/>
          <p:nvPr/>
        </p:nvSpPr>
        <p:spPr>
          <a:xfrm>
            <a:off x="8021750" y="5420925"/>
            <a:ext cx="3234000" cy="6660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Child Elements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3" name="Google Shape;423;p15"/>
          <p:cNvCxnSpPr/>
          <p:nvPr/>
        </p:nvCxnSpPr>
        <p:spPr>
          <a:xfrm>
            <a:off x="3672900" y="4260175"/>
            <a:ext cx="3919800" cy="274500"/>
          </a:xfrm>
          <a:prstGeom prst="straightConnector1">
            <a:avLst/>
          </a:prstGeom>
          <a:noFill/>
          <a:ln cap="flat" cmpd="sng" w="19050">
            <a:solidFill>
              <a:srgbClr val="99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4" name="Google Shape;424;p15"/>
          <p:cNvSpPr/>
          <p:nvPr/>
        </p:nvSpPr>
        <p:spPr>
          <a:xfrm>
            <a:off x="7592750" y="4354125"/>
            <a:ext cx="3234000" cy="6660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Parent Element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5"/>
          <p:cNvSpPr txBox="1"/>
          <p:nvPr/>
        </p:nvSpPr>
        <p:spPr>
          <a:xfrm>
            <a:off x="2224525" y="1539325"/>
            <a:ext cx="222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 1 - 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5"/>
          <p:cNvSpPr txBox="1"/>
          <p:nvPr/>
        </p:nvSpPr>
        <p:spPr>
          <a:xfrm>
            <a:off x="2224525" y="3672925"/>
            <a:ext cx="270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 2 -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6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6"/>
          <p:cNvSpPr txBox="1"/>
          <p:nvPr>
            <p:ph type="title"/>
          </p:nvPr>
        </p:nvSpPr>
        <p:spPr>
          <a:xfrm>
            <a:off x="2519221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Descendent Selector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6"/>
          <p:cNvSpPr txBox="1"/>
          <p:nvPr/>
        </p:nvSpPr>
        <p:spPr>
          <a:xfrm>
            <a:off x="1844500" y="1930775"/>
            <a:ext cx="4004100" cy="23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Outside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/p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Inside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/p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section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Inside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/p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/section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/div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4" name="Google Shape;434;p16"/>
          <p:cNvSpPr txBox="1"/>
          <p:nvPr/>
        </p:nvSpPr>
        <p:spPr>
          <a:xfrm>
            <a:off x="7484150" y="2237675"/>
            <a:ext cx="3965700" cy="106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A52A2A"/>
                </a:solidFill>
                <a:highlight>
                  <a:srgbClr val="00FFFF"/>
                </a:highlight>
                <a:latin typeface="Courier New"/>
                <a:ea typeface="Courier New"/>
                <a:cs typeface="Courier New"/>
                <a:sym typeface="Courier New"/>
              </a:rPr>
              <a:t>div p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background-color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50" u="none" cap="none" strike="noStrike">
                <a:solidFill>
                  <a:srgbClr val="0000CD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yellow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50" u="none" cap="none" strike="noStrike">
              <a:solidFill>
                <a:srgbClr val="000000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5" name="Google Shape;435;p16"/>
          <p:cNvCxnSpPr/>
          <p:nvPr/>
        </p:nvCxnSpPr>
        <p:spPr>
          <a:xfrm flipH="1" rot="10800000">
            <a:off x="8056500" y="1982575"/>
            <a:ext cx="930900" cy="363900"/>
          </a:xfrm>
          <a:prstGeom prst="straightConnector1">
            <a:avLst/>
          </a:prstGeom>
          <a:noFill/>
          <a:ln cap="flat" cmpd="sng" w="9525">
            <a:solidFill>
              <a:srgbClr val="3C60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6" name="Google Shape;436;p16"/>
          <p:cNvSpPr txBox="1"/>
          <p:nvPr/>
        </p:nvSpPr>
        <p:spPr>
          <a:xfrm>
            <a:off x="9137075" y="1667800"/>
            <a:ext cx="221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 p tag inside div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7" name="Google Shape;437;p16"/>
          <p:cNvCxnSpPr/>
          <p:nvPr/>
        </p:nvCxnSpPr>
        <p:spPr>
          <a:xfrm>
            <a:off x="4318813" y="2810725"/>
            <a:ext cx="2025300" cy="1968300"/>
          </a:xfrm>
          <a:prstGeom prst="straightConnector1">
            <a:avLst/>
          </a:prstGeom>
          <a:noFill/>
          <a:ln cap="flat" cmpd="sng" w="9525">
            <a:solidFill>
              <a:srgbClr val="3C60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8" name="Google Shape;438;p16"/>
          <p:cNvSpPr txBox="1"/>
          <p:nvPr/>
        </p:nvSpPr>
        <p:spPr>
          <a:xfrm>
            <a:off x="3537425" y="4291575"/>
            <a:ext cx="75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6"/>
          <p:cNvSpPr txBox="1"/>
          <p:nvPr/>
        </p:nvSpPr>
        <p:spPr>
          <a:xfrm>
            <a:off x="9182475" y="3368925"/>
            <a:ext cx="75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0" name="Google Shape;44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4000" y="4291175"/>
            <a:ext cx="1742423" cy="1426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1" name="Google Shape;441;p16"/>
          <p:cNvCxnSpPr/>
          <p:nvPr/>
        </p:nvCxnSpPr>
        <p:spPr>
          <a:xfrm>
            <a:off x="4550263" y="3575475"/>
            <a:ext cx="1849500" cy="1832400"/>
          </a:xfrm>
          <a:prstGeom prst="straightConnector1">
            <a:avLst/>
          </a:prstGeom>
          <a:noFill/>
          <a:ln cap="flat" cmpd="sng" w="9525">
            <a:solidFill>
              <a:srgbClr val="3C60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2" name="Google Shape;442;p16"/>
          <p:cNvSpPr txBox="1"/>
          <p:nvPr/>
        </p:nvSpPr>
        <p:spPr>
          <a:xfrm>
            <a:off x="1974125" y="1116850"/>
            <a:ext cx="927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descendant selector selects  </a:t>
            </a:r>
            <a:r>
              <a:rPr b="1" i="0" lang="en-US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descendants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a particular element.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7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7"/>
          <p:cNvSpPr txBox="1"/>
          <p:nvPr>
            <p:ph type="title"/>
          </p:nvPr>
        </p:nvSpPr>
        <p:spPr>
          <a:xfrm>
            <a:off x="2519221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Child Selector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7"/>
          <p:cNvSpPr txBox="1"/>
          <p:nvPr/>
        </p:nvSpPr>
        <p:spPr>
          <a:xfrm>
            <a:off x="1974125" y="1116850"/>
            <a:ext cx="927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child selector matches all elements that are </a:t>
            </a:r>
            <a:r>
              <a:rPr b="1" i="0" lang="en-US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direct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descendents of a specified element.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7"/>
          <p:cNvSpPr txBox="1"/>
          <p:nvPr/>
        </p:nvSpPr>
        <p:spPr>
          <a:xfrm>
            <a:off x="2225500" y="2540375"/>
            <a:ext cx="4004100" cy="2689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table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	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Value 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/td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/tr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	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Value 2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/td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/tr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/table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51" name="Google Shape;451;p17"/>
          <p:cNvCxnSpPr/>
          <p:nvPr/>
        </p:nvCxnSpPr>
        <p:spPr>
          <a:xfrm>
            <a:off x="3711175" y="3054375"/>
            <a:ext cx="4310700" cy="10233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2" name="Google Shape;452;p17"/>
          <p:cNvCxnSpPr/>
          <p:nvPr/>
        </p:nvCxnSpPr>
        <p:spPr>
          <a:xfrm>
            <a:off x="3736675" y="4023625"/>
            <a:ext cx="4285200" cy="540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3" name="Google Shape;453;p17"/>
          <p:cNvSpPr/>
          <p:nvPr/>
        </p:nvSpPr>
        <p:spPr>
          <a:xfrm>
            <a:off x="8021750" y="3896925"/>
            <a:ext cx="3234000" cy="6660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Direct Child Elements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4" name="Google Shape;454;p17"/>
          <p:cNvCxnSpPr/>
          <p:nvPr/>
        </p:nvCxnSpPr>
        <p:spPr>
          <a:xfrm>
            <a:off x="3672900" y="2736175"/>
            <a:ext cx="3919800" cy="274500"/>
          </a:xfrm>
          <a:prstGeom prst="straightConnector1">
            <a:avLst/>
          </a:prstGeom>
          <a:noFill/>
          <a:ln cap="flat" cmpd="sng" w="19050">
            <a:solidFill>
              <a:srgbClr val="99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5" name="Google Shape;455;p17"/>
          <p:cNvSpPr/>
          <p:nvPr/>
        </p:nvSpPr>
        <p:spPr>
          <a:xfrm>
            <a:off x="7592750" y="2830125"/>
            <a:ext cx="3234000" cy="6660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Parent Element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7"/>
          <p:cNvSpPr txBox="1"/>
          <p:nvPr/>
        </p:nvSpPr>
        <p:spPr>
          <a:xfrm>
            <a:off x="2224525" y="2148925"/>
            <a:ext cx="270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 1 -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7"/>
          <p:cNvSpPr/>
          <p:nvPr/>
        </p:nvSpPr>
        <p:spPr>
          <a:xfrm>
            <a:off x="7939263" y="5016400"/>
            <a:ext cx="3234000" cy="6660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Non-direct Child Elements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8" name="Google Shape;458;p17"/>
          <p:cNvCxnSpPr>
            <a:endCxn id="457" idx="1"/>
          </p:cNvCxnSpPr>
          <p:nvPr/>
        </p:nvCxnSpPr>
        <p:spPr>
          <a:xfrm>
            <a:off x="4119363" y="3468700"/>
            <a:ext cx="3819900" cy="18807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9" name="Google Shape;459;p17"/>
          <p:cNvCxnSpPr>
            <a:endCxn id="457" idx="1"/>
          </p:cNvCxnSpPr>
          <p:nvPr/>
        </p:nvCxnSpPr>
        <p:spPr>
          <a:xfrm>
            <a:off x="4106463" y="4438000"/>
            <a:ext cx="3832800" cy="9114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8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8"/>
          <p:cNvSpPr txBox="1"/>
          <p:nvPr>
            <p:ph type="title"/>
          </p:nvPr>
        </p:nvSpPr>
        <p:spPr>
          <a:xfrm>
            <a:off x="2396759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Child Selector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8"/>
          <p:cNvSpPr txBox="1"/>
          <p:nvPr/>
        </p:nvSpPr>
        <p:spPr>
          <a:xfrm>
            <a:off x="1983300" y="2110725"/>
            <a:ext cx="4004100" cy="236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Outside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/p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Inside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/p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section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Inside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/p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/section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/div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7" name="Google Shape;467;p18"/>
          <p:cNvSpPr txBox="1"/>
          <p:nvPr/>
        </p:nvSpPr>
        <p:spPr>
          <a:xfrm>
            <a:off x="7484150" y="2110725"/>
            <a:ext cx="3965700" cy="106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A52A2A"/>
                </a:solidFill>
                <a:highlight>
                  <a:srgbClr val="00FFFF"/>
                </a:highlight>
                <a:latin typeface="Courier New"/>
                <a:ea typeface="Courier New"/>
                <a:cs typeface="Courier New"/>
                <a:sym typeface="Courier New"/>
              </a:rPr>
              <a:t>div &gt; p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background-color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50" u="none" cap="none" strike="noStrike">
                <a:solidFill>
                  <a:srgbClr val="0000CD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yellow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50" u="none" cap="none" strike="noStrike">
              <a:solidFill>
                <a:srgbClr val="000000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8" name="Google Shape;46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1557" y="4249375"/>
            <a:ext cx="1181100" cy="1295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9" name="Google Shape;469;p18"/>
          <p:cNvCxnSpPr/>
          <p:nvPr/>
        </p:nvCxnSpPr>
        <p:spPr>
          <a:xfrm flipH="1" rot="10800000">
            <a:off x="8247650" y="1925925"/>
            <a:ext cx="1050000" cy="295800"/>
          </a:xfrm>
          <a:prstGeom prst="straightConnector1">
            <a:avLst/>
          </a:prstGeom>
          <a:noFill/>
          <a:ln cap="flat" cmpd="sng" w="9525">
            <a:solidFill>
              <a:srgbClr val="3C60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0" name="Google Shape;470;p18"/>
          <p:cNvSpPr txBox="1"/>
          <p:nvPr/>
        </p:nvSpPr>
        <p:spPr>
          <a:xfrm>
            <a:off x="9436650" y="1679950"/>
            <a:ext cx="201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Direct p child of div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1" name="Google Shape;471;p18"/>
          <p:cNvCxnSpPr>
            <a:endCxn id="468" idx="1"/>
          </p:cNvCxnSpPr>
          <p:nvPr/>
        </p:nvCxnSpPr>
        <p:spPr>
          <a:xfrm>
            <a:off x="4455657" y="2961475"/>
            <a:ext cx="2055900" cy="1935600"/>
          </a:xfrm>
          <a:prstGeom prst="straightConnector1">
            <a:avLst/>
          </a:prstGeom>
          <a:noFill/>
          <a:ln cap="flat" cmpd="sng" w="9525">
            <a:solidFill>
              <a:srgbClr val="3C60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2" name="Google Shape;472;p18"/>
          <p:cNvSpPr txBox="1"/>
          <p:nvPr/>
        </p:nvSpPr>
        <p:spPr>
          <a:xfrm>
            <a:off x="3263375" y="4557950"/>
            <a:ext cx="118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8"/>
          <p:cNvSpPr txBox="1"/>
          <p:nvPr/>
        </p:nvSpPr>
        <p:spPr>
          <a:xfrm>
            <a:off x="8775925" y="3207500"/>
            <a:ext cx="118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8"/>
          <p:cNvSpPr txBox="1"/>
          <p:nvPr/>
        </p:nvSpPr>
        <p:spPr>
          <a:xfrm>
            <a:off x="1974125" y="1116850"/>
            <a:ext cx="927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child selector matches all elements that are </a:t>
            </a:r>
            <a:r>
              <a:rPr b="1" i="0" lang="en-US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direct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descendents of a specified element.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9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9"/>
          <p:cNvSpPr txBox="1"/>
          <p:nvPr>
            <p:ph type="title"/>
          </p:nvPr>
        </p:nvSpPr>
        <p:spPr>
          <a:xfrm>
            <a:off x="2519221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Adjacent Sibling Selector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9"/>
          <p:cNvSpPr txBox="1"/>
          <p:nvPr/>
        </p:nvSpPr>
        <p:spPr>
          <a:xfrm>
            <a:off x="1974125" y="1116850"/>
            <a:ext cx="927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adjacent sibling selector pinpoints elements  that are </a:t>
            </a:r>
            <a:r>
              <a:rPr b="1" i="0" lang="en-US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immediately after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another specified element.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9"/>
          <p:cNvSpPr txBox="1"/>
          <p:nvPr/>
        </p:nvSpPr>
        <p:spPr>
          <a:xfrm>
            <a:off x="2225500" y="2540375"/>
            <a:ext cx="4004100" cy="170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DIV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/div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 after div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/p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 after div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/p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83" name="Google Shape;483;p19"/>
          <p:cNvCxnSpPr/>
          <p:nvPr/>
        </p:nvCxnSpPr>
        <p:spPr>
          <a:xfrm>
            <a:off x="4820675" y="3723925"/>
            <a:ext cx="3201300" cy="3537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4" name="Google Shape;484;p19"/>
          <p:cNvSpPr/>
          <p:nvPr/>
        </p:nvSpPr>
        <p:spPr>
          <a:xfrm>
            <a:off x="8021750" y="3896925"/>
            <a:ext cx="3234000" cy="6660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Adjacent Sibling Element of div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9"/>
          <p:cNvSpPr txBox="1"/>
          <p:nvPr/>
        </p:nvSpPr>
        <p:spPr>
          <a:xfrm>
            <a:off x="2224525" y="2148925"/>
            <a:ext cx="270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 2 -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9"/>
          <p:cNvSpPr/>
          <p:nvPr/>
        </p:nvSpPr>
        <p:spPr>
          <a:xfrm>
            <a:off x="7939263" y="5016400"/>
            <a:ext cx="3234000" cy="6660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Non-adjacent Sibling Element div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7" name="Google Shape;487;p19"/>
          <p:cNvCxnSpPr>
            <a:endCxn id="486" idx="1"/>
          </p:cNvCxnSpPr>
          <p:nvPr/>
        </p:nvCxnSpPr>
        <p:spPr>
          <a:xfrm>
            <a:off x="4820763" y="4055500"/>
            <a:ext cx="3118500" cy="1293900"/>
          </a:xfrm>
          <a:prstGeom prst="straightConnector1">
            <a:avLst/>
          </a:prstGeom>
          <a:noFill/>
          <a:ln cap="flat" cmpd="sng" w="19050">
            <a:solidFill>
              <a:srgbClr val="674EA7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0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0"/>
          <p:cNvSpPr txBox="1"/>
          <p:nvPr>
            <p:ph type="title"/>
          </p:nvPr>
        </p:nvSpPr>
        <p:spPr>
          <a:xfrm>
            <a:off x="2396759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Adjacent Sibling Selector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0"/>
          <p:cNvSpPr txBox="1"/>
          <p:nvPr/>
        </p:nvSpPr>
        <p:spPr>
          <a:xfrm>
            <a:off x="1926000" y="2303438"/>
            <a:ext cx="4004100" cy="170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DIV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/div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 after div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/p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 after div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/p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95" name="Google Shape;495;p20"/>
          <p:cNvSpPr txBox="1"/>
          <p:nvPr/>
        </p:nvSpPr>
        <p:spPr>
          <a:xfrm>
            <a:off x="7627575" y="2294925"/>
            <a:ext cx="3965700" cy="106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A52A2A"/>
                </a:solidFill>
                <a:highlight>
                  <a:srgbClr val="00FFFF"/>
                </a:highlight>
                <a:latin typeface="Courier New"/>
                <a:ea typeface="Courier New"/>
                <a:cs typeface="Courier New"/>
                <a:sym typeface="Courier New"/>
              </a:rPr>
              <a:t>div + p 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background-color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50" u="none" cap="none" strike="noStrike">
                <a:solidFill>
                  <a:srgbClr val="0000CD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yellow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50" u="none" cap="none" strike="noStrike">
              <a:solidFill>
                <a:srgbClr val="000000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6" name="Google Shape;4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9569" y="4234075"/>
            <a:ext cx="1362075" cy="1371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7" name="Google Shape;497;p20"/>
          <p:cNvCxnSpPr>
            <a:endCxn id="498" idx="1"/>
          </p:cNvCxnSpPr>
          <p:nvPr/>
        </p:nvCxnSpPr>
        <p:spPr>
          <a:xfrm flipH="1">
            <a:off x="7925200" y="2753050"/>
            <a:ext cx="21000" cy="1384500"/>
          </a:xfrm>
          <a:prstGeom prst="straightConnector1">
            <a:avLst/>
          </a:prstGeom>
          <a:noFill/>
          <a:ln cap="flat" cmpd="sng" w="9525">
            <a:solidFill>
              <a:srgbClr val="3C60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8" name="Google Shape;498;p20"/>
          <p:cNvSpPr txBox="1"/>
          <p:nvPr/>
        </p:nvSpPr>
        <p:spPr>
          <a:xfrm>
            <a:off x="7925200" y="3937450"/>
            <a:ext cx="283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 tag immediately after a div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9" name="Google Shape;499;p20"/>
          <p:cNvCxnSpPr/>
          <p:nvPr/>
        </p:nvCxnSpPr>
        <p:spPr>
          <a:xfrm>
            <a:off x="4505707" y="3516500"/>
            <a:ext cx="1058700" cy="1207800"/>
          </a:xfrm>
          <a:prstGeom prst="straightConnector1">
            <a:avLst/>
          </a:prstGeom>
          <a:noFill/>
          <a:ln cap="flat" cmpd="sng" w="9525">
            <a:solidFill>
              <a:srgbClr val="3C60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00" name="Google Shape;500;p20"/>
          <p:cNvSpPr txBox="1"/>
          <p:nvPr/>
        </p:nvSpPr>
        <p:spPr>
          <a:xfrm>
            <a:off x="2910325" y="4130125"/>
            <a:ext cx="104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0"/>
          <p:cNvSpPr txBox="1"/>
          <p:nvPr/>
        </p:nvSpPr>
        <p:spPr>
          <a:xfrm>
            <a:off x="9003375" y="3361125"/>
            <a:ext cx="104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0"/>
          <p:cNvSpPr txBox="1"/>
          <p:nvPr/>
        </p:nvSpPr>
        <p:spPr>
          <a:xfrm>
            <a:off x="1974125" y="1116850"/>
            <a:ext cx="927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adjacent sibling selector pinpoints elements  that are </a:t>
            </a:r>
            <a:r>
              <a:rPr b="1" i="0" lang="en-US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immediately after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another specified element.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1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1"/>
          <p:cNvSpPr txBox="1"/>
          <p:nvPr>
            <p:ph type="title"/>
          </p:nvPr>
        </p:nvSpPr>
        <p:spPr>
          <a:xfrm>
            <a:off x="2396759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General Sibling Selector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1"/>
          <p:cNvSpPr txBox="1"/>
          <p:nvPr/>
        </p:nvSpPr>
        <p:spPr>
          <a:xfrm>
            <a:off x="1983300" y="2477550"/>
            <a:ext cx="4004100" cy="170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DIV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/div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 after div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/p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 after div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/p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10" name="Google Shape;510;p21"/>
          <p:cNvSpPr txBox="1"/>
          <p:nvPr/>
        </p:nvSpPr>
        <p:spPr>
          <a:xfrm>
            <a:off x="7388025" y="2477538"/>
            <a:ext cx="3965700" cy="106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A52A2A"/>
                </a:solidFill>
                <a:highlight>
                  <a:srgbClr val="00FFFF"/>
                </a:highlight>
                <a:latin typeface="Courier New"/>
                <a:ea typeface="Courier New"/>
                <a:cs typeface="Courier New"/>
                <a:sym typeface="Courier New"/>
              </a:rPr>
              <a:t>div ~ p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background-color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50" u="none" cap="none" strike="noStrike">
                <a:solidFill>
                  <a:srgbClr val="0000CD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yellow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50" u="none" cap="none" strike="noStrike">
              <a:solidFill>
                <a:srgbClr val="000000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1" name="Google Shape;51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7082" y="4400925"/>
            <a:ext cx="1314450" cy="133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2" name="Google Shape;512;p21"/>
          <p:cNvCxnSpPr/>
          <p:nvPr/>
        </p:nvCxnSpPr>
        <p:spPr>
          <a:xfrm>
            <a:off x="7776900" y="2813250"/>
            <a:ext cx="5100" cy="1262400"/>
          </a:xfrm>
          <a:prstGeom prst="straightConnector1">
            <a:avLst/>
          </a:prstGeom>
          <a:noFill/>
          <a:ln cap="flat" cmpd="sng" w="9525">
            <a:solidFill>
              <a:srgbClr val="3C60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3" name="Google Shape;513;p21"/>
          <p:cNvSpPr txBox="1"/>
          <p:nvPr/>
        </p:nvSpPr>
        <p:spPr>
          <a:xfrm>
            <a:off x="7659075" y="4075650"/>
            <a:ext cx="174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p tags after a div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4" name="Google Shape;514;p21"/>
          <p:cNvCxnSpPr/>
          <p:nvPr/>
        </p:nvCxnSpPr>
        <p:spPr>
          <a:xfrm>
            <a:off x="4531575" y="3706200"/>
            <a:ext cx="1135500" cy="1342800"/>
          </a:xfrm>
          <a:prstGeom prst="straightConnector1">
            <a:avLst/>
          </a:prstGeom>
          <a:noFill/>
          <a:ln cap="flat" cmpd="sng" w="9525">
            <a:solidFill>
              <a:srgbClr val="3C607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15" name="Google Shape;515;p21"/>
          <p:cNvCxnSpPr/>
          <p:nvPr/>
        </p:nvCxnSpPr>
        <p:spPr>
          <a:xfrm>
            <a:off x="4531575" y="3977044"/>
            <a:ext cx="1135500" cy="1342800"/>
          </a:xfrm>
          <a:prstGeom prst="straightConnector1">
            <a:avLst/>
          </a:prstGeom>
          <a:noFill/>
          <a:ln cap="flat" cmpd="sng" w="9525">
            <a:solidFill>
              <a:srgbClr val="3C60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6" name="Google Shape;516;p21"/>
          <p:cNvSpPr txBox="1"/>
          <p:nvPr/>
        </p:nvSpPr>
        <p:spPr>
          <a:xfrm>
            <a:off x="3092200" y="4240050"/>
            <a:ext cx="10698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1"/>
          <p:cNvSpPr txBox="1"/>
          <p:nvPr/>
        </p:nvSpPr>
        <p:spPr>
          <a:xfrm>
            <a:off x="8835975" y="3543750"/>
            <a:ext cx="10698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1"/>
          <p:cNvSpPr txBox="1"/>
          <p:nvPr/>
        </p:nvSpPr>
        <p:spPr>
          <a:xfrm>
            <a:off x="1470050" y="1116850"/>
            <a:ext cx="10039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general sibling selector pinpoints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the possible elements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are defined after the  specified element.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2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2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Background</a:t>
            </a:r>
            <a:endParaRPr b="1"/>
          </a:p>
        </p:txBody>
      </p:sp>
      <p:grpSp>
        <p:nvGrpSpPr>
          <p:cNvPr id="525" name="Google Shape;525;p22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526" name="Google Shape;526;p22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527" name="Google Shape;527;p22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28" name="Google Shape;528;p22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529" name="Google Shape;529;p22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0" name="Google Shape;530;p22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1" name="Google Shape;531;p22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2" name="Google Shape;532;p22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533" name="Google Shape;533;p22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22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35" name="Google Shape;535;p22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536" name="Google Shape;536;p22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" name="Google Shape;537;p22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8" name="Google Shape;538;p22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539" name="Google Shape;539;p22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22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1" name="Google Shape;541;p22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542" name="Google Shape;542;p22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p22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22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5" name="Google Shape;545;p22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546" name="Google Shape;546;p22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" name="Google Shape;547;p22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" name="Google Shape;548;p22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" name="Google Shape;549;p22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" name="Google Shape;550;p22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22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2" name="Google Shape;552;p22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553" name="Google Shape;553;p22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22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22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22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22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22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" name="Google Shape;559;p22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" name="Google Shape;560;p22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" name="Google Shape;561;p22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22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22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" name="Google Shape;564;p22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" name="Google Shape;565;p22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22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7" name="Google Shape;567;p22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568" name="Google Shape;568;p22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22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22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22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22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22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574;p22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22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22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22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22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3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3"/>
          <p:cNvSpPr txBox="1"/>
          <p:nvPr>
            <p:ph type="title"/>
          </p:nvPr>
        </p:nvSpPr>
        <p:spPr>
          <a:xfrm>
            <a:off x="2300659" y="108088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CSS Background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23"/>
          <p:cNvSpPr txBox="1"/>
          <p:nvPr>
            <p:ph idx="1" type="body"/>
          </p:nvPr>
        </p:nvSpPr>
        <p:spPr>
          <a:xfrm>
            <a:off x="1480450" y="1550500"/>
            <a:ext cx="9920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have seen coloured text: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000">
                <a:solidFill>
                  <a:srgbClr val="000000"/>
                </a:solidFill>
              </a:rPr>
              <a:t>									</a:t>
            </a:r>
            <a:r>
              <a:rPr b="1" lang="en-US" sz="2000">
                <a:solidFill>
                  <a:srgbClr val="FF0000"/>
                </a:solidFill>
              </a:rPr>
              <a:t>Hello World!</a:t>
            </a:r>
            <a:endParaRPr b="1" sz="2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about coloured background: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000">
                <a:solidFill>
                  <a:srgbClr val="000000"/>
                </a:solidFill>
                <a:highlight>
                  <a:srgbClr val="FF0000"/>
                </a:highlight>
              </a:rPr>
              <a:t>Hello World!</a:t>
            </a:r>
            <a:endParaRPr b="1" sz="2000">
              <a:solidFill>
                <a:srgbClr val="000000"/>
              </a:solidFill>
              <a:highlight>
                <a:srgbClr val="FF0000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b="1"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">
              <a:solidFill>
                <a:srgbClr val="000000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4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4"/>
          <p:cNvSpPr txBox="1"/>
          <p:nvPr>
            <p:ph type="title"/>
          </p:nvPr>
        </p:nvSpPr>
        <p:spPr>
          <a:xfrm>
            <a:off x="2376859" y="108088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Background Color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4"/>
          <p:cNvSpPr txBox="1"/>
          <p:nvPr>
            <p:ph idx="1" type="body"/>
          </p:nvPr>
        </p:nvSpPr>
        <p:spPr>
          <a:xfrm>
            <a:off x="2420850" y="4551100"/>
            <a:ext cx="56481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entire space occupied by the Hello World header  will have a blue background color applied to it.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4"/>
          <p:cNvSpPr txBox="1"/>
          <p:nvPr/>
        </p:nvSpPr>
        <p:spPr>
          <a:xfrm>
            <a:off x="2348200" y="2058900"/>
            <a:ext cx="8805000" cy="38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h1 style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="background-color:DodgerBlue;"&gt;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This is a heading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/h1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4" name="Google Shape;59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0850" y="3752788"/>
            <a:ext cx="8877300" cy="69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24"/>
          <p:cNvSpPr/>
          <p:nvPr/>
        </p:nvSpPr>
        <p:spPr>
          <a:xfrm rot="5404806">
            <a:off x="6181000" y="2972778"/>
            <a:ext cx="643801" cy="26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FA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5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5"/>
          <p:cNvSpPr txBox="1"/>
          <p:nvPr>
            <p:ph type="title"/>
          </p:nvPr>
        </p:nvSpPr>
        <p:spPr>
          <a:xfrm>
            <a:off x="2765109" y="116188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Opacity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5"/>
          <p:cNvSpPr txBox="1"/>
          <p:nvPr/>
        </p:nvSpPr>
        <p:spPr>
          <a:xfrm>
            <a:off x="2291925" y="1626025"/>
            <a:ext cx="4004100" cy="162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div class=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"second"&gt;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Hello World&lt;/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	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div class=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"third"&gt;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Hello World&lt;/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3" name="Google Shape;603;p25"/>
          <p:cNvSpPr txBox="1"/>
          <p:nvPr/>
        </p:nvSpPr>
        <p:spPr>
          <a:xfrm>
            <a:off x="7728750" y="1626025"/>
            <a:ext cx="4004100" cy="2639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div {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  background-color: red;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t/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.second {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  opacity: 0.5;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t/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.third {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  opacity: 0.9;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4" name="Google Shape;604;p25"/>
          <p:cNvSpPr txBox="1"/>
          <p:nvPr/>
        </p:nvSpPr>
        <p:spPr>
          <a:xfrm>
            <a:off x="2291925" y="1225825"/>
            <a:ext cx="70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25"/>
          <p:cNvSpPr txBox="1"/>
          <p:nvPr/>
        </p:nvSpPr>
        <p:spPr>
          <a:xfrm>
            <a:off x="7728750" y="1225825"/>
            <a:ext cx="70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25"/>
          <p:cNvSpPr/>
          <p:nvPr/>
        </p:nvSpPr>
        <p:spPr>
          <a:xfrm rot="5404806">
            <a:off x="6638200" y="4081553"/>
            <a:ext cx="643801" cy="26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6E6E6"/>
          </a:solidFill>
          <a:ln cap="flat" cmpd="sng" w="9525">
            <a:solidFill>
              <a:srgbClr val="3C60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7" name="Google Shape;60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3282" y="4690403"/>
            <a:ext cx="6433645" cy="1363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26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6"/>
          <p:cNvSpPr txBox="1"/>
          <p:nvPr>
            <p:ph type="title"/>
          </p:nvPr>
        </p:nvSpPr>
        <p:spPr>
          <a:xfrm>
            <a:off x="2174084" y="75638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45720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Background Image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26"/>
          <p:cNvSpPr txBox="1"/>
          <p:nvPr/>
        </p:nvSpPr>
        <p:spPr>
          <a:xfrm>
            <a:off x="2980025" y="5812025"/>
            <a:ext cx="7183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6"/>
          <p:cNvSpPr txBox="1"/>
          <p:nvPr/>
        </p:nvSpPr>
        <p:spPr>
          <a:xfrm>
            <a:off x="1586200" y="2287500"/>
            <a:ext cx="4004100" cy="85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Hello World&lt;/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16" name="Google Shape;616;p26"/>
          <p:cNvSpPr txBox="1"/>
          <p:nvPr/>
        </p:nvSpPr>
        <p:spPr>
          <a:xfrm>
            <a:off x="6974100" y="2287500"/>
            <a:ext cx="5062800" cy="85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body {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  background-image: url("flower.jpg");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5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17" name="Google Shape;617;p26"/>
          <p:cNvSpPr/>
          <p:nvPr/>
        </p:nvSpPr>
        <p:spPr>
          <a:xfrm rot="5404806">
            <a:off x="5952400" y="3884553"/>
            <a:ext cx="643801" cy="26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FA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6"/>
          <p:cNvSpPr txBox="1"/>
          <p:nvPr/>
        </p:nvSpPr>
        <p:spPr>
          <a:xfrm>
            <a:off x="1529925" y="1911625"/>
            <a:ext cx="70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26"/>
          <p:cNvSpPr txBox="1"/>
          <p:nvPr/>
        </p:nvSpPr>
        <p:spPr>
          <a:xfrm>
            <a:off x="6966750" y="1911625"/>
            <a:ext cx="70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0" name="Google Shape;62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6925" y="4714563"/>
            <a:ext cx="9886750" cy="7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7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7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Border</a:t>
            </a:r>
            <a:endParaRPr b="1"/>
          </a:p>
        </p:txBody>
      </p:sp>
      <p:grpSp>
        <p:nvGrpSpPr>
          <p:cNvPr id="627" name="Google Shape;627;p27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628" name="Google Shape;628;p27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629" name="Google Shape;629;p27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30" name="Google Shape;630;p27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631" name="Google Shape;631;p27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2" name="Google Shape;632;p27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3" name="Google Shape;633;p27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4" name="Google Shape;634;p27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635" name="Google Shape;635;p27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27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37" name="Google Shape;637;p27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638" name="Google Shape;638;p27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27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0" name="Google Shape;640;p27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641" name="Google Shape;641;p27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27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3" name="Google Shape;643;p27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644" name="Google Shape;644;p27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27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27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7" name="Google Shape;647;p27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648" name="Google Shape;648;p27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" name="Google Shape;649;p27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" name="Google Shape;650;p27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27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" name="Google Shape;652;p27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27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4" name="Google Shape;654;p27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655" name="Google Shape;655;p27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" name="Google Shape;656;p27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" name="Google Shape;657;p27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" name="Google Shape;658;p27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" name="Google Shape;659;p27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" name="Google Shape;660;p27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" name="Google Shape;661;p27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" name="Google Shape;662;p27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" name="Google Shape;663;p27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27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27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27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" name="Google Shape;667;p27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" name="Google Shape;668;p27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9" name="Google Shape;669;p27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670" name="Google Shape;670;p27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1" name="Google Shape;671;p27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p27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27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27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27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27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27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27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27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27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28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8"/>
          <p:cNvSpPr txBox="1"/>
          <p:nvPr>
            <p:ph type="title"/>
          </p:nvPr>
        </p:nvSpPr>
        <p:spPr>
          <a:xfrm>
            <a:off x="2561909" y="108088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Borders Syntax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28"/>
          <p:cNvSpPr txBox="1"/>
          <p:nvPr>
            <p:ph idx="1" type="body"/>
          </p:nvPr>
        </p:nvSpPr>
        <p:spPr>
          <a:xfrm>
            <a:off x="1480450" y="1550500"/>
            <a:ext cx="9920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</a:rPr>
              <a:t>				</a:t>
            </a:r>
            <a:r>
              <a:rPr i="1" lang="en-US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											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/>
          </a:p>
          <a:p>
            <a:pPr indent="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i="1" lang="en-US" sz="1700"/>
              <a:t>Note: Type of border can range from dotted, dashed, solid, hidden etc</a:t>
            </a:r>
            <a:endParaRPr i="1" sz="17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">
              <a:solidFill>
                <a:srgbClr val="000000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688" name="Google Shape;688;p28"/>
          <p:cNvSpPr txBox="1"/>
          <p:nvPr/>
        </p:nvSpPr>
        <p:spPr>
          <a:xfrm>
            <a:off x="4427125" y="2160300"/>
            <a:ext cx="3490200" cy="106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h1 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border: </a:t>
            </a:r>
            <a:r>
              <a:rPr b="0" i="0" lang="en-US" sz="1450" u="none" cap="none" strike="noStrike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2px solid Tomato;</a:t>
            </a:r>
            <a:endParaRPr b="0" i="0" sz="17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50" u="none" cap="none" strike="noStrike">
              <a:solidFill>
                <a:srgbClr val="A52A2A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689" name="Google Shape;689;p28"/>
          <p:cNvGraphicFramePr/>
          <p:nvPr/>
        </p:nvGraphicFramePr>
        <p:xfrm>
          <a:off x="3337225" y="386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{75578B8A-8B9F-488B-829A-1A56B100610C}</a:tableStyleId>
              </a:tblPr>
              <a:tblGrid>
                <a:gridCol w="3009350"/>
                <a:gridCol w="30093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2px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Width of the border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solid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Type of border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Tomato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Colour of the border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29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9"/>
          <p:cNvSpPr txBox="1"/>
          <p:nvPr/>
        </p:nvSpPr>
        <p:spPr>
          <a:xfrm>
            <a:off x="2980025" y="5812025"/>
            <a:ext cx="7183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29"/>
          <p:cNvSpPr txBox="1"/>
          <p:nvPr/>
        </p:nvSpPr>
        <p:spPr>
          <a:xfrm>
            <a:off x="8019925" y="1906225"/>
            <a:ext cx="3490200" cy="106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h1 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border: </a:t>
            </a:r>
            <a:r>
              <a:rPr b="0" i="0" lang="en-US" sz="1450" u="none" cap="none" strike="noStrike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2px solid Tomato;</a:t>
            </a:r>
            <a:endParaRPr b="0" i="0" sz="17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50" u="none" cap="none" strike="noStrike">
              <a:solidFill>
                <a:srgbClr val="A52A2A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97" name="Google Shape;697;p29"/>
          <p:cNvSpPr txBox="1"/>
          <p:nvPr/>
        </p:nvSpPr>
        <p:spPr>
          <a:xfrm>
            <a:off x="1770450" y="2246575"/>
            <a:ext cx="4004100" cy="38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Hello World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/h1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8" name="Google Shape;69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175" y="4473375"/>
            <a:ext cx="9920401" cy="643800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29"/>
          <p:cNvSpPr txBox="1"/>
          <p:nvPr/>
        </p:nvSpPr>
        <p:spPr>
          <a:xfrm>
            <a:off x="1758525" y="1911625"/>
            <a:ext cx="70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29"/>
          <p:cNvSpPr txBox="1"/>
          <p:nvPr/>
        </p:nvSpPr>
        <p:spPr>
          <a:xfrm>
            <a:off x="7943725" y="1587625"/>
            <a:ext cx="70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29"/>
          <p:cNvSpPr/>
          <p:nvPr/>
        </p:nvSpPr>
        <p:spPr>
          <a:xfrm rot="5404806">
            <a:off x="5952400" y="3506178"/>
            <a:ext cx="643801" cy="26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6E6E6"/>
          </a:solidFill>
          <a:ln cap="flat" cmpd="sng" w="9525">
            <a:solidFill>
              <a:srgbClr val="3C60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29"/>
          <p:cNvSpPr txBox="1"/>
          <p:nvPr>
            <p:ph type="title"/>
          </p:nvPr>
        </p:nvSpPr>
        <p:spPr>
          <a:xfrm>
            <a:off x="2561909" y="108088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Borders Syntax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30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0"/>
          <p:cNvSpPr txBox="1"/>
          <p:nvPr>
            <p:ph type="title"/>
          </p:nvPr>
        </p:nvSpPr>
        <p:spPr>
          <a:xfrm>
            <a:off x="2478884" y="116213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45720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Fine Control of Borders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30"/>
          <p:cNvSpPr txBox="1"/>
          <p:nvPr>
            <p:ph idx="1" type="body"/>
          </p:nvPr>
        </p:nvSpPr>
        <p:spPr>
          <a:xfrm>
            <a:off x="1480450" y="1441925"/>
            <a:ext cx="99204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Border sides can be styled one by one using: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•"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border-top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•"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border-bottom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•"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border-left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•"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border-right</a:t>
            </a:r>
            <a:r>
              <a:rPr lang="en-US" sz="2000"/>
              <a:t>	</a:t>
            </a:r>
            <a:endParaRPr sz="2000"/>
          </a:p>
        </p:txBody>
      </p:sp>
      <p:sp>
        <p:nvSpPr>
          <p:cNvPr id="710" name="Google Shape;710;p30"/>
          <p:cNvSpPr txBox="1"/>
          <p:nvPr/>
        </p:nvSpPr>
        <p:spPr>
          <a:xfrm>
            <a:off x="2980025" y="5136825"/>
            <a:ext cx="7183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30"/>
          <p:cNvSpPr txBox="1"/>
          <p:nvPr/>
        </p:nvSpPr>
        <p:spPr>
          <a:xfrm>
            <a:off x="7486525" y="3136000"/>
            <a:ext cx="3490200" cy="126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h1 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border-bottom: </a:t>
            </a:r>
            <a:r>
              <a:rPr b="0" i="0" lang="en-US" sz="1450" u="none" cap="none" strike="noStrike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2px solid Tomato;</a:t>
            </a:r>
            <a:endParaRPr b="0" i="0" sz="17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50" u="none" cap="none" strike="noStrike">
              <a:solidFill>
                <a:srgbClr val="A52A2A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12" name="Google Shape;712;p30"/>
          <p:cNvSpPr txBox="1"/>
          <p:nvPr/>
        </p:nvSpPr>
        <p:spPr>
          <a:xfrm>
            <a:off x="2481438" y="3390775"/>
            <a:ext cx="4004100" cy="38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Hello World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/h1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3" name="Google Shape;71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7688" y="4939413"/>
            <a:ext cx="886777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30"/>
          <p:cNvSpPr/>
          <p:nvPr/>
        </p:nvSpPr>
        <p:spPr>
          <a:xfrm rot="5404806">
            <a:off x="6400150" y="4300303"/>
            <a:ext cx="643801" cy="26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6E6E6"/>
          </a:solidFill>
          <a:ln cap="flat" cmpd="sng" w="9525">
            <a:solidFill>
              <a:srgbClr val="3C60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30"/>
          <p:cNvSpPr txBox="1"/>
          <p:nvPr/>
        </p:nvSpPr>
        <p:spPr>
          <a:xfrm>
            <a:off x="2441650" y="5733100"/>
            <a:ext cx="285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only bottom border is styled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6" name="Google Shape;716;p30"/>
          <p:cNvCxnSpPr/>
          <p:nvPr/>
        </p:nvCxnSpPr>
        <p:spPr>
          <a:xfrm flipH="1">
            <a:off x="4745275" y="5416750"/>
            <a:ext cx="1168200" cy="35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7" name="Google Shape;717;p30"/>
          <p:cNvSpPr txBox="1"/>
          <p:nvPr/>
        </p:nvSpPr>
        <p:spPr>
          <a:xfrm>
            <a:off x="2441650" y="2990575"/>
            <a:ext cx="70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30"/>
          <p:cNvSpPr txBox="1"/>
          <p:nvPr/>
        </p:nvSpPr>
        <p:spPr>
          <a:xfrm>
            <a:off x="7410325" y="2817400"/>
            <a:ext cx="70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31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31"/>
          <p:cNvSpPr txBox="1"/>
          <p:nvPr>
            <p:ph type="title"/>
          </p:nvPr>
        </p:nvSpPr>
        <p:spPr>
          <a:xfrm>
            <a:off x="2478884" y="116188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45720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US" sz="3500">
                <a:latin typeface="Arial"/>
                <a:ea typeface="Arial"/>
                <a:cs typeface="Arial"/>
                <a:sym typeface="Arial"/>
              </a:rPr>
              <a:t>Border Radius</a:t>
            </a:r>
            <a:r>
              <a:rPr lang="en-US" sz="3500">
                <a:latin typeface="Arial"/>
                <a:ea typeface="Arial"/>
                <a:cs typeface="Arial"/>
                <a:sym typeface="Arial"/>
              </a:rPr>
              <a:t> for Rounded Corner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31"/>
          <p:cNvSpPr txBox="1"/>
          <p:nvPr/>
        </p:nvSpPr>
        <p:spPr>
          <a:xfrm>
            <a:off x="2980025" y="5812025"/>
            <a:ext cx="7183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31"/>
          <p:cNvSpPr txBox="1"/>
          <p:nvPr/>
        </p:nvSpPr>
        <p:spPr>
          <a:xfrm>
            <a:off x="8019925" y="2515825"/>
            <a:ext cx="3490200" cy="139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h1 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border: </a:t>
            </a:r>
            <a:r>
              <a:rPr b="0" i="0" lang="en-US" sz="1450" u="none" cap="none" strike="noStrike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2px solid green;</a:t>
            </a:r>
            <a:endParaRPr b="0" i="0" sz="1450" u="none" cap="none" strike="noStrike">
              <a:solidFill>
                <a:srgbClr val="0000C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border-radius: </a:t>
            </a:r>
            <a:r>
              <a:rPr b="0" i="0" lang="en-US" sz="1450" u="none" cap="none" strike="noStrike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10px;</a:t>
            </a:r>
            <a:endParaRPr b="0" i="0" sz="1450" u="none" cap="none" strike="noStrike">
              <a:solidFill>
                <a:srgbClr val="0000C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50" u="none" cap="none" strike="noStrike">
              <a:solidFill>
                <a:srgbClr val="A52A2A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27" name="Google Shape;727;p31"/>
          <p:cNvSpPr txBox="1"/>
          <p:nvPr/>
        </p:nvSpPr>
        <p:spPr>
          <a:xfrm>
            <a:off x="2456250" y="2856175"/>
            <a:ext cx="4004100" cy="38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Hello World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/h1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31"/>
          <p:cNvSpPr/>
          <p:nvPr/>
        </p:nvSpPr>
        <p:spPr>
          <a:xfrm rot="5404806">
            <a:off x="6409600" y="4191978"/>
            <a:ext cx="643801" cy="26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6E6E6"/>
          </a:solidFill>
          <a:ln cap="flat" cmpd="sng" w="9525">
            <a:solidFill>
              <a:srgbClr val="3C60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31"/>
          <p:cNvSpPr txBox="1"/>
          <p:nvPr/>
        </p:nvSpPr>
        <p:spPr>
          <a:xfrm>
            <a:off x="2444325" y="2521225"/>
            <a:ext cx="70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31"/>
          <p:cNvSpPr txBox="1"/>
          <p:nvPr/>
        </p:nvSpPr>
        <p:spPr>
          <a:xfrm>
            <a:off x="7943725" y="2197225"/>
            <a:ext cx="70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1" name="Google Shape;73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882" y="4985053"/>
            <a:ext cx="8915400" cy="55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C4755"/>
        </a:solidFill>
      </p:bgPr>
    </p:bg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32"/>
          <p:cNvSpPr/>
          <p:nvPr/>
        </p:nvSpPr>
        <p:spPr>
          <a:xfrm rot="-5400000">
            <a:off x="6405643" y="1071599"/>
            <a:ext cx="6858000" cy="47148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7" name="Google Shape;73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9968" y="241300"/>
            <a:ext cx="6352032" cy="6352032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32"/>
          <p:cNvSpPr txBox="1"/>
          <p:nvPr>
            <p:ph type="title"/>
          </p:nvPr>
        </p:nvSpPr>
        <p:spPr>
          <a:xfrm>
            <a:off x="1145142" y="641064"/>
            <a:ext cx="5001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2800">
                <a:solidFill>
                  <a:schemeClr val="lt1"/>
                </a:solidFill>
              </a:rPr>
              <a:t>That’s all for this module!</a:t>
            </a:r>
            <a:endParaRPr sz="2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>
                <a:solidFill>
                  <a:schemeClr val="lt1"/>
                </a:solidFill>
              </a:rPr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alentlabs ERB course Theme">
  <a:themeElements>
    <a:clrScheme name="TalentLabs">
      <a:dk1>
        <a:srgbClr val="3E4754"/>
      </a:dk1>
      <a:lt1>
        <a:srgbClr val="F0EFEE"/>
      </a:lt1>
      <a:dk2>
        <a:srgbClr val="3C607E"/>
      </a:dk2>
      <a:lt2>
        <a:srgbClr val="E6E6E6"/>
      </a:lt2>
      <a:accent1>
        <a:srgbClr val="5080A6"/>
      </a:accent1>
      <a:accent2>
        <a:srgbClr val="FFB182"/>
      </a:accent2>
      <a:accent3>
        <a:srgbClr val="FFBBC6"/>
      </a:accent3>
      <a:accent4>
        <a:srgbClr val="FBD590"/>
      </a:accent4>
      <a:accent5>
        <a:srgbClr val="77A8C9"/>
      </a:accent5>
      <a:accent6>
        <a:srgbClr val="C4E7AA"/>
      </a:accent6>
      <a:hlink>
        <a:srgbClr val="DABAA3"/>
      </a:hlink>
      <a:folHlink>
        <a:srgbClr val="77A8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