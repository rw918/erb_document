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LqSqYoXV1LIEHHy8bs/R1XQmh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Welcome to this M1 in SQL Course. In this first chapter of the course, we are going to do an introduction of databases and relational databases.</a:t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Without further adieu, Let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1800"/>
              <a:t>s look at the course introduction so that you will know what you are going to learn.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Without further adieu, Let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1800"/>
              <a:t>s look at the course introduction so that you will know what you are going to learn.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Without further adieu, Let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1800"/>
              <a:t>s look at the course introduction so that you will know what you are going to learn.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0" name="Google Shape;38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https://developer.mozilla.org/en-US/docs/Web/CSS/font-family</a:t>
            </a:r>
            <a:endParaRPr/>
          </a:p>
        </p:txBody>
      </p:sp>
      <p:sp>
        <p:nvSpPr>
          <p:cNvPr id="388" name="Google Shape;38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7" name="Google Shape;41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0" name="Google Shape;43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2" name="Google Shape;44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9" name="Google Shape;44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f8698a19c2_0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2f8698a19c2_0_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g2f8698a19c2_0_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2f8698a19c2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2f8698a19c2_0_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2f8698a19c2_0_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g2f8698a19c2_0_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g2f8698a19c2_0_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g2f8698a19c2_0_8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2f8698a19c2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2f8698a19c2_0_1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g2f8698a19c2_0_15"/>
          <p:cNvSpPr txBox="1"/>
          <p:nvPr>
            <p:ph idx="1" type="body"/>
          </p:nvPr>
        </p:nvSpPr>
        <p:spPr>
          <a:xfrm>
            <a:off x="66458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g2f8698a19c2_0_15"/>
          <p:cNvSpPr txBox="1"/>
          <p:nvPr>
            <p:ph idx="2" type="body"/>
          </p:nvPr>
        </p:nvSpPr>
        <p:spPr>
          <a:xfrm>
            <a:off x="432025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g2f8698a19c2_0_15"/>
          <p:cNvSpPr txBox="1"/>
          <p:nvPr>
            <p:ph idx="3" type="body"/>
          </p:nvPr>
        </p:nvSpPr>
        <p:spPr>
          <a:xfrm>
            <a:off x="797592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2f8698a19c2_0_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2f8698a19c2_0_2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g2f8698a19c2_0_21"/>
          <p:cNvSpPr txBox="1"/>
          <p:nvPr>
            <p:ph idx="1" type="body"/>
          </p:nvPr>
        </p:nvSpPr>
        <p:spPr>
          <a:xfrm>
            <a:off x="119317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2f8698a19c2_0_21"/>
          <p:cNvSpPr txBox="1"/>
          <p:nvPr>
            <p:ph idx="2" type="body"/>
          </p:nvPr>
        </p:nvSpPr>
        <p:spPr>
          <a:xfrm>
            <a:off x="484884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g2f8698a19c2_0_21"/>
          <p:cNvSpPr txBox="1"/>
          <p:nvPr>
            <p:ph idx="3" type="body"/>
          </p:nvPr>
        </p:nvSpPr>
        <p:spPr>
          <a:xfrm>
            <a:off x="850451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g2f8698a19c2_0_21"/>
          <p:cNvSpPr txBox="1"/>
          <p:nvPr>
            <p:ph idx="4" type="body"/>
          </p:nvPr>
        </p:nvSpPr>
        <p:spPr>
          <a:xfrm>
            <a:off x="119317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g2f8698a19c2_0_21"/>
          <p:cNvSpPr txBox="1"/>
          <p:nvPr>
            <p:ph idx="5" type="body"/>
          </p:nvPr>
        </p:nvSpPr>
        <p:spPr>
          <a:xfrm>
            <a:off x="484884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g2f8698a19c2_0_21"/>
          <p:cNvSpPr txBox="1"/>
          <p:nvPr>
            <p:ph idx="6" type="body"/>
          </p:nvPr>
        </p:nvSpPr>
        <p:spPr>
          <a:xfrm>
            <a:off x="850451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f8698a19c2_0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2f8698a19c2_0_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g2f8698a19c2_0_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g2f8698a19c2_0_3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f8698a19c2_0_36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">
  <p:cSld name="Blank color">
    <p:bg>
      <p:bgPr>
        <a:solidFill>
          <a:schemeClr val="accen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f8698a19c2_0_38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Slide">
  <p:cSld name="General Slid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8698a19c2_0_4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2f8698a19c2_0_4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g2f8698a19c2_0_4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f8698a19c2_0_4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2f8698a19c2_0_4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09297"/>
              </a:buClr>
              <a:buSzPts val="2400"/>
              <a:buNone/>
              <a:defRPr sz="2400">
                <a:solidFill>
                  <a:srgbClr val="909297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2000"/>
              <a:buNone/>
              <a:defRPr sz="2000">
                <a:solidFill>
                  <a:srgbClr val="909297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800"/>
              <a:buNone/>
              <a:defRPr sz="1800">
                <a:solidFill>
                  <a:srgbClr val="909297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9pPr>
          </a:lstStyle>
          <a:p/>
        </p:txBody>
      </p:sp>
      <p:sp>
        <p:nvSpPr>
          <p:cNvPr id="57" name="Google Shape;57;g2f8698a19c2_0_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g2f8698a19c2_0_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g2f8698a19c2_0_4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8698a19c2_0_51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2f8698a19c2_0_51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g2f8698a19c2_0_51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g2f8698a19c2_0_51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g2f8698a19c2_0_51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2f8698a19c2_0_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g2f8698a19c2_0_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g2f8698a19c2_0_5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f8698a19c2_0_6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2f8698a19c2_0_6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2" name="Google Shape;72;g2f8698a19c2_0_6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g2f8698a19c2_0_6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g2f8698a19c2_0_6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g2f8698a19c2_0_6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8698a19c2_0_67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2f8698a19c2_0_67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g2f8698a19c2_0_67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g2f8698a19c2_0_6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g2f8698a19c2_0_6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g2f8698a19c2_0_67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f8698a19c2_0_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2f8698a19c2_0_7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g2f8698a19c2_0_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2f8698a19c2_0_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2f8698a19c2_0_7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f8698a19c2_0_80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2f8698a19c2_0_80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g2f8698a19c2_0_8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2f8698a19c2_0_8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g2f8698a19c2_0_8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f8698a19c2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g2f8698a19c2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2f8698a19c2_0_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801" y="1641414"/>
            <a:ext cx="6027751" cy="377378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>
            <p:ph type="title"/>
          </p:nvPr>
        </p:nvSpPr>
        <p:spPr>
          <a:xfrm>
            <a:off x="6858000" y="2344575"/>
            <a:ext cx="44691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Lecture 9</a:t>
            </a:r>
            <a:endParaRPr b="1"/>
          </a:p>
        </p:txBody>
      </p:sp>
      <p:sp>
        <p:nvSpPr>
          <p:cNvPr id="101" name="Google Shape;101;p1"/>
          <p:cNvSpPr/>
          <p:nvPr/>
        </p:nvSpPr>
        <p:spPr>
          <a:xfrm>
            <a:off x="10310420" y="6331352"/>
            <a:ext cx="1704000" cy="416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>
            <p:ph idx="1" type="body"/>
          </p:nvPr>
        </p:nvSpPr>
        <p:spPr>
          <a:xfrm>
            <a:off x="7725075" y="3774200"/>
            <a:ext cx="36195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Styling Texts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1"/>
          <p:cNvCxnSpPr/>
          <p:nvPr/>
        </p:nvCxnSpPr>
        <p:spPr>
          <a:xfrm>
            <a:off x="7707700" y="3532925"/>
            <a:ext cx="3619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625" y="920325"/>
            <a:ext cx="4887676" cy="488767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>
            <p:ph type="title"/>
          </p:nvPr>
        </p:nvSpPr>
        <p:spPr>
          <a:xfrm>
            <a:off x="7498700" y="1552500"/>
            <a:ext cx="3445200" cy="7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G E N D A</a:t>
            </a:r>
            <a:endParaRPr b="1"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>
            <p:ph idx="1" type="body"/>
          </p:nvPr>
        </p:nvSpPr>
        <p:spPr>
          <a:xfrm>
            <a:off x="7212525" y="2635200"/>
            <a:ext cx="4520100" cy="3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Text Alignment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Text Decoration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Text Fonts / Size / Weight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2"/>
          <p:cNvCxnSpPr/>
          <p:nvPr/>
        </p:nvCxnSpPr>
        <p:spPr>
          <a:xfrm>
            <a:off x="7394800" y="2431075"/>
            <a:ext cx="3151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2"/>
          <p:cNvCxnSpPr/>
          <p:nvPr/>
        </p:nvCxnSpPr>
        <p:spPr>
          <a:xfrm>
            <a:off x="7394800" y="1471625"/>
            <a:ext cx="3151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chemeClr val="lt1"/>
                </a:solidFill>
              </a:rPr>
              <a:t>Text Alignment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119" name="Google Shape;119;p3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120" name="Google Shape;120;p3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121" name="Google Shape;121;p3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2" name="Google Shape;122;p3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123" name="Google Shape;123;p3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" name="Google Shape;124;p3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" name="Google Shape;125;p3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" name="Google Shape;126;p3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27" name="Google Shape;127;p3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3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9" name="Google Shape;129;p3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130" name="Google Shape;130;p3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3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2" name="Google Shape;132;p3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133" name="Google Shape;133;p3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3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" name="Google Shape;135;p3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136" name="Google Shape;136;p3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3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" name="Google Shape;139;p3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140" name="Google Shape;140;p3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3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3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3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3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6" name="Google Shape;146;p3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147" name="Google Shape;147;p3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3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3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3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3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3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3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3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3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3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3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3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3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3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1" name="Google Shape;161;p3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162" name="Google Shape;162;p3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3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3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3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3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3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3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3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3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3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/>
          <p:nvPr>
            <p:ph type="title"/>
          </p:nvPr>
        </p:nvSpPr>
        <p:spPr>
          <a:xfrm>
            <a:off x="2313284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Text Alignment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"/>
          <p:cNvSpPr txBox="1"/>
          <p:nvPr/>
        </p:nvSpPr>
        <p:spPr>
          <a:xfrm>
            <a:off x="1859300" y="2599100"/>
            <a:ext cx="3375300" cy="10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CSS margins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7644925" y="2530700"/>
            <a:ext cx="3490200" cy="106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1px solid green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4600" y="4138013"/>
            <a:ext cx="2343150" cy="128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4"/>
          <p:cNvSpPr txBox="1"/>
          <p:nvPr/>
        </p:nvSpPr>
        <p:spPr>
          <a:xfrm>
            <a:off x="2958300" y="3596900"/>
            <a:ext cx="93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"/>
          <p:cNvSpPr txBox="1"/>
          <p:nvPr/>
        </p:nvSpPr>
        <p:spPr>
          <a:xfrm>
            <a:off x="8924575" y="3596900"/>
            <a:ext cx="93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3488050" y="5878350"/>
            <a:ext cx="6384600" cy="392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DEFAULT ALIGNMENT IS LEFT ALIGN</a:t>
            </a:r>
            <a:endParaRPr b="0" i="0" sz="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 txBox="1"/>
          <p:nvPr/>
        </p:nvSpPr>
        <p:spPr>
          <a:xfrm>
            <a:off x="2374000" y="1955675"/>
            <a:ext cx="861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can align elements inside a container to be at the </a:t>
            </a:r>
            <a:r>
              <a:rPr b="0" i="0" lang="en-US" sz="2000" u="none" cap="none" strike="noStrike">
                <a:solidFill>
                  <a:schemeClr val="dk1"/>
                </a:solidFill>
                <a:highlight>
                  <a:srgbClr val="CFE2F3"/>
                </a:highlight>
                <a:latin typeface="Arial"/>
                <a:ea typeface="Arial"/>
                <a:cs typeface="Arial"/>
                <a:sym typeface="Arial"/>
              </a:rPr>
              <a:t>left, middle or right</a:t>
            </a:r>
            <a:endParaRPr b="0" i="0" sz="2000" u="none" cap="none" strike="noStrike">
              <a:solidFill>
                <a:srgbClr val="000000"/>
              </a:solidFill>
              <a:highlight>
                <a:srgbClr val="CFE2F3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69825" y="1316964"/>
            <a:ext cx="461338" cy="329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53910" y="1312575"/>
            <a:ext cx="473588" cy="3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50238" y="1316962"/>
            <a:ext cx="461331" cy="329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/>
          <p:nvPr>
            <p:ph type="title"/>
          </p:nvPr>
        </p:nvSpPr>
        <p:spPr>
          <a:xfrm>
            <a:off x="2396759" y="11795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Center Align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2205825" y="2641600"/>
            <a:ext cx="3194400" cy="10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CSS margins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7644925" y="2573200"/>
            <a:ext cx="3490200" cy="139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1px solid green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text-align: </a:t>
            </a:r>
            <a:r>
              <a:rPr b="0" i="0" lang="en-US" sz="1450" u="none" cap="none" strike="noStrike">
                <a:solidFill>
                  <a:srgbClr val="0000CD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center;</a:t>
            </a:r>
            <a:endParaRPr b="0" i="0" sz="1450" u="none" cap="none" strike="noStrike">
              <a:solidFill>
                <a:srgbClr val="000000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1900" y="4890638"/>
            <a:ext cx="8896350" cy="1200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8" name="Google Shape;198;p5"/>
          <p:cNvCxnSpPr/>
          <p:nvPr/>
        </p:nvCxnSpPr>
        <p:spPr>
          <a:xfrm flipH="1">
            <a:off x="6868450" y="3585988"/>
            <a:ext cx="1416600" cy="2022600"/>
          </a:xfrm>
          <a:prstGeom prst="straightConnector1">
            <a:avLst/>
          </a:prstGeom>
          <a:noFill/>
          <a:ln cap="flat" cmpd="sng" w="9525">
            <a:solidFill>
              <a:srgbClr val="3C60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9" name="Google Shape;199;p5"/>
          <p:cNvSpPr txBox="1"/>
          <p:nvPr/>
        </p:nvSpPr>
        <p:spPr>
          <a:xfrm>
            <a:off x="3401325" y="3766725"/>
            <a:ext cx="8034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8970850" y="3972663"/>
            <a:ext cx="6954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3910" y="1312575"/>
            <a:ext cx="473588" cy="3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5"/>
          <p:cNvSpPr txBox="1"/>
          <p:nvPr/>
        </p:nvSpPr>
        <p:spPr>
          <a:xfrm>
            <a:off x="2374000" y="1955675"/>
            <a:ext cx="861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can align elements inside a container to be at the </a:t>
            </a:r>
            <a:r>
              <a:rPr b="0" i="0" lang="en-US" sz="2000" u="none" cap="none" strike="noStrike">
                <a:solidFill>
                  <a:schemeClr val="dk1"/>
                </a:solidFill>
                <a:highlight>
                  <a:srgbClr val="CFE2F3"/>
                </a:highlight>
                <a:latin typeface="Arial"/>
                <a:ea typeface="Arial"/>
                <a:cs typeface="Arial"/>
                <a:sym typeface="Arial"/>
              </a:rPr>
              <a:t>left, middle or right</a:t>
            </a:r>
            <a:endParaRPr b="0" i="0" sz="2000" u="none" cap="none" strike="noStrike">
              <a:solidFill>
                <a:srgbClr val="000000"/>
              </a:solidFill>
              <a:highlight>
                <a:srgbClr val="CFE2F3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 txBox="1"/>
          <p:nvPr>
            <p:ph type="title"/>
          </p:nvPr>
        </p:nvSpPr>
        <p:spPr>
          <a:xfrm>
            <a:off x="2417659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Right Align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1936350" y="2698750"/>
            <a:ext cx="3720600" cy="72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CSS margins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-US" sz="15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5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7644925" y="2698750"/>
            <a:ext cx="3490200" cy="139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1px solid green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text-align: </a:t>
            </a:r>
            <a:r>
              <a:rPr b="0" i="0" lang="en-US" sz="1450" u="none" cap="none" strike="noStrike">
                <a:solidFill>
                  <a:srgbClr val="0000CD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right;</a:t>
            </a:r>
            <a:endParaRPr b="0" i="0" sz="1450" u="none" cap="none" strike="noStrike">
              <a:solidFill>
                <a:srgbClr val="000000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8788" y="4776200"/>
            <a:ext cx="8924925" cy="1238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2" name="Google Shape;212;p6"/>
          <p:cNvCxnSpPr/>
          <p:nvPr/>
        </p:nvCxnSpPr>
        <p:spPr>
          <a:xfrm>
            <a:off x="10061150" y="3767800"/>
            <a:ext cx="830700" cy="1698900"/>
          </a:xfrm>
          <a:prstGeom prst="straightConnector1">
            <a:avLst/>
          </a:prstGeom>
          <a:noFill/>
          <a:ln cap="flat" cmpd="sng" w="9525">
            <a:solidFill>
              <a:srgbClr val="3C60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3" name="Google Shape;213;p6"/>
          <p:cNvSpPr txBox="1"/>
          <p:nvPr/>
        </p:nvSpPr>
        <p:spPr>
          <a:xfrm>
            <a:off x="2951300" y="3545200"/>
            <a:ext cx="11127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8465625" y="4095625"/>
            <a:ext cx="11127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9875" y="1316964"/>
            <a:ext cx="461338" cy="32974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6"/>
          <p:cNvSpPr txBox="1"/>
          <p:nvPr/>
        </p:nvSpPr>
        <p:spPr>
          <a:xfrm>
            <a:off x="2374000" y="1955675"/>
            <a:ext cx="861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can align elements inside a container to be at the </a:t>
            </a:r>
            <a:r>
              <a:rPr b="0" i="0" lang="en-US" sz="2000" u="none" cap="none" strike="noStrike">
                <a:solidFill>
                  <a:schemeClr val="dk1"/>
                </a:solidFill>
                <a:highlight>
                  <a:srgbClr val="CFE2F3"/>
                </a:highlight>
                <a:latin typeface="Arial"/>
                <a:ea typeface="Arial"/>
                <a:cs typeface="Arial"/>
                <a:sym typeface="Arial"/>
              </a:rPr>
              <a:t>left, middle or right</a:t>
            </a:r>
            <a:endParaRPr b="0" i="0" sz="2000" u="none" cap="none" strike="noStrike">
              <a:solidFill>
                <a:srgbClr val="000000"/>
              </a:solidFill>
              <a:highlight>
                <a:srgbClr val="CFE2F3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chemeClr val="lt1"/>
                </a:solidFill>
              </a:rPr>
              <a:t>Text Decoration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223" name="Google Shape;223;p7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224" name="Google Shape;224;p7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225" name="Google Shape;225;p7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26" name="Google Shape;226;p7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227" name="Google Shape;227;p7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" name="Google Shape;228;p7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" name="Google Shape;229;p7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" name="Google Shape;230;p7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31" name="Google Shape;231;p7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7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3" name="Google Shape;233;p7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234" name="Google Shape;234;p7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7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6" name="Google Shape;236;p7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237" name="Google Shape;237;p7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7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9" name="Google Shape;239;p7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240" name="Google Shape;240;p7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7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7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3" name="Google Shape;243;p7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244" name="Google Shape;244;p7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7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7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7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7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7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0" name="Google Shape;250;p7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251" name="Google Shape;251;p7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7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7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7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7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7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7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7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7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7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7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7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7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7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5" name="Google Shape;265;p7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266" name="Google Shape;266;p7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7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7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7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7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7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7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7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7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7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7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 txBox="1"/>
          <p:nvPr>
            <p:ph type="title"/>
          </p:nvPr>
        </p:nvSpPr>
        <p:spPr>
          <a:xfrm>
            <a:off x="2396771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Underlined Text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8"/>
          <p:cNvSpPr txBox="1"/>
          <p:nvPr/>
        </p:nvSpPr>
        <p:spPr>
          <a:xfrm>
            <a:off x="1577025" y="2803663"/>
            <a:ext cx="4004100" cy="38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8"/>
          <p:cNvSpPr txBox="1"/>
          <p:nvPr/>
        </p:nvSpPr>
        <p:spPr>
          <a:xfrm>
            <a:off x="1596225" y="4032225"/>
            <a:ext cx="3965700" cy="106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 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text-decoration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underline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6457" y="3491638"/>
            <a:ext cx="904875" cy="657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6" name="Google Shape;286;p8"/>
          <p:cNvCxnSpPr/>
          <p:nvPr/>
        </p:nvCxnSpPr>
        <p:spPr>
          <a:xfrm flipH="1" rot="10800000">
            <a:off x="5153775" y="4044900"/>
            <a:ext cx="3685800" cy="544200"/>
          </a:xfrm>
          <a:prstGeom prst="straightConnector1">
            <a:avLst/>
          </a:prstGeom>
          <a:noFill/>
          <a:ln cap="flat" cmpd="sng" w="9525">
            <a:solidFill>
              <a:srgbClr val="3C60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7" name="Google Shape;287;p8"/>
          <p:cNvSpPr txBox="1"/>
          <p:nvPr/>
        </p:nvSpPr>
        <p:spPr>
          <a:xfrm>
            <a:off x="2482350" y="1905100"/>
            <a:ext cx="831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Texts can be decorated in several ways using CSS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p8"/>
          <p:cNvCxnSpPr/>
          <p:nvPr/>
        </p:nvCxnSpPr>
        <p:spPr>
          <a:xfrm>
            <a:off x="4773363" y="1114700"/>
            <a:ext cx="3432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8"/>
          <p:cNvSpPr txBox="1"/>
          <p:nvPr/>
        </p:nvSpPr>
        <p:spPr>
          <a:xfrm>
            <a:off x="1577025" y="2366800"/>
            <a:ext cx="12198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1577025" y="3626025"/>
            <a:ext cx="6954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 txBox="1"/>
          <p:nvPr/>
        </p:nvSpPr>
        <p:spPr>
          <a:xfrm>
            <a:off x="1577025" y="2815900"/>
            <a:ext cx="4004100" cy="38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/h1</a:t>
            </a:r>
            <a:r>
              <a:rPr b="0" i="0" lang="en-US" sz="145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9"/>
          <p:cNvSpPr txBox="1"/>
          <p:nvPr/>
        </p:nvSpPr>
        <p:spPr>
          <a:xfrm>
            <a:off x="1615425" y="4141875"/>
            <a:ext cx="3965700" cy="106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h1 </a:t>
            </a: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5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text-decoration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50" u="none" cap="none" strike="noStrike">
                <a:solidFill>
                  <a:srgbClr val="0000CD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line-through</a:t>
            </a:r>
            <a:r>
              <a:rPr b="0" i="0" lang="en-US" sz="145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50" u="none" cap="none" strike="noStrike">
              <a:solidFill>
                <a:srgbClr val="000000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" name="Google Shape;29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4657" y="3358288"/>
            <a:ext cx="1057275" cy="923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9" name="Google Shape;299;p9"/>
          <p:cNvCxnSpPr>
            <a:stCxn id="297" idx="3"/>
            <a:endCxn id="298" idx="1"/>
          </p:cNvCxnSpPr>
          <p:nvPr/>
        </p:nvCxnSpPr>
        <p:spPr>
          <a:xfrm flipH="1" rot="10800000">
            <a:off x="5581125" y="3820275"/>
            <a:ext cx="2933400" cy="854700"/>
          </a:xfrm>
          <a:prstGeom prst="straightConnector1">
            <a:avLst/>
          </a:prstGeom>
          <a:noFill/>
          <a:ln cap="flat" cmpd="sng" w="9525">
            <a:solidFill>
              <a:srgbClr val="3C60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0" name="Google Shape;300;p9"/>
          <p:cNvSpPr txBox="1"/>
          <p:nvPr/>
        </p:nvSpPr>
        <p:spPr>
          <a:xfrm>
            <a:off x="2482350" y="1905100"/>
            <a:ext cx="831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Texts can be decorated in several ways using 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1" name="Google Shape;301;p9"/>
          <p:cNvCxnSpPr/>
          <p:nvPr/>
        </p:nvCxnSpPr>
        <p:spPr>
          <a:xfrm>
            <a:off x="4537650" y="806075"/>
            <a:ext cx="42024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p9"/>
          <p:cNvSpPr txBox="1"/>
          <p:nvPr>
            <p:ph type="title"/>
          </p:nvPr>
        </p:nvSpPr>
        <p:spPr>
          <a:xfrm>
            <a:off x="2545959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Line-Through Text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9"/>
          <p:cNvSpPr txBox="1"/>
          <p:nvPr/>
        </p:nvSpPr>
        <p:spPr>
          <a:xfrm>
            <a:off x="1577025" y="2366800"/>
            <a:ext cx="12645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1577025" y="3626025"/>
            <a:ext cx="6954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 txBox="1"/>
          <p:nvPr>
            <p:ph type="title"/>
          </p:nvPr>
        </p:nvSpPr>
        <p:spPr>
          <a:xfrm>
            <a:off x="2413784" y="128625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Text Transformation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0"/>
          <p:cNvSpPr txBox="1"/>
          <p:nvPr/>
        </p:nvSpPr>
        <p:spPr>
          <a:xfrm>
            <a:off x="1577025" y="2720425"/>
            <a:ext cx="4872000" cy="102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class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="uppercase"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 text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/p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class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="lowercase"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 text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/p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class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="capitalize"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 text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/p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2" name="Google Shape;312;p10"/>
          <p:cNvSpPr txBox="1"/>
          <p:nvPr/>
        </p:nvSpPr>
        <p:spPr>
          <a:xfrm>
            <a:off x="1577025" y="4489425"/>
            <a:ext cx="4872000" cy="193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p.uppercase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text-transform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uppercase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p.lowercase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text-transform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lowercase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p.capitalize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text-transform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capitalize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13" name="Google Shape;31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67075" y="3394488"/>
            <a:ext cx="172402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0"/>
          <p:cNvSpPr txBox="1"/>
          <p:nvPr/>
        </p:nvSpPr>
        <p:spPr>
          <a:xfrm>
            <a:off x="2558725" y="1512700"/>
            <a:ext cx="804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can be transformed via </a:t>
            </a:r>
            <a:r>
              <a:rPr b="0" i="0" lang="en-US" sz="2000" u="none" cap="none" strike="noStrike">
                <a:solidFill>
                  <a:schemeClr val="dk1"/>
                </a:solidFill>
                <a:highlight>
                  <a:srgbClr val="CFE2F3"/>
                </a:highlight>
                <a:latin typeface="Arial"/>
                <a:ea typeface="Arial"/>
                <a:cs typeface="Arial"/>
                <a:sym typeface="Arial"/>
              </a:rPr>
              <a:t>uppercase, lowercase or capitalization</a:t>
            </a:r>
            <a:endParaRPr b="0" i="0" sz="2000" u="none" cap="none" strike="noStrike">
              <a:solidFill>
                <a:srgbClr val="000000"/>
              </a:solidFill>
              <a:highlight>
                <a:srgbClr val="CFE2F3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0"/>
          <p:cNvSpPr txBox="1"/>
          <p:nvPr/>
        </p:nvSpPr>
        <p:spPr>
          <a:xfrm>
            <a:off x="1577025" y="2366800"/>
            <a:ext cx="9816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0"/>
          <p:cNvSpPr txBox="1"/>
          <p:nvPr/>
        </p:nvSpPr>
        <p:spPr>
          <a:xfrm>
            <a:off x="1577025" y="4083225"/>
            <a:ext cx="6954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7720400" y="3809363"/>
            <a:ext cx="559800" cy="513300"/>
          </a:xfrm>
          <a:prstGeom prst="rightArrow">
            <a:avLst>
              <a:gd fmla="val 48724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1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solidFill>
                  <a:schemeClr val="lt1"/>
                </a:solidFill>
              </a:rPr>
              <a:t>Text Fonts/Size/Weight</a:t>
            </a:r>
            <a:endParaRPr b="1">
              <a:solidFill>
                <a:schemeClr val="lt1"/>
              </a:solidFill>
            </a:endParaRPr>
          </a:p>
        </p:txBody>
      </p:sp>
      <p:grpSp>
        <p:nvGrpSpPr>
          <p:cNvPr id="324" name="Google Shape;324;p11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325" name="Google Shape;325;p11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326" name="Google Shape;326;p11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7" name="Google Shape;327;p11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328" name="Google Shape;328;p11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" name="Google Shape;329;p11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" name="Google Shape;330;p11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" name="Google Shape;331;p11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32" name="Google Shape;332;p11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1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4" name="Google Shape;334;p11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335" name="Google Shape;335;p11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1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7" name="Google Shape;337;p11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338" name="Google Shape;338;p11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11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0" name="Google Shape;340;p11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341" name="Google Shape;341;p11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11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11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4" name="Google Shape;344;p11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345" name="Google Shape;345;p11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11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11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11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11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11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1" name="Google Shape;351;p11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352" name="Google Shape;352;p11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1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11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11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11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11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11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p11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11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11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11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1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1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11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6" name="Google Shape;366;p11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367" name="Google Shape;367;p11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11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11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11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1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11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" name="Google Shape;373;p11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11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11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11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11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2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 txBox="1"/>
          <p:nvPr>
            <p:ph type="title"/>
          </p:nvPr>
        </p:nvSpPr>
        <p:spPr>
          <a:xfrm>
            <a:off x="2396759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Text Fonts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2"/>
          <p:cNvSpPr txBox="1"/>
          <p:nvPr>
            <p:ph idx="1" type="body"/>
          </p:nvPr>
        </p:nvSpPr>
        <p:spPr>
          <a:xfrm>
            <a:off x="1970900" y="2012200"/>
            <a:ext cx="4938300" cy="3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correct font choice contributes towards a satisfactory user experience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Fonts can often serve as a unique property for an organization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Adopting a font that is convenient to navigate through is integral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10825" y="2523050"/>
            <a:ext cx="2311325" cy="231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3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 txBox="1"/>
          <p:nvPr>
            <p:ph type="title"/>
          </p:nvPr>
        </p:nvSpPr>
        <p:spPr>
          <a:xfrm>
            <a:off x="2396734" y="118375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Fonts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3"/>
          <p:cNvSpPr txBox="1"/>
          <p:nvPr/>
        </p:nvSpPr>
        <p:spPr>
          <a:xfrm>
            <a:off x="1615875" y="1580838"/>
            <a:ext cx="5035200" cy="102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class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="p1"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 am a paragraph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class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="p2"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 am a paragraph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class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="p3"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 am a paragraph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93" name="Google Shape;393;p13"/>
          <p:cNvSpPr txBox="1"/>
          <p:nvPr/>
        </p:nvSpPr>
        <p:spPr>
          <a:xfrm>
            <a:off x="1615875" y="3320475"/>
            <a:ext cx="5035200" cy="193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.p1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font-family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"Times New Roman"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.p2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font-family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Verdana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.p3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font-family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"Fira Sans"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94" name="Google Shape;394;p13"/>
          <p:cNvCxnSpPr/>
          <p:nvPr/>
        </p:nvCxnSpPr>
        <p:spPr>
          <a:xfrm rot="10800000">
            <a:off x="4128975" y="4994475"/>
            <a:ext cx="8400" cy="307800"/>
          </a:xfrm>
          <a:prstGeom prst="straightConnector1">
            <a:avLst/>
          </a:prstGeom>
          <a:noFill/>
          <a:ln cap="flat" cmpd="sng" w="9525">
            <a:solidFill>
              <a:srgbClr val="3C607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5" name="Google Shape;395;p13"/>
          <p:cNvSpPr txBox="1"/>
          <p:nvPr/>
        </p:nvSpPr>
        <p:spPr>
          <a:xfrm>
            <a:off x="1564550" y="5214950"/>
            <a:ext cx="434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Fonts consisting of multiple words have to be kept inside of quotation marks  “...”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3"/>
          <p:cNvSpPr txBox="1"/>
          <p:nvPr/>
        </p:nvSpPr>
        <p:spPr>
          <a:xfrm>
            <a:off x="1615875" y="1174650"/>
            <a:ext cx="7887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3"/>
          <p:cNvSpPr txBox="1"/>
          <p:nvPr/>
        </p:nvSpPr>
        <p:spPr>
          <a:xfrm>
            <a:off x="1678950" y="2914275"/>
            <a:ext cx="7887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7720400" y="3371475"/>
            <a:ext cx="559800" cy="513300"/>
          </a:xfrm>
          <a:prstGeom prst="rightArrow">
            <a:avLst>
              <a:gd fmla="val 48724" name="adj1"/>
              <a:gd fmla="val 50000" name="adj2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9" name="Google Shape;39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0600" y="2907825"/>
            <a:ext cx="192405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3"/>
          <p:cNvSpPr txBox="1"/>
          <p:nvPr/>
        </p:nvSpPr>
        <p:spPr>
          <a:xfrm>
            <a:off x="1678950" y="5904325"/>
            <a:ext cx="528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Full list of font that can be used: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https://developer.mozilla.org/en-US/docs/Web/CSS/font-family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4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 txBox="1"/>
          <p:nvPr>
            <p:ph type="title"/>
          </p:nvPr>
        </p:nvSpPr>
        <p:spPr>
          <a:xfrm>
            <a:off x="2520234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Fallback Fonts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4"/>
          <p:cNvSpPr txBox="1"/>
          <p:nvPr/>
        </p:nvSpPr>
        <p:spPr>
          <a:xfrm>
            <a:off x="1697600" y="2376575"/>
            <a:ext cx="5079600" cy="37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 am a paragraph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/p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8" name="Google Shape;408;p14"/>
          <p:cNvSpPr txBox="1"/>
          <p:nvPr/>
        </p:nvSpPr>
        <p:spPr>
          <a:xfrm>
            <a:off x="1697600" y="3697925"/>
            <a:ext cx="5469300" cy="104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font-family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Helvetica, Courier, sans-serif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9" name="Google Shape;409;p14"/>
          <p:cNvSpPr txBox="1"/>
          <p:nvPr/>
        </p:nvSpPr>
        <p:spPr>
          <a:xfrm>
            <a:off x="2781875" y="1310600"/>
            <a:ext cx="7750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than one font can be added in case the browser does not recognize it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4"/>
          <p:cNvSpPr txBox="1"/>
          <p:nvPr/>
        </p:nvSpPr>
        <p:spPr>
          <a:xfrm>
            <a:off x="1697600" y="4904275"/>
            <a:ext cx="4297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Helvetica is the main font.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it is not found, Courier is applied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worst case, sans-serif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4"/>
          <p:cNvSpPr txBox="1"/>
          <p:nvPr/>
        </p:nvSpPr>
        <p:spPr>
          <a:xfrm>
            <a:off x="1615875" y="1970650"/>
            <a:ext cx="7887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4"/>
          <p:cNvSpPr txBox="1"/>
          <p:nvPr/>
        </p:nvSpPr>
        <p:spPr>
          <a:xfrm>
            <a:off x="1678950" y="3291725"/>
            <a:ext cx="7887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7720400" y="3371475"/>
            <a:ext cx="559800" cy="513300"/>
          </a:xfrm>
          <a:prstGeom prst="rightArrow">
            <a:avLst>
              <a:gd fmla="val 48724" name="adj1"/>
              <a:gd fmla="val 50000" name="adj2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1125" y="3385238"/>
            <a:ext cx="1495425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5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5"/>
          <p:cNvSpPr txBox="1"/>
          <p:nvPr>
            <p:ph type="title"/>
          </p:nvPr>
        </p:nvSpPr>
        <p:spPr>
          <a:xfrm>
            <a:off x="2566784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Font styling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5"/>
          <p:cNvSpPr txBox="1"/>
          <p:nvPr/>
        </p:nvSpPr>
        <p:spPr>
          <a:xfrm>
            <a:off x="1678950" y="2376850"/>
            <a:ext cx="4872000" cy="102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 Text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/p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class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="italics"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 Text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/p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class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="bold"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Text Text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/p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2" name="Google Shape;422;p15"/>
          <p:cNvSpPr txBox="1"/>
          <p:nvPr/>
        </p:nvSpPr>
        <p:spPr>
          <a:xfrm>
            <a:off x="1678950" y="4116475"/>
            <a:ext cx="4872000" cy="190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.italics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font-style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italic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.bold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font-weight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bold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23" name="Google Shape;4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24685" y="2709825"/>
            <a:ext cx="1673940" cy="190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5"/>
          <p:cNvSpPr txBox="1"/>
          <p:nvPr/>
        </p:nvSpPr>
        <p:spPr>
          <a:xfrm>
            <a:off x="3986875" y="1433800"/>
            <a:ext cx="556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can be transformed to italics or to bold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5"/>
          <p:cNvSpPr txBox="1"/>
          <p:nvPr/>
        </p:nvSpPr>
        <p:spPr>
          <a:xfrm>
            <a:off x="1615875" y="1970650"/>
            <a:ext cx="7887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5"/>
          <p:cNvSpPr txBox="1"/>
          <p:nvPr/>
        </p:nvSpPr>
        <p:spPr>
          <a:xfrm>
            <a:off x="1678950" y="3710275"/>
            <a:ext cx="7887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5"/>
          <p:cNvSpPr/>
          <p:nvPr/>
        </p:nvSpPr>
        <p:spPr>
          <a:xfrm>
            <a:off x="7720400" y="3371475"/>
            <a:ext cx="559800" cy="513300"/>
          </a:xfrm>
          <a:prstGeom prst="rightArrow">
            <a:avLst>
              <a:gd fmla="val 48724" name="adj1"/>
              <a:gd fmla="val 50000" name="adj2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6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6"/>
          <p:cNvSpPr txBox="1"/>
          <p:nvPr>
            <p:ph type="title"/>
          </p:nvPr>
        </p:nvSpPr>
        <p:spPr>
          <a:xfrm>
            <a:off x="2404584" y="10705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Font Size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6"/>
          <p:cNvSpPr txBox="1"/>
          <p:nvPr/>
        </p:nvSpPr>
        <p:spPr>
          <a:xfrm>
            <a:off x="1699475" y="1935388"/>
            <a:ext cx="5035200" cy="102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class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="p1"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This is text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 class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="p2"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This is text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This is text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1400" u="none" cap="none" strike="noStrike">
                <a:solidFill>
                  <a:srgbClr val="0000C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400" u="none" cap="none" strike="noStrike">
              <a:solidFill>
                <a:srgbClr val="0000CD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5" name="Google Shape;435;p16"/>
          <p:cNvSpPr txBox="1"/>
          <p:nvPr/>
        </p:nvSpPr>
        <p:spPr>
          <a:xfrm>
            <a:off x="1699475" y="3716600"/>
            <a:ext cx="5035200" cy="276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.p1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2.5em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.p2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1.5em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52A2A"/>
                </a:solidFill>
                <a:latin typeface="Courier New"/>
                <a:ea typeface="Courier New"/>
                <a:cs typeface="Courier New"/>
                <a:sym typeface="Courier New"/>
              </a:rPr>
              <a:t>.p2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0.875em</a:t>
            </a: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36" name="Google Shape;4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7600" y="2606650"/>
            <a:ext cx="2590800" cy="22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6"/>
          <p:cNvSpPr txBox="1"/>
          <p:nvPr/>
        </p:nvSpPr>
        <p:spPr>
          <a:xfrm>
            <a:off x="1615875" y="1529200"/>
            <a:ext cx="7887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6"/>
          <p:cNvSpPr txBox="1"/>
          <p:nvPr/>
        </p:nvSpPr>
        <p:spPr>
          <a:xfrm>
            <a:off x="1678950" y="3268825"/>
            <a:ext cx="7887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6"/>
          <p:cNvSpPr/>
          <p:nvPr/>
        </p:nvSpPr>
        <p:spPr>
          <a:xfrm>
            <a:off x="7720400" y="3371475"/>
            <a:ext cx="559800" cy="513300"/>
          </a:xfrm>
          <a:prstGeom prst="rightArrow">
            <a:avLst>
              <a:gd fmla="val 48724" name="adj1"/>
              <a:gd fmla="val 50000" name="adj2"/>
            </a:avLst>
          </a:prstGeom>
          <a:solidFill>
            <a:srgbClr val="8E7C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C4755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7"/>
          <p:cNvSpPr/>
          <p:nvPr/>
        </p:nvSpPr>
        <p:spPr>
          <a:xfrm rot="-5400000">
            <a:off x="6405643" y="1071599"/>
            <a:ext cx="6858000" cy="47148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5" name="Google Shape;4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9968" y="241300"/>
            <a:ext cx="6352032" cy="6352032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7"/>
          <p:cNvSpPr txBox="1"/>
          <p:nvPr>
            <p:ph type="title"/>
          </p:nvPr>
        </p:nvSpPr>
        <p:spPr>
          <a:xfrm>
            <a:off x="1145142" y="641064"/>
            <a:ext cx="5001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2800">
                <a:solidFill>
                  <a:schemeClr val="lt1"/>
                </a:solidFill>
              </a:rPr>
              <a:t>That’s all for this module!</a:t>
            </a:r>
            <a:endParaRPr sz="2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5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>
                <a:solidFill>
                  <a:schemeClr val="lt1"/>
                </a:solidFill>
              </a:rPr>
              <a:t>THANK YOU!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8"/>
          <p:cNvSpPr/>
          <p:nvPr/>
        </p:nvSpPr>
        <p:spPr>
          <a:xfrm rot="5400000">
            <a:off x="-2696984" y="2680559"/>
            <a:ext cx="6858000" cy="1496881"/>
          </a:xfrm>
          <a:prstGeom prst="flowChartManualIn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 txBox="1"/>
          <p:nvPr>
            <p:ph type="title"/>
          </p:nvPr>
        </p:nvSpPr>
        <p:spPr>
          <a:xfrm>
            <a:off x="3167934" y="108100"/>
            <a:ext cx="81858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3500">
                <a:latin typeface="Arial"/>
                <a:ea typeface="Arial"/>
                <a:cs typeface="Arial"/>
                <a:sym typeface="Arial"/>
              </a:rPr>
              <a:t>CSS Text </a:t>
            </a:r>
            <a:endParaRPr sz="3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8"/>
          <p:cNvSpPr txBox="1"/>
          <p:nvPr>
            <p:ph idx="1" type="body"/>
          </p:nvPr>
        </p:nvSpPr>
        <p:spPr>
          <a:xfrm>
            <a:off x="2125175" y="1692100"/>
            <a:ext cx="53385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CSS can be used to style text in various ways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Text Alignment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Text Decoration (not just color)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Courier New"/>
              <a:buChar char="•"/>
            </a:pPr>
            <a:r>
              <a:rPr lang="en-US" sz="2100">
                <a:latin typeface="Courier New"/>
                <a:ea typeface="Courier New"/>
                <a:cs typeface="Courier New"/>
                <a:sym typeface="Courier New"/>
              </a:rPr>
              <a:t>CSS 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Fonts</a:t>
            </a:r>
            <a:endParaRPr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-36195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100"/>
              <a:buChar char="•"/>
            </a:pP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Font 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Weight</a:t>
            </a:r>
            <a:endParaRPr sz="2100"/>
          </a:p>
        </p:txBody>
      </p:sp>
      <p:pic>
        <p:nvPicPr>
          <p:cNvPr id="454" name="Google Shape;4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6725" y="2565112"/>
            <a:ext cx="2510275" cy="251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alentlabs ERB course Theme">
  <a:themeElements>
    <a:clrScheme name="TalentLabs">
      <a:dk1>
        <a:srgbClr val="3E4754"/>
      </a:dk1>
      <a:lt1>
        <a:srgbClr val="F0EFEE"/>
      </a:lt1>
      <a:dk2>
        <a:srgbClr val="3C607E"/>
      </a:dk2>
      <a:lt2>
        <a:srgbClr val="E6E6E6"/>
      </a:lt2>
      <a:accent1>
        <a:srgbClr val="5080A6"/>
      </a:accent1>
      <a:accent2>
        <a:srgbClr val="FFB182"/>
      </a:accent2>
      <a:accent3>
        <a:srgbClr val="FFBBC6"/>
      </a:accent3>
      <a:accent4>
        <a:srgbClr val="FBD590"/>
      </a:accent4>
      <a:accent5>
        <a:srgbClr val="77A8C9"/>
      </a:accent5>
      <a:accent6>
        <a:srgbClr val="C4E7AA"/>
      </a:accent6>
      <a:hlink>
        <a:srgbClr val="DABAA3"/>
      </a:hlink>
      <a:folHlink>
        <a:srgbClr val="77A8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